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553" r:id="rId5"/>
    <p:sldId id="552" r:id="rId6"/>
    <p:sldId id="261" r:id="rId7"/>
    <p:sldId id="287" r:id="rId8"/>
    <p:sldId id="560" r:id="rId9"/>
    <p:sldId id="561" r:id="rId10"/>
    <p:sldId id="554" r:id="rId11"/>
    <p:sldId id="562" r:id="rId12"/>
    <p:sldId id="269" r:id="rId13"/>
    <p:sldId id="563" r:id="rId14"/>
    <p:sldId id="556" r:id="rId15"/>
    <p:sldId id="564" r:id="rId16"/>
    <p:sldId id="565" r:id="rId17"/>
    <p:sldId id="264" r:id="rId18"/>
    <p:sldId id="566" r:id="rId19"/>
    <p:sldId id="286" r:id="rId20"/>
    <p:sldId id="282" r:id="rId21"/>
    <p:sldId id="289" r:id="rId22"/>
    <p:sldId id="283" r:id="rId23"/>
    <p:sldId id="551" r:id="rId2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33D6B"/>
    <a:srgbClr val="F89D52"/>
    <a:srgbClr val="F89E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édio 2 - Ênfase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268" autoAdjust="0"/>
    <p:restoredTop sz="94660"/>
  </p:normalViewPr>
  <p:slideViewPr>
    <p:cSldViewPr snapToGrid="0">
      <p:cViewPr varScale="1">
        <p:scale>
          <a:sx n="87" d="100"/>
          <a:sy n="87" d="100"/>
        </p:scale>
        <p:origin x="72" y="18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17-09-18T19:29:43.326"/>
    </inkml:context>
    <inkml:brush xml:id="br0">
      <inkml:brushProperty name="width" value="0.05" units="cm"/>
      <inkml:brushProperty name="height" value="0.05" units="cm"/>
    </inkml:brush>
  </inkml:definitions>
  <inkml:trace contextRef="#ctx0" brushRef="#br0">45 1 6438,'0'0'-96,"0"0"96,-44 0 160,44 0 128,0 0-95,0 0-289,0 0-641,0 0-993,0 0-2178</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66684F-6F30-4A0A-92A1-2E79932316E9}"/>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BDC07EE3-3B48-445F-8AFC-CEFA21060B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19E3D20B-021B-4E06-91B7-3693076C8D1A}"/>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5" name="Espaço Reservado para Rodapé 4">
            <a:extLst>
              <a:ext uri="{FF2B5EF4-FFF2-40B4-BE49-F238E27FC236}">
                <a16:creationId xmlns:a16="http://schemas.microsoft.com/office/drawing/2014/main" id="{0B46ABF7-1DFB-46E6-BF0C-4CF603DC3181}"/>
              </a:ext>
            </a:extLst>
          </p:cNvPr>
          <p:cNvSpPr>
            <a:spLocks noGrp="1"/>
          </p:cNvSpPr>
          <p:nvPr>
            <p:ph type="ftr" sz="quarter" idx="11"/>
          </p:nvPr>
        </p:nvSpPr>
        <p:spPr/>
        <p:txBody>
          <a:bodyPr/>
          <a:lstStyle/>
          <a:p>
            <a:endParaRPr lang="pt-BR" dirty="0"/>
          </a:p>
        </p:txBody>
      </p:sp>
      <p:sp>
        <p:nvSpPr>
          <p:cNvPr id="6" name="Espaço Reservado para Número de Slide 5">
            <a:extLst>
              <a:ext uri="{FF2B5EF4-FFF2-40B4-BE49-F238E27FC236}">
                <a16:creationId xmlns:a16="http://schemas.microsoft.com/office/drawing/2014/main" id="{DB890A18-C54F-4B67-B809-6DBCC909E865}"/>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3914731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188C11-BB9B-4B1F-A664-5BACBAF4118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470C6B89-870A-4C1A-B0B2-84AB373A8B9B}"/>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44E4277-CB2F-4338-94A3-066CD797D904}"/>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5" name="Espaço Reservado para Rodapé 4">
            <a:extLst>
              <a:ext uri="{FF2B5EF4-FFF2-40B4-BE49-F238E27FC236}">
                <a16:creationId xmlns:a16="http://schemas.microsoft.com/office/drawing/2014/main" id="{6E654518-1B31-47C4-ACE2-F750D9E3925C}"/>
              </a:ext>
            </a:extLst>
          </p:cNvPr>
          <p:cNvSpPr>
            <a:spLocks noGrp="1"/>
          </p:cNvSpPr>
          <p:nvPr>
            <p:ph type="ftr" sz="quarter" idx="11"/>
          </p:nvPr>
        </p:nvSpPr>
        <p:spPr/>
        <p:txBody>
          <a:bodyPr/>
          <a:lstStyle/>
          <a:p>
            <a:endParaRPr lang="pt-BR" dirty="0"/>
          </a:p>
        </p:txBody>
      </p:sp>
      <p:sp>
        <p:nvSpPr>
          <p:cNvPr id="6" name="Espaço Reservado para Número de Slide 5">
            <a:extLst>
              <a:ext uri="{FF2B5EF4-FFF2-40B4-BE49-F238E27FC236}">
                <a16:creationId xmlns:a16="http://schemas.microsoft.com/office/drawing/2014/main" id="{AD864924-38DF-4D1E-8BDB-73B872BA987F}"/>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13244516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52289C7-096A-481F-9EEC-0F3029AC3BBF}"/>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C4B708D-67C8-4C31-A0DF-ABA178B9AFA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B2717A2D-1925-4DAE-A2D3-FC7CC7499187}"/>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5" name="Espaço Reservado para Rodapé 4">
            <a:extLst>
              <a:ext uri="{FF2B5EF4-FFF2-40B4-BE49-F238E27FC236}">
                <a16:creationId xmlns:a16="http://schemas.microsoft.com/office/drawing/2014/main" id="{6135FB63-4B43-4D54-8212-79F9C54EF8C0}"/>
              </a:ext>
            </a:extLst>
          </p:cNvPr>
          <p:cNvSpPr>
            <a:spLocks noGrp="1"/>
          </p:cNvSpPr>
          <p:nvPr>
            <p:ph type="ftr" sz="quarter" idx="11"/>
          </p:nvPr>
        </p:nvSpPr>
        <p:spPr/>
        <p:txBody>
          <a:bodyPr/>
          <a:lstStyle/>
          <a:p>
            <a:endParaRPr lang="pt-BR" dirty="0"/>
          </a:p>
        </p:txBody>
      </p:sp>
      <p:sp>
        <p:nvSpPr>
          <p:cNvPr id="6" name="Espaço Reservado para Número de Slide 5">
            <a:extLst>
              <a:ext uri="{FF2B5EF4-FFF2-40B4-BE49-F238E27FC236}">
                <a16:creationId xmlns:a16="http://schemas.microsoft.com/office/drawing/2014/main" id="{BB29AFB7-9D9A-4299-AD80-45D0D88B5CE1}"/>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3431254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39A24B-68F0-4108-BF04-9781302BF12B}"/>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CDCCF6A3-C50C-41CA-87F8-357A3A5284EC}"/>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D2736522-B8EB-4B63-9CEF-C52C4D32A1F3}"/>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F90D2932-0CD0-4D0D-B52E-AD2EDAA0DB84}"/>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6" name="Espaço Reservado para Rodapé 5">
            <a:extLst>
              <a:ext uri="{FF2B5EF4-FFF2-40B4-BE49-F238E27FC236}">
                <a16:creationId xmlns:a16="http://schemas.microsoft.com/office/drawing/2014/main" id="{BFB434C1-55BA-422E-A265-C4BAFFB2581E}"/>
              </a:ext>
            </a:extLst>
          </p:cNvPr>
          <p:cNvSpPr>
            <a:spLocks noGrp="1"/>
          </p:cNvSpPr>
          <p:nvPr>
            <p:ph type="ftr" sz="quarter" idx="11"/>
          </p:nvPr>
        </p:nvSpPr>
        <p:spPr/>
        <p:txBody>
          <a:bodyPr/>
          <a:lstStyle/>
          <a:p>
            <a:endParaRPr lang="pt-BR" dirty="0"/>
          </a:p>
        </p:txBody>
      </p:sp>
      <p:sp>
        <p:nvSpPr>
          <p:cNvPr id="7" name="Espaço Reservado para Número de Slide 6">
            <a:extLst>
              <a:ext uri="{FF2B5EF4-FFF2-40B4-BE49-F238E27FC236}">
                <a16:creationId xmlns:a16="http://schemas.microsoft.com/office/drawing/2014/main" id="{81440E3B-E348-469F-A908-415EB3608B18}"/>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2177050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3C4393-12BF-4A59-A9D0-63A7E12CEBB2}"/>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B517B726-E4BF-44BD-AD4C-808D705DD1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E5F2598-F283-4F62-A8BD-C95D8C2FC476}"/>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5E00A65A-4ED7-4E6E-B3F6-D638F64C481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02DD2EBA-7574-441F-BFAD-A6561B280782}"/>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3745EA0E-EC72-4E28-98CA-A6163BBF712A}"/>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8" name="Espaço Reservado para Rodapé 7">
            <a:extLst>
              <a:ext uri="{FF2B5EF4-FFF2-40B4-BE49-F238E27FC236}">
                <a16:creationId xmlns:a16="http://schemas.microsoft.com/office/drawing/2014/main" id="{6256FC69-70F1-46A0-A5B1-E0B1894FD48C}"/>
              </a:ext>
            </a:extLst>
          </p:cNvPr>
          <p:cNvSpPr>
            <a:spLocks noGrp="1"/>
          </p:cNvSpPr>
          <p:nvPr>
            <p:ph type="ftr" sz="quarter" idx="11"/>
          </p:nvPr>
        </p:nvSpPr>
        <p:spPr/>
        <p:txBody>
          <a:bodyPr/>
          <a:lstStyle/>
          <a:p>
            <a:endParaRPr lang="pt-BR" dirty="0"/>
          </a:p>
        </p:txBody>
      </p:sp>
      <p:sp>
        <p:nvSpPr>
          <p:cNvPr id="9" name="Espaço Reservado para Número de Slide 8">
            <a:extLst>
              <a:ext uri="{FF2B5EF4-FFF2-40B4-BE49-F238E27FC236}">
                <a16:creationId xmlns:a16="http://schemas.microsoft.com/office/drawing/2014/main" id="{BA27FAE7-117C-456D-A07A-470086A198C5}"/>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31345181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557724-FC53-4C70-B50A-5524FBA95510}"/>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73DF4B3D-A267-4041-A786-AE6A87CC854B}"/>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4" name="Espaço Reservado para Rodapé 3">
            <a:extLst>
              <a:ext uri="{FF2B5EF4-FFF2-40B4-BE49-F238E27FC236}">
                <a16:creationId xmlns:a16="http://schemas.microsoft.com/office/drawing/2014/main" id="{B4D2F8EB-0A96-4AE8-824C-875D135721E2}"/>
              </a:ext>
            </a:extLst>
          </p:cNvPr>
          <p:cNvSpPr>
            <a:spLocks noGrp="1"/>
          </p:cNvSpPr>
          <p:nvPr>
            <p:ph type="ftr" sz="quarter" idx="11"/>
          </p:nvPr>
        </p:nvSpPr>
        <p:spPr/>
        <p:txBody>
          <a:bodyPr/>
          <a:lstStyle/>
          <a:p>
            <a:endParaRPr lang="pt-BR" dirty="0"/>
          </a:p>
        </p:txBody>
      </p:sp>
      <p:sp>
        <p:nvSpPr>
          <p:cNvPr id="5" name="Espaço Reservado para Número de Slide 4">
            <a:extLst>
              <a:ext uri="{FF2B5EF4-FFF2-40B4-BE49-F238E27FC236}">
                <a16:creationId xmlns:a16="http://schemas.microsoft.com/office/drawing/2014/main" id="{7FDC3C76-1E83-429B-A6B6-40E677F30D40}"/>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801980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B4C2B7D1-FF81-412C-8A8C-A09A852409E3}"/>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3" name="Espaço Reservado para Rodapé 2">
            <a:extLst>
              <a:ext uri="{FF2B5EF4-FFF2-40B4-BE49-F238E27FC236}">
                <a16:creationId xmlns:a16="http://schemas.microsoft.com/office/drawing/2014/main" id="{218DE667-1284-43EB-A147-20E8C6EC88B0}"/>
              </a:ext>
            </a:extLst>
          </p:cNvPr>
          <p:cNvSpPr>
            <a:spLocks noGrp="1"/>
          </p:cNvSpPr>
          <p:nvPr>
            <p:ph type="ftr" sz="quarter" idx="1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9FD9EF30-E2E5-45EA-8529-A1FD8E39EBD9}"/>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6241090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D09969-739F-483E-A11A-945E659F5D3A}"/>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B6BC57D5-086B-4666-919C-40F2C417ED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CF7C3F62-0FA7-4701-9735-906263A47E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D77E29A2-E879-4362-B5B9-A566D25C5390}"/>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6" name="Espaço Reservado para Rodapé 5">
            <a:extLst>
              <a:ext uri="{FF2B5EF4-FFF2-40B4-BE49-F238E27FC236}">
                <a16:creationId xmlns:a16="http://schemas.microsoft.com/office/drawing/2014/main" id="{84E0598D-84DD-4FF9-9626-6B9C636950C3}"/>
              </a:ext>
            </a:extLst>
          </p:cNvPr>
          <p:cNvSpPr>
            <a:spLocks noGrp="1"/>
          </p:cNvSpPr>
          <p:nvPr>
            <p:ph type="ftr" sz="quarter" idx="11"/>
          </p:nvPr>
        </p:nvSpPr>
        <p:spPr/>
        <p:txBody>
          <a:bodyPr/>
          <a:lstStyle/>
          <a:p>
            <a:endParaRPr lang="pt-BR" dirty="0"/>
          </a:p>
        </p:txBody>
      </p:sp>
      <p:sp>
        <p:nvSpPr>
          <p:cNvPr id="7" name="Espaço Reservado para Número de Slide 6">
            <a:extLst>
              <a:ext uri="{FF2B5EF4-FFF2-40B4-BE49-F238E27FC236}">
                <a16:creationId xmlns:a16="http://schemas.microsoft.com/office/drawing/2014/main" id="{7023C0FC-538E-44A0-9EE2-F0AEFC7055AB}"/>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7442691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4C092AA-9FFF-4B4A-B4FA-246A4E8DDDCB}"/>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0D33BA9D-CD30-4E77-970B-AFD9BF560B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dirty="0"/>
          </a:p>
        </p:txBody>
      </p:sp>
      <p:sp>
        <p:nvSpPr>
          <p:cNvPr id="4" name="Espaço Reservado para Texto 3">
            <a:extLst>
              <a:ext uri="{FF2B5EF4-FFF2-40B4-BE49-F238E27FC236}">
                <a16:creationId xmlns:a16="http://schemas.microsoft.com/office/drawing/2014/main" id="{92E8096A-2C7E-4327-9415-FD11E7A567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1387CF24-846D-453F-88DD-4835EBAF5015}"/>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6" name="Espaço Reservado para Rodapé 5">
            <a:extLst>
              <a:ext uri="{FF2B5EF4-FFF2-40B4-BE49-F238E27FC236}">
                <a16:creationId xmlns:a16="http://schemas.microsoft.com/office/drawing/2014/main" id="{E60C8C03-A58F-4F58-8447-59C1B8F98205}"/>
              </a:ext>
            </a:extLst>
          </p:cNvPr>
          <p:cNvSpPr>
            <a:spLocks noGrp="1"/>
          </p:cNvSpPr>
          <p:nvPr>
            <p:ph type="ftr" sz="quarter" idx="11"/>
          </p:nvPr>
        </p:nvSpPr>
        <p:spPr/>
        <p:txBody>
          <a:bodyPr/>
          <a:lstStyle/>
          <a:p>
            <a:endParaRPr lang="pt-BR" dirty="0"/>
          </a:p>
        </p:txBody>
      </p:sp>
      <p:sp>
        <p:nvSpPr>
          <p:cNvPr id="7" name="Espaço Reservado para Número de Slide 6">
            <a:extLst>
              <a:ext uri="{FF2B5EF4-FFF2-40B4-BE49-F238E27FC236}">
                <a16:creationId xmlns:a16="http://schemas.microsoft.com/office/drawing/2014/main" id="{4ABF9373-DFC6-4E26-93C5-A0E2ADD373C6}"/>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128478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8B08A2-2B98-4E37-BCD9-BDA3DE665DDD}"/>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C4DDAEB-8994-4ADD-B20A-D854C947C09F}"/>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FE71FF7-F6D9-4A4D-BBCB-A6046EEEC87D}"/>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5" name="Espaço Reservado para Rodapé 4">
            <a:extLst>
              <a:ext uri="{FF2B5EF4-FFF2-40B4-BE49-F238E27FC236}">
                <a16:creationId xmlns:a16="http://schemas.microsoft.com/office/drawing/2014/main" id="{8CC7B9CA-9674-4F9D-8372-7796EB59C01D}"/>
              </a:ext>
            </a:extLst>
          </p:cNvPr>
          <p:cNvSpPr>
            <a:spLocks noGrp="1"/>
          </p:cNvSpPr>
          <p:nvPr>
            <p:ph type="ftr" sz="quarter" idx="11"/>
          </p:nvPr>
        </p:nvSpPr>
        <p:spPr/>
        <p:txBody>
          <a:bodyPr/>
          <a:lstStyle/>
          <a:p>
            <a:endParaRPr lang="pt-BR" dirty="0"/>
          </a:p>
        </p:txBody>
      </p:sp>
      <p:sp>
        <p:nvSpPr>
          <p:cNvPr id="6" name="Espaço Reservado para Número de Slide 5">
            <a:extLst>
              <a:ext uri="{FF2B5EF4-FFF2-40B4-BE49-F238E27FC236}">
                <a16:creationId xmlns:a16="http://schemas.microsoft.com/office/drawing/2014/main" id="{222467E3-3371-47B5-BB8F-A42BBD3E4C58}"/>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1011001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EF1CA5A-2F95-42EF-8B87-3BC0C1B95BF8}"/>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37BB3A9-074B-4B8D-ACD1-D5A861F85CBF}"/>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64C1C6E6-904F-4FFF-90F5-6BA85D22FA11}"/>
              </a:ext>
            </a:extLst>
          </p:cNvPr>
          <p:cNvSpPr>
            <a:spLocks noGrp="1"/>
          </p:cNvSpPr>
          <p:nvPr>
            <p:ph type="dt" sz="half" idx="10"/>
          </p:nvPr>
        </p:nvSpPr>
        <p:spPr/>
        <p:txBody>
          <a:bodyPr/>
          <a:lstStyle/>
          <a:p>
            <a:fld id="{F966CB30-D690-4BA2-9FF3-04957D37DD35}" type="datetimeFigureOut">
              <a:rPr lang="pt-BR" smtClean="0"/>
              <a:t>17/06/2024</a:t>
            </a:fld>
            <a:endParaRPr lang="pt-BR" dirty="0"/>
          </a:p>
        </p:txBody>
      </p:sp>
      <p:sp>
        <p:nvSpPr>
          <p:cNvPr id="5" name="Espaço Reservado para Rodapé 4">
            <a:extLst>
              <a:ext uri="{FF2B5EF4-FFF2-40B4-BE49-F238E27FC236}">
                <a16:creationId xmlns:a16="http://schemas.microsoft.com/office/drawing/2014/main" id="{BE55545F-85B7-4491-AA1F-5DA2FA19E2FB}"/>
              </a:ext>
            </a:extLst>
          </p:cNvPr>
          <p:cNvSpPr>
            <a:spLocks noGrp="1"/>
          </p:cNvSpPr>
          <p:nvPr>
            <p:ph type="ftr" sz="quarter" idx="11"/>
          </p:nvPr>
        </p:nvSpPr>
        <p:spPr/>
        <p:txBody>
          <a:bodyPr/>
          <a:lstStyle/>
          <a:p>
            <a:endParaRPr lang="pt-BR" dirty="0"/>
          </a:p>
        </p:txBody>
      </p:sp>
      <p:sp>
        <p:nvSpPr>
          <p:cNvPr id="6" name="Espaço Reservado para Número de Slide 5">
            <a:extLst>
              <a:ext uri="{FF2B5EF4-FFF2-40B4-BE49-F238E27FC236}">
                <a16:creationId xmlns:a16="http://schemas.microsoft.com/office/drawing/2014/main" id="{39109617-4416-4A91-AAB7-DF798DEB4455}"/>
              </a:ext>
            </a:extLst>
          </p:cNvPr>
          <p:cNvSpPr>
            <a:spLocks noGrp="1"/>
          </p:cNvSpPr>
          <p:nvPr>
            <p:ph type="sldNum" sz="quarter" idx="12"/>
          </p:nvPr>
        </p:nvSpPr>
        <p:spPr/>
        <p:txBody>
          <a:bodyPr/>
          <a:lstStyle/>
          <a:p>
            <a:fld id="{53194A9A-C8E5-4F48-AF5E-845A66A4766A}" type="slidenum">
              <a:rPr lang="pt-BR" smtClean="0"/>
              <a:t>‹nº›</a:t>
            </a:fld>
            <a:endParaRPr lang="pt-BR" dirty="0"/>
          </a:p>
        </p:txBody>
      </p:sp>
    </p:spTree>
    <p:extLst>
      <p:ext uri="{BB962C8B-B14F-4D97-AF65-F5344CB8AC3E}">
        <p14:creationId xmlns:p14="http://schemas.microsoft.com/office/powerpoint/2010/main" val="3292613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4EEBF251-076D-4ACE-941A-59A4B0C725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19939378-F225-4920-BC84-4F692F087F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A888835C-2E6E-472D-9554-C9157F8B4C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66CB30-D690-4BA2-9FF3-04957D37DD35}" type="datetimeFigureOut">
              <a:rPr lang="pt-BR" smtClean="0"/>
              <a:t>17/06/2024</a:t>
            </a:fld>
            <a:endParaRPr lang="pt-BR" dirty="0"/>
          </a:p>
        </p:txBody>
      </p:sp>
      <p:sp>
        <p:nvSpPr>
          <p:cNvPr id="5" name="Espaço Reservado para Rodapé 4">
            <a:extLst>
              <a:ext uri="{FF2B5EF4-FFF2-40B4-BE49-F238E27FC236}">
                <a16:creationId xmlns:a16="http://schemas.microsoft.com/office/drawing/2014/main" id="{9487079C-8020-43D0-99AF-4BBCA0E0375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dirty="0"/>
          </a:p>
        </p:txBody>
      </p:sp>
      <p:sp>
        <p:nvSpPr>
          <p:cNvPr id="6" name="Espaço Reservado para Número de Slide 5">
            <a:extLst>
              <a:ext uri="{FF2B5EF4-FFF2-40B4-BE49-F238E27FC236}">
                <a16:creationId xmlns:a16="http://schemas.microsoft.com/office/drawing/2014/main" id="{50B57831-E641-415B-9D36-551DBCB692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3194A9A-C8E5-4F48-AF5E-845A66A4766A}" type="slidenum">
              <a:rPr lang="pt-BR" smtClean="0"/>
              <a:t>‹nº›</a:t>
            </a:fld>
            <a:endParaRPr lang="pt-BR" dirty="0"/>
          </a:p>
        </p:txBody>
      </p:sp>
    </p:spTree>
    <p:extLst>
      <p:ext uri="{BB962C8B-B14F-4D97-AF65-F5344CB8AC3E}">
        <p14:creationId xmlns:p14="http://schemas.microsoft.com/office/powerpoint/2010/main" val="23445777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hyperlink" Target="https://brasil.un.org/pt-br/sdg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hyperlink" Target="https://www.instagram.com/p/CqB8zD-JVb0/" TargetMode="External"/><Relationship Id="rId3" Type="http://schemas.openxmlformats.org/officeDocument/2006/relationships/image" Target="../media/image12.png"/><Relationship Id="rId7" Type="http://schemas.openxmlformats.org/officeDocument/2006/relationships/image" Target="../media/image16.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image" Target="../media/image13.jpe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hyperlink" Target="https://padlet.com/auder05/algoritmos-de-destrui-o-ju21vi17rczfm6a7" TargetMode="Externa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1.jpg"/><Relationship Id="rId5" Type="http://schemas.openxmlformats.org/officeDocument/2006/relationships/image" Target="../media/image20.jpeg"/><Relationship Id="rId4" Type="http://schemas.openxmlformats.org/officeDocument/2006/relationships/image" Target="../media/image19.jp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hyperlink" Target="http://www.planalto.gov.br/ccivil_03/constituicao/constitui%C3%A7ao.htm" TargetMode="External"/><Relationship Id="rId5" Type="http://schemas.openxmlformats.org/officeDocument/2006/relationships/hyperlink" Target="https://doi.org/10.1590/S0034-759020140511" TargetMode="External"/><Relationship Id="rId4" Type="http://schemas.openxmlformats.org/officeDocument/2006/relationships/hyperlink" Target="http://www.intercom.org.br/papers/nacionais/2010/resumos/r5-0302-1.pdf" TargetMode="Externa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chemeClr val="bg1"/>
        </a:solidFill>
        <a:effectLst/>
      </p:bgPr>
    </p:bg>
    <p:spTree>
      <p:nvGrpSpPr>
        <p:cNvPr id="1" name="">
          <a:extLst>
            <a:ext uri="{FF2B5EF4-FFF2-40B4-BE49-F238E27FC236}">
              <ns2:creationId id="{1F7F3CD2-1312-5670-A9D7-6E8DFE594B4D}"/>
            </a:ext>
          </a:extLst>
        </p:cNvPr>
        <p:cNvGrpSpPr/>
        <p:nvPr/>
      </p:nvGrpSpPr>
      <p:grpSpPr>
        <a:xfrm>
          <a:off x="0" y="0"/>
          <a:ext cx="0" cy="0"/>
          <a:chOff x="0" y="0"/>
          <a:chExt cx="0" cy="0"/>
        </a:xfrm>
      </p:grpSpPr>
      <p:sp>
        <p:nvSpPr>
          <p:cNvPr id="12" name="CaixaDeTexto 11">
            <a:extLst>
              <a:ext uri="{FF2B5EF4-FFF2-40B4-BE49-F238E27FC236}">
                <ns2:creationId id="{18B605A2-0B13-3A1F-FFDE-714B27D08EAD}"/>
              </a:ext>
            </a:extLst>
          </p:cNvPr>
          <p:cNvSpPr txBox="1"/>
          <p:nvPr/>
        </p:nvSpPr>
        <p:spPr>
          <a:xfrm>
            <a:off x="141902" y="2424324"/>
            <a:ext cx="8827204" cy="461665"/>
          </a:xfrm>
          <a:prstGeom prst="rect">
            <a:avLst/>
          </a:prstGeom>
          <a:noFill/>
        </p:spPr>
        <p:txBody>
          <a:bodyPr wrap="square" rtlCol="0">
            <a:spAutoFit/>
          </a:bodyPr>
          <a:lstStyle/>
          <a:p>
            <a:pPr algn="r"/>
            <a:r>
              <a:rPr lang="pt-BR" sz="2400" dirty="0"/>
              <a:t>	</a:t>
            </a:r>
          </a:p>
        </p:txBody>
      </p:sp>
      <p:sp>
        <p:nvSpPr>
          <p:cNvPr id="4" name="CaixaDeTexto 3">
            <a:extLst>
              <a:ext uri="{FF2B5EF4-FFF2-40B4-BE49-F238E27FC236}">
                <ns2:creationId id="{A115185B-E6EA-B0A7-6178-BEA3B83A8B9A}"/>
              </a:ext>
            </a:extLst>
          </p:cNvPr>
          <p:cNvSpPr txBox="1"/>
          <p:nvPr/>
        </p:nvSpPr>
        <p:spPr>
          <a:xfrm>
            <a:off x="1116350" y="1547160"/>
            <a:ext cx="10341641" cy="1015663"/>
          </a:xfrm>
          <a:prstGeom prst="rect">
            <a:avLst/>
          </a:prstGeom>
          <a:noFill/>
        </p:spPr>
        <p:txBody>
          <a:bodyPr wrap="square" rtlCol="0">
            <a:spAutoFit/>
          </a:bodyPr>
          <a:lstStyle/>
          <a:p>
            <a:pPr algn="ctr"/>
            <a:r>
              <a:rPr lang="pt-BR" sz="1800" b="1">
                <a:solidFill>
                  <a:srgbClr val="1F497D"/>
                </a:solidFill>
              </a:rPr>
              <a:t>PROJETO DE EXTENSÃO UNIVERSITÁRIA — APEX V (TI)</a:t>
            </a:r>
          </a:p>
          <a:p>
            <a:pPr algn="ctr">
              <a:spcBfr>
                <a:spcPts val="200"/>
              </a:spcBfr>
            </a:pPr>
            <a:r>
              <a:rPr lang="pt-BR" sz="1300" b="0">
                <a:solidFill>
                  <a:srgbClr val="595959"/>
                </a:solidFill>
              </a:rPr>
              <a:t>Programa Institucional: Educando para a Cidadania (Resolução CNE/CES MEC nº 7/2018)</a:t>
            </a:r>
          </a:p>
          <a:p>
            <a:pPr algn="ctr">
              <a:spcBfr>
                <a:spcPts val="300"/>
              </a:spcBfr>
            </a:pPr>
            <a:r>
              <a:rPr lang="pt-BR" sz="1500" b="1">
                <a:solidFill>
                  <a:srgbClr val="A33D6B"/>
                </a:solidFill>
              </a:rPr>
              <a:t>1ª ETAPA: PLANEJAMENTO DA EXTENSÃO (MÓDULO 1)</a:t>
            </a:r>
          </a:p>
          <a:p>
            <a:pPr algn="ctr">
              <a:spcBfr>
                <a:spcPts val="150"/>
              </a:spcBfr>
            </a:pPr>
            <a:r>
              <a:rPr lang="pt-BR" sz="1200" b="0">
                <a:solidFill>
                  <a:srgbClr val="333333"/>
                </a:solidFill>
              </a:rPr>
              <a:t>Envio dos Slides 2 até 6: Identificação, Ementa Oficial, ODS 7, 9 e 13 e Local de Implementação</a:t>
            </a:r>
          </a:p>
          <a:p>
            <a:pPr algn="ctr">
              <a:spcBfr>
                <a:spcPts val="250"/>
              </a:spcBfr>
            </a:pPr>
            <a:r>
              <a:rPr lang="pt-BR" sz="1200" b="1">
                <a:solidFill>
                  <a:srgbClr val="1F497D"/>
                </a:solidFill>
              </a:rPr>
              <a:t>Empresa Parceira: Performa Energy | Ano Letivo: 2026</a:t>
            </a:r>
          </a:p>
        </p:txBody>
      </p:sp>
      <p:sp>
        <p:nvSpPr>
          <p:cNvPr id="7" name="CaixaDeTexto 6">
            <a:extLst>
              <a:ext uri="{FF2B5EF4-FFF2-40B4-BE49-F238E27FC236}">
                <ns2:creationId id="{03B464C0-6AAC-D9C9-CDF9-423A8972A520}"/>
              </a:ext>
            </a:extLst>
          </p:cNvPr>
          <p:cNvSpPr txBox="1"/>
          <p:nvPr/>
        </p:nvSpPr>
        <p:spPr>
          <a:xfrm>
            <a:off x="2584174" y="502815"/>
            <a:ext cx="7063409" cy="461665"/>
          </a:xfrm>
          <a:prstGeom prst="rect">
            <a:avLst/>
          </a:prstGeom>
          <a:noFill/>
        </p:spPr>
        <p:txBody>
          <a:bodyPr wrap="square" rtlCol="0">
            <a:spAutoFit/>
          </a:bodyPr>
          <a:lstStyle/>
          <a:p>
            <a:r>
              <a:rPr lang="pt-BR" sz="2400" b="1" dirty="0">
                <a:solidFill>
                  <a:srgbClr val="A33D6B"/>
                </a:solidFill>
              </a:rPr>
              <a:t>1ª ETAPA</a:t>
            </a:r>
            <a:endParaRPr lang="pt-BR" sz="2400" kern="1200" dirty="0">
              <a:solidFill>
                <a:srgbClr val="A33D6B"/>
              </a:solidFill>
              <a:latin typeface="+mn-lt"/>
              <a:ea typeface="+mn-ea"/>
              <a:cs typeface="+mn-cs"/>
            </a:endParaRPr>
          </a:p>
        </p:txBody>
      </p:sp>
      <p:cxnSp>
        <p:nvCxnSpPr>
          <p:cNvPr id="10" name="Conector Reto 9">
            <a:extLst>
              <a:ext uri="{FF2B5EF4-FFF2-40B4-BE49-F238E27FC236}">
                <ns2:creationId id="{A1B5750D-66B6-0F30-89E3-140871544FC1}"/>
              </a:ext>
            </a:extLst>
          </p:cNvPr>
          <p:cNvCxnSpPr>
            <a:cxnSpLocks/>
          </p:cNvCxnSpPr>
          <p:nvPr/>
        </p:nvCxnSpPr>
        <p:spPr>
          <a:xfrm>
            <a:off x="2232405" y="938354"/>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2" name="Freeform 7">
            <a:extLst>
              <a:ext uri="{FF2B5EF4-FFF2-40B4-BE49-F238E27FC236}">
                <ns2:creationId id="{1493CCD0-1CF6-EDB8-9615-707CC5A959BC}"/>
              </a:ext>
            </a:extLst>
          </p:cNvPr>
          <p:cNvSpPr/>
          <p:nvPr/>
        </p:nvSpPr>
        <p:spPr>
          <a:xfrm>
            <a:off x="380346" y="264059"/>
            <a:ext cx="1117450" cy="1573369"/>
          </a:xfrm>
          <a:custGeom>
            <a:avLst/>
            <a:gdLst/>
            <a:ahLst/>
            <a:cxnLst/>
            <a:rect l="l" t="t" r="r" b="b"/>
            <a:pathLst>
              <a:path w="1117450" h="1573369">
                <a:moveTo>
                  <a:pt x="0" y="0"/>
                </a:moveTo>
                <a:lnTo>
                  <a:pt x="1117450" y="0"/>
                </a:lnTo>
                <a:lnTo>
                  <a:pt x="1117450" y="1573369"/>
                </a:lnTo>
                <a:lnTo>
                  <a:pt x="0" y="1573369"/>
                </a:lnTo>
                <a:lnTo>
                  <a:pt x="0" y="0"/>
                </a:lnTo>
                <a:close/>
              </a:path>
            </a:pathLst>
          </a:custGeom>
          <a:blipFill>
            <a:blip r:embed="rId2"/>
            <a:stretch>
              <a:fillRect/>
            </a:stretch>
          </a:blipFill>
        </p:spPr>
        <p:txBody>
          <a:bodyPr/>
          <a:lstStyle/>
          <a:p>
            <a:endParaRPr lang="pt-BR"/>
          </a:p>
        </p:txBody>
      </p:sp>
      <p:sp>
        <p:nvSpPr>
          <p:cNvPr id="3" name="Retângulo 2">
            <a:extLst>
              <a:ext uri="{FF2B5EF4-FFF2-40B4-BE49-F238E27FC236}">
                <ns2:creationId id="{EB3DEE9C-0AEF-9FE8-0FDB-9BFAEECAF25B}"/>
              </a:ext>
            </a:extLst>
          </p:cNvPr>
          <p:cNvSpPr/>
          <p:nvPr/>
        </p:nvSpPr>
        <p:spPr>
          <a:xfrm>
            <a:off x="8182303" y="5439103"/>
            <a:ext cx="3846787" cy="916082"/>
          </a:xfrm>
          <a:prstGeom prst="rect">
            <a:avLst/>
          </a:prstGeom>
          <a:noFill/>
          <a:ln w="38100">
            <a:solidFill>
              <a:srgbClr val="A33D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CaixaDeTexto 4">
            <a:extLst>
              <a:ext uri="{FF2B5EF4-FFF2-40B4-BE49-F238E27FC236}">
                <ns2:creationId id="{8CC51F1D-FB87-46E5-34DA-0E9B396613C1}"/>
              </a:ext>
            </a:extLst>
          </p:cNvPr>
          <p:cNvSpPr txBox="1"/>
          <p:nvPr/>
        </p:nvSpPr>
        <p:spPr>
          <a:xfrm>
            <a:off x="8991236" y="5791200"/>
            <a:ext cx="2001079" cy="369332"/>
          </a:xfrm>
          <a:prstGeom prst="rect">
            <a:avLst/>
          </a:prstGeom>
          <a:noFill/>
        </p:spPr>
        <p:txBody>
          <a:bodyPr wrap="square" rtlCol="0">
            <a:spAutoFit/>
          </a:bodyPr>
          <a:lstStyle/>
          <a:p>
            <a:r>
              <a:rPr lang="pt-BR" dirty="0"/>
              <a:t>Nota: _______</a:t>
            </a:r>
          </a:p>
        </p:txBody>
      </p:sp>
      <p:sp>
        <p:nvSpPr>
          <p:cNvPr id="6" name="CaixaDeTexto 5">
            <a:extLst>
              <a:ext uri="{FF2B5EF4-FFF2-40B4-BE49-F238E27FC236}">
                <ns2:creationId id="{1E2ED466-97FC-F050-484D-68D622419C88}"/>
              </a:ext>
            </a:extLst>
          </p:cNvPr>
          <p:cNvSpPr txBox="1"/>
          <p:nvPr/>
        </p:nvSpPr>
        <p:spPr>
          <a:xfrm>
            <a:off x="8076286" y="6355185"/>
            <a:ext cx="4121426" cy="369332"/>
          </a:xfrm>
          <a:prstGeom prst="rect">
            <a:avLst/>
          </a:prstGeom>
          <a:noFill/>
        </p:spPr>
        <p:txBody>
          <a:bodyPr wrap="square" rtlCol="0">
            <a:spAutoFit/>
          </a:bodyPr>
          <a:lstStyle/>
          <a:p>
            <a:r>
              <a:rPr lang="pt-BR" dirty="0"/>
              <a:t>Campo a ser preenchido pela professora.</a:t>
            </a:r>
          </a:p>
        </p:txBody>
      </p:sp>
    </p:spTree>
    <p:extLst>
      <p:ext uri="{BB962C8B-B14F-4D97-AF65-F5344CB8AC3E}">
        <ns4:creationId val="606513901"/>
      </p:ext>
    </p:extLst>
  </p:cSld>
  <p:clrMapOvr>
    <a:masterClrMapping/>
  </p:clrMapOvr>
</p:sld>
</file>

<file path=ppt/slides/slide2.xml><?xml version="1.0" encoding="utf-8"?>
<p:sld xmlns:a="http://schemas.openxmlformats.org/drawingml/2006/main" xmlns:ns3="http://schemas.microsoft.com/office/drawing/2014/main" xmlns:ns4="http://schemas.openxmlformats.org/markup-compatibility/2006"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a:extLst>
            <a:ext uri="{FF2B5EF4-FFF2-40B4-BE49-F238E27FC236}">
              <ns3:creationId id="{0FD6CC37-B502-3460-078B-0929B9D4317F}"/>
            </a:ext>
          </a:extLst>
        </p:cNvPr>
        <p:cNvGrpSpPr/>
        <p:nvPr/>
      </p:nvGrpSpPr>
      <p:grpSpPr>
        <a:xfrm>
          <a:off x="0" y="0"/>
          <a:ext cx="0" cy="0"/>
          <a:chOff x="0" y="0"/>
          <a:chExt cx="0" cy="0"/>
        </a:xfrm>
      </p:grpSpPr>
      <ns4:AlternateContent>
        <ns4:Choice Requires="p14">
          <p:contentPart ns5:bwMode="auto" r:id="rId3">
            <ns5:nvContentPartPr>
              <ns5:cNvPr id="2" name="Tinta 1">
                <a:extLst>
                  <a:ext uri="{FF2B5EF4-FFF2-40B4-BE49-F238E27FC236}">
                    <ns3:creationId id="{73292FF4-8A18-8D33-11B7-78FD03DDA90C}"/>
                  </a:ext>
                </a:extLst>
              </ns5:cNvPr>
              <ns5:cNvContentPartPr/>
              <ns5:nvPr/>
            </ns5:nvContentPartPr>
            <ns5:xfrm>
              <a:off x="2855255" y="3416760"/>
              <a:ext cx="16560" cy="360"/>
            </ns5:xfrm>
          </p:contentPart>
        </ns4:Choice>
        <ns4:Fallback>
          <p:pic>
            <p:nvPicPr>
              <p:cNvPr id="2" name="Tinta 1">
                <a:extLst>
                  <a:ext uri="{FF2B5EF4-FFF2-40B4-BE49-F238E27FC236}">
                    <ns3:creationId id="{73292FF4-8A18-8D33-11B7-78FD03DDA90C}"/>
                  </a:ext>
                </a:extLst>
              </p:cNvPr>
              <p:cNvPicPr/>
              <p:nvPr/>
            </p:nvPicPr>
            <p:blipFill>
              <a:blip r:embed="rId4"/>
              <a:stretch>
                <a:fillRect/>
              </a:stretch>
            </p:blipFill>
            <p:spPr>
              <a:xfrm>
                <a:off x="2846055" y="3407760"/>
                <a:ext cx="34592" cy="18000"/>
              </a:xfrm>
              <a:prstGeom prst="rect">
                <a:avLst/>
              </a:prstGeom>
            </p:spPr>
          </p:pic>
        </ns4:Fallback>
      </ns4:AlternateContent>
      <p:sp>
        <p:nvSpPr>
          <p:cNvPr id="4" name="CaixaDeTexto 3">
            <a:extLst>
              <a:ext uri="{FF2B5EF4-FFF2-40B4-BE49-F238E27FC236}">
                <ns3:creationId id="{4FB2CE25-625E-DEB6-F60A-6FEFF5CB7139}"/>
              </a:ext>
            </a:extLst>
          </p:cNvPr>
          <p:cNvSpPr txBox="1"/>
          <p:nvPr/>
        </p:nvSpPr>
        <p:spPr>
          <a:xfrm>
            <a:off x="3626069" y="4607983"/>
            <a:ext cx="6834552" cy="1077218"/>
          </a:xfrm>
          <a:prstGeom prst="rect">
            <a:avLst/>
          </a:prstGeom>
          <a:noFill/>
        </p:spPr>
        <p:txBody>
          <a:bodyPr wrap="square" rtlCol="0">
            <a:spAutoFit/>
          </a:bodyPr>
          <a:lstStyle/>
          <a:p>
            <a:pPr algn="r"/>
            <a:r>
              <a:rPr lang="pt-BR" sz="1600" b="0">
                <a:solidFill>
                  <a:schemeClr val="bg1"/>
                </a:solidFill>
              </a:rPr>
              <a:t>Faculdade Unyleya — Educação Superior a Distância</a:t>
            </a:r>
          </a:p>
          <a:p>
            <a:pPr algn="r">
              <a:spcBfr>
                <a:spcPts val="300"/>
              </a:spcBfr>
            </a:pPr>
            <a:r>
              <a:rPr lang="pt-BR" sz="2200" b="1">
                <a:solidFill>
                  <a:schemeClr val="bg1"/>
                </a:solidFill>
              </a:rPr>
              <a:t>Curso Superior de Tecnologia em Banco de Dados</a:t>
            </a:r>
          </a:p>
          <a:p>
            <a:pPr algn="r">
              <a:spcBfr>
                <a:spcPts val="300"/>
              </a:spcBfr>
            </a:pPr>
            <a:r>
              <a:rPr lang="pt-BR" sz="1500" b="0">
                <a:solidFill>
                  <a:schemeClr val="bg1"/>
                </a:solidFill>
              </a:rPr>
              <a:t>DISCIPLINA: AMBIENTE PROFISSIONAL E DE EXTENSÃO — APEX V (100 HORAS)</a:t>
            </a:r>
          </a:p>
          <a:p>
            <a:pPr algn="r">
              <a:spcBfr>
                <a:spcPts val="150"/>
              </a:spcBfr>
            </a:pPr>
            <a:r>
              <a:rPr lang="pt-BR" sz="1400" b="0">
                <a:solidFill>
                  <a:schemeClr val="bg1"/>
                </a:solidFill>
              </a:rPr>
              <a:t>Programa de Extensão Universitária: Educando para a Cidadania</a:t>
            </a:r>
          </a:p>
          <a:p>
            <a:pPr algn="r">
              <a:spcBfr>
                <a:spcPts val="500"/>
              </a:spcBfr>
            </a:pPr>
            <a:r>
              <a:rPr lang="pt-BR" sz="1500" b="1">
                <a:solidFill>
                  <a:schemeClr val="bg1"/>
                </a:solidFill>
              </a:rPr>
              <a:t>TÍTULO DO TRABALHO DE EXTENSÃO:</a:t>
            </a:r>
          </a:p>
          <a:p>
            <a:pPr algn="r">
              <a:spcBfr>
                <a:spcPts val="200"/>
              </a:spcBfr>
            </a:pPr>
            <a:r>
              <a:rPr lang="pt-BR" sz="1900" b="1">
                <a:solidFill>
                  <a:schemeClr val="bg1"/>
                </a:solidFill>
              </a:rPr>
              <a:t>Inteligência Artificial, Ética e Governança de Dados na Gestão de Energia Solar: Letramento Digital e Proteção de Dados na Performa Energy</a:t>
            </a:r>
          </a:p>
        </p:txBody>
      </p:sp>
    </p:spTree>
    <p:extLst>
      <p:ext uri="{BB962C8B-B14F-4D97-AF65-F5344CB8AC3E}">
        <ns5:creationId val="239841373"/>
      </p:ext>
    </p:extLst>
  </p:cSld>
  <p:clrMapOvr>
    <a:masterClrMapping/>
  </p:clrMapOvr>
</p:sld>
</file>

<file path=ppt/slides/slide3.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CaixaDeTexto 11">
            <a:extLst>
              <a:ext uri="{FF2B5EF4-FFF2-40B4-BE49-F238E27FC236}">
                <ns3:creationId id="{FDEC566B-0282-9751-D008-124A90BC086A}"/>
              </a:ext>
            </a:extLst>
          </p:cNvPr>
          <p:cNvSpPr txBox="1"/>
          <p:nvPr/>
        </p:nvSpPr>
        <p:spPr>
          <a:xfrm>
            <a:off x="164032" y="2710377"/>
            <a:ext cx="8827204" cy="461665"/>
          </a:xfrm>
          <a:prstGeom prst="rect">
            <a:avLst/>
          </a:prstGeom>
          <a:noFill/>
        </p:spPr>
        <p:txBody>
          <a:bodyPr wrap="square" rtlCol="0">
            <a:spAutoFit/>
          </a:bodyPr>
          <a:lstStyle/>
          <a:p>
            <a:pPr algn="r"/>
            <a:r>
              <a:rPr lang="pt-BR" sz="2400" dirty="0"/>
              <a:t>	</a:t>
            </a:r>
          </a:p>
        </p:txBody>
      </p:sp>
      <p:sp>
        <p:nvSpPr>
          <p:cNvPr id="4" name="CaixaDeTexto 3">
            <a:extLst>
              <a:ext uri="{FF2B5EF4-FFF2-40B4-BE49-F238E27FC236}">
                <ns3:creationId id="{0108ACFF-B134-020C-C0C3-04FACFF22B0D}"/>
              </a:ext>
            </a:extLst>
          </p:cNvPr>
          <p:cNvSpPr txBox="1"/>
          <p:nvPr/>
        </p:nvSpPr>
        <p:spPr>
          <a:xfrm>
            <a:off x="1026229" y="1360813"/>
            <a:ext cx="10543729" cy="707886"/>
          </a:xfrm>
          <a:prstGeom prst="rect">
            <a:avLst/>
          </a:prstGeom>
          <a:noFill/>
        </p:spPr>
        <p:txBody>
          <a:bodyPr wrap="square" rtlCol="0">
            <a:spAutoFit/>
          </a:bodyPr>
          <a:lstStyle/>
          <a:p>
            <a:pPr/>
            <a:r>
              <a:rPr lang="pt-BR" sz="1600" b="1">
                <a:solidFill>
                  <a:schemeClr val="accent1"/>
                </a:solidFill>
              </a:rPr>
              <a:t>Dados Acadêmicos do Discente Extensionista e Coordenação Docente</a:t>
            </a:r>
          </a:p>
        </p:txBody>
      </p:sp>
      <p:sp>
        <p:nvSpPr>
          <p:cNvPr id="7" name="CaixaDeTexto 6">
            <a:extLst>
              <a:ext uri="{FF2B5EF4-FFF2-40B4-BE49-F238E27FC236}">
                <ns3:creationId id="{D259676A-95AD-2E7C-A914-371AA856113C}"/>
              </a:ext>
            </a:extLst>
          </p:cNvPr>
          <p:cNvSpPr txBox="1"/>
          <p:nvPr/>
        </p:nvSpPr>
        <p:spPr>
          <a:xfrm>
            <a:off x="2584174" y="502815"/>
            <a:ext cx="10073355" cy="461665"/>
          </a:xfrm>
          <a:prstGeom prst="rect">
            <a:avLst/>
          </a:prstGeom>
          <a:noFill/>
        </p:spPr>
        <p:txBody>
          <a:bodyPr wrap="square" rtlCol="0">
            <a:spAutoFit/>
          </a:bodyPr>
          <a:lstStyle/>
          <a:p>
            <a:pPr/>
            <a:r>
              <a:rPr lang="pt-BR" sz="2400" b="1">
                <a:solidFill>
                  <a:srgbClr val="A33D6B"/>
                </a:solidFill>
              </a:rPr>
              <a:t>APRESENTAÇÃO</a:t>
            </a:r>
          </a:p>
        </p:txBody>
      </p:sp>
      <p:pic>
        <p:nvPicPr>
          <p:cNvPr id="8" name="Picture 10" descr="Falando - ícones de pessoas grátis">
            <a:extLst>
              <a:ext uri="{FF2B5EF4-FFF2-40B4-BE49-F238E27FC236}">
                <ns3:creationId id="{F2F4570E-0996-FE71-EF72-065941867C96}"/>
              </a:ext>
            </a:extLst>
          </p:cNvPr>
          <p:cNvPicPr>
            <a:picLocks noChangeAspect="1" noChangeArrowheads="1"/>
          </p:cNvPicPr>
          <p:nvPr/>
        </p:nvPicPr>
        <p:blipFill>
          <a:blip r:embed="rId3">
            <a:duotone>
              <a:schemeClr val="accent3">
                <a:shade val="45000"/>
                <a:satMod val="135000"/>
              </a:schemeClr>
              <a:prstClr val="white"/>
            </a:duotone>
            <a:extLst>
              <a:ext uri="{28A0092B-C50C-407E-A947-70E740481C1C}">
                <ns4:useLocalDpi val="0"/>
              </a:ext>
            </a:extLst>
          </a:blip>
          <a:srcRect/>
          <a:stretch>
            <a:fillRect/>
          </a:stretch>
        </p:blipFill>
        <p:spPr bwMode="auto">
          <a:xfrm>
            <a:off x="2232405" y="508226"/>
            <a:ext cx="351769" cy="351769"/>
          </a:xfrm>
          <a:prstGeom prst="rect">
            <a:avLst/>
          </a:prstGeom>
          <a:noFill/>
          <a:ln>
            <a:noFill/>
          </a:ln>
          <a:extLst>
            <a:ext uri="{909E8E84-426E-40DD-AFC4-6F175D3DCCD1}">
              <ns4:hiddenFill>
                <a:solidFill>
                  <a:srgbClr val="FFFFFF"/>
                </a:solidFill>
              </ns4:hiddenFill>
            </a:ext>
          </a:extLst>
        </p:spPr>
      </p:pic>
      <p:cxnSp>
        <p:nvCxnSpPr>
          <p:cNvPr id="10" name="Conector Reto 9">
            <a:extLst>
              <a:ext uri="{FF2B5EF4-FFF2-40B4-BE49-F238E27FC236}">
                <ns3:creationId id="{BA7CB7F0-3320-5811-092D-D2C1151380A8}"/>
              </a:ext>
            </a:extLst>
          </p:cNvPr>
          <p:cNvCxnSpPr>
            <a:cxnSpLocks/>
          </p:cNvCxnSpPr>
          <p:nvPr/>
        </p:nvCxnSpPr>
        <p:spPr>
          <a:xfrm>
            <a:off x="2232405" y="938354"/>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2" name="CaixaDeTexto 1">
            <a:extLst>
              <a:ext uri="{FF2B5EF4-FFF2-40B4-BE49-F238E27FC236}">
                <ns3:creationId id="{DBA194D5-46A6-5B0D-94DE-5A184BA387D7}"/>
              </a:ext>
            </a:extLst>
          </p:cNvPr>
          <p:cNvSpPr txBox="1"/>
          <p:nvPr/>
        </p:nvSpPr>
        <p:spPr>
          <a:xfrm>
            <a:off x="1821858" y="2465032"/>
            <a:ext cx="9596178" cy="461665"/>
          </a:xfrm>
          <a:prstGeom prst="rect">
            <a:avLst/>
          </a:prstGeom>
          <a:noFill/>
        </p:spPr>
        <p:txBody>
          <a:bodyPr wrap="square" rtlCol="0">
            <a:spAutoFit/>
          </a:bodyPr>
          <a:lstStyle/>
          <a:p>
            <a:pPr/>
            <a:r>
              <a:rPr lang="pt-BR" sz="1800" b="1">
                <a:solidFill>
                  <a:srgbClr val="1F497D"/>
                </a:solidFill>
              </a:rPr>
              <a:t>Curso Superior de Tecnologia em Banco de Dados</a:t>
            </a:r>
          </a:p>
          <a:p>
            <a:pPr>
              <a:spcBfr>
                <a:spcPts val="150"/>
              </a:spcBfr>
            </a:pPr>
            <a:r>
              <a:rPr lang="pt-BR" sz="1400" b="0">
                <a:solidFill>
                  <a:srgbClr val="595959"/>
                </a:solidFill>
              </a:rPr>
              <a:t>Faculdade Unyleya — Carga Horária de Extensão: 100 Horas</a:t>
            </a:r>
          </a:p>
        </p:txBody>
      </p:sp>
      <p:sp>
        <p:nvSpPr>
          <p:cNvPr id="3" name="CaixaDeTexto 2">
            <a:extLst>
              <a:ext uri="{FF2B5EF4-FFF2-40B4-BE49-F238E27FC236}">
                <ns3:creationId id="{8E45C0AA-06B7-5935-214F-4A303B56CCCA}"/>
              </a:ext>
            </a:extLst>
          </p:cNvPr>
          <p:cNvSpPr txBox="1"/>
          <p:nvPr/>
        </p:nvSpPr>
        <p:spPr>
          <a:xfrm>
            <a:off x="2958253" y="3172042"/>
            <a:ext cx="7687385" cy="1938992"/>
          </a:xfrm>
          <a:prstGeom prst="rect">
            <a:avLst/>
          </a:prstGeom>
          <a:noFill/>
        </p:spPr>
        <p:txBody>
          <a:bodyPr wrap="square" rtlCol="0">
            <a:spAutoFit/>
          </a:bodyPr>
          <a:lstStyle/>
          <a:p>
            <a:pPr>
              <a:spcBfr>
                <a:spcPts val="100"/>
              </a:spcBfr>
            </a:pPr>
            <a:r>
              <a:rPr lang="pt-BR" sz="1500" b="1">
                <a:solidFill>
                  <a:srgbClr val="1F497D"/>
                </a:solidFill>
              </a:rPr>
              <a:t>Discente Extensionista: </a:t>
            </a:r>
            <a:r>
              <a:rPr lang="pt-BR" sz="1500" b="0">
                <a:solidFill>
                  <a:srgbClr val="262626"/>
                </a:solidFill>
              </a:rPr>
              <a:t>Rafael S.</a:t>
            </a:r>
          </a:p>
          <a:p>
            <a:pPr>
              <a:spcBfr>
                <a:spcPts val="150"/>
              </a:spcBfr>
            </a:pPr>
            <a:r>
              <a:rPr lang="pt-BR" sz="1400" b="1">
                <a:solidFill>
                  <a:srgbClr val="1F497D"/>
                </a:solidFill>
              </a:rPr>
              <a:t>Matrícula / Registro Acadêmico: </a:t>
            </a:r>
            <a:r>
              <a:rPr lang="pt-BR" sz="1400" b="0">
                <a:solidFill>
                  <a:srgbClr val="262626"/>
                </a:solidFill>
              </a:rPr>
              <a:t>2024-APEX-TI-UNYLEYA</a:t>
            </a:r>
          </a:p>
          <a:p>
            <a:pPr>
              <a:spcBfr>
                <a:spcPts val="200"/>
              </a:spcBfr>
            </a:pPr>
            <a:r>
              <a:rPr lang="pt-BR" sz="1400" b="1">
                <a:solidFill>
                  <a:srgbClr val="1F497D"/>
                </a:solidFill>
              </a:rPr>
              <a:t>Orientadora e Coordenadora do Curso: </a:t>
            </a:r>
            <a:r>
              <a:rPr lang="pt-BR" sz="1400" b="0">
                <a:solidFill>
                  <a:srgbClr val="262626"/>
                </a:solidFill>
              </a:rPr>
              <a:t>Profa. Dra. Carla Corrêa Tavares dos Reis</a:t>
            </a:r>
          </a:p>
          <a:p>
            <a:pPr>
              <a:spcBfr>
                <a:spcPts val="200"/>
              </a:spcBfr>
            </a:pPr>
            <a:r>
              <a:rPr lang="pt-BR" sz="1400" b="1">
                <a:solidFill>
                  <a:srgbClr val="1F497D"/>
                </a:solidFill>
              </a:rPr>
              <a:t>Local de Aplicação da Extensão: </a:t>
            </a:r>
            <a:r>
              <a:rPr lang="pt-BR" sz="1400" b="0">
                <a:solidFill>
                  <a:srgbClr val="262626"/>
                </a:solidFill>
              </a:rPr>
              <a:t>Performa Energy (Gestão de Créditos de Energia Solar)</a:t>
            </a:r>
          </a:p>
          <a:p>
            <a:pPr>
              <a:spcBfr>
                <a:spcPts val="150"/>
              </a:spcBfr>
            </a:pPr>
            <a:r>
              <a:rPr lang="pt-BR" sz="1300" b="1">
                <a:solidFill>
                  <a:srgbClr val="595959"/>
                </a:solidFill>
              </a:rPr>
              <a:t>Modalidade da Intervenção: </a:t>
            </a:r>
            <a:r>
              <a:rPr lang="pt-BR" sz="1300" b="0">
                <a:solidFill>
                  <a:srgbClr val="595959"/>
                </a:solidFill>
              </a:rPr>
              <a:t>Presencial na Sede Corporativa com Workshop Hands-On e Produto Digital Figma</a:t>
            </a:r>
          </a:p>
        </p:txBody>
      </p:sp>
    </p:spTree>
    <p:extLst>
      <p:ext uri="{BB962C8B-B14F-4D97-AF65-F5344CB8AC3E}">
        <ns5:creationId val="1042535048"/>
      </p:ext>
    </p:extLst>
  </p:cSld>
  <p:clrMapOvr>
    <a:masterClrMapping/>
  </p:clrMapOvr>
</p:sld>
</file>

<file path=ppt/slides/slide4.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10" name="Conector Reto 9">
            <a:extLst>
              <a:ext uri="{FF2B5EF4-FFF2-40B4-BE49-F238E27FC236}">
                <ns3:creationId id="{1204B456-55C4-4F4E-7ACE-FBD55B3D12F4}"/>
              </a:ext>
            </a:extLst>
          </p:cNvPr>
          <p:cNvCxnSpPr>
            <a:cxnSpLocks/>
          </p:cNvCxnSpPr>
          <p:nvPr/>
        </p:nvCxnSpPr>
        <p:spPr>
          <a:xfrm>
            <a:off x="2485082" y="1079186"/>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6" name="CaixaDeTexto 5">
            <a:extLst>
              <a:ext uri="{FF2B5EF4-FFF2-40B4-BE49-F238E27FC236}">
                <ns3:creationId id="{509AC4DE-70D2-D8E5-A25C-ACD0D77A8FB3}"/>
              </a:ext>
            </a:extLst>
          </p:cNvPr>
          <p:cNvSpPr txBox="1"/>
          <p:nvPr/>
        </p:nvSpPr>
        <p:spPr>
          <a:xfrm>
            <a:off x="2359082" y="371300"/>
            <a:ext cx="7473835" cy="707886"/>
          </a:xfrm>
          <a:prstGeom prst="rect">
            <a:avLst/>
          </a:prstGeom>
          <a:noFill/>
        </p:spPr>
        <p:txBody>
          <a:bodyPr wrap="square" rtlCol="0">
            <a:spAutoFit/>
          </a:bodyPr>
          <a:lstStyle/>
          <a:p>
            <a:pPr/>
            <a:r>
              <a:rPr lang="pt-BR" sz="2000" b="1">
                <a:solidFill>
                  <a:srgbClr val="A33D6B"/>
                </a:solidFill>
              </a:rPr>
              <a:t>OBJETIVO DE DESENVOLVIMENTO SUSTENTÁVEL DO PROJETO EXTENSIONISTA «EDUCANDO PARA A CIDADANIA»</a:t>
            </a:r>
          </a:p>
        </p:txBody>
      </p:sp>
      <p:pic>
        <p:nvPicPr>
          <p:cNvPr id="7" name="Picture 10" descr="Objetivo - ícones de seo e web grátis">
            <a:extLst>
              <a:ext uri="{FF2B5EF4-FFF2-40B4-BE49-F238E27FC236}">
                <ns3:creationId id="{F1514A57-3441-BDBD-C04B-85163E655AD7}"/>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854879" y="500706"/>
            <a:ext cx="408951" cy="449075"/>
          </a:xfrm>
          <a:prstGeom prst="rect">
            <a:avLst/>
          </a:prstGeom>
          <a:noFill/>
          <a:extLst>
            <a:ext uri="{909E8E84-426E-40DD-AFC4-6F175D3DCCD1}">
              <ns4:hiddenFill>
                <a:solidFill>
                  <a:srgbClr val="FFFFFF"/>
                </a:solidFill>
              </ns4:hiddenFill>
            </a:ext>
          </a:extLst>
        </p:spPr>
      </p:pic>
      <p:sp>
        <p:nvSpPr>
          <p:cNvPr id="8" name="CaixaDeTexto 7">
            <a:extLst>
              <a:ext uri="{FF2B5EF4-FFF2-40B4-BE49-F238E27FC236}">
                <ns3:creationId id="{75117BDE-51EE-D872-2617-7FAAEE388289}"/>
              </a:ext>
            </a:extLst>
          </p:cNvPr>
          <p:cNvSpPr txBox="1"/>
          <p:nvPr/>
        </p:nvSpPr>
        <p:spPr>
          <a:xfrm>
            <a:off x="1854879" y="1457611"/>
            <a:ext cx="7065186" cy="400110"/>
          </a:xfrm>
          <a:prstGeom prst="rect">
            <a:avLst/>
          </a:prstGeom>
          <a:noFill/>
        </p:spPr>
        <p:txBody>
          <a:bodyPr wrap="square" rtlCol="0">
            <a:spAutoFit/>
          </a:bodyPr>
          <a:lstStyle/>
          <a:p>
            <a:pPr/>
            <a:r>
              <a:rPr lang="pt-BR" sz="1600" b="1">
                <a:solidFill>
                  <a:schemeClr val="accent1"/>
                </a:solidFill>
              </a:rPr>
              <a:t>Disciplina Curricular e Ementa Oficial (Resolução CNE/CES MEC nº 7/2018)</a:t>
            </a:r>
          </a:p>
        </p:txBody>
      </p:sp>
      <p:sp>
        <p:nvSpPr>
          <p:cNvPr id="2" name="CaixaDeTexto 1">
            <a:extLst>
              <a:ext uri="{FF2B5EF4-FFF2-40B4-BE49-F238E27FC236}">
                <ns3:creationId id="{59DE6E94-6DB1-A472-2A38-82940DD1CDBA}"/>
              </a:ext>
            </a:extLst>
          </p:cNvPr>
          <p:cNvSpPr txBox="1"/>
          <p:nvPr/>
        </p:nvSpPr>
        <p:spPr>
          <a:xfrm>
            <a:off x="2058557" y="1857721"/>
            <a:ext cx="8689515" cy="4093428"/>
          </a:xfrm>
          <a:prstGeom prst="rect">
            <a:avLst/>
          </a:prstGeom>
          <a:noFill/>
        </p:spPr>
        <p:txBody>
          <a:bodyPr wrap="square" rtlCol="0">
            <a:spAutoFit/>
          </a:bodyPr>
          <a:lstStyle/>
          <a:p>
            <a:pPr/>
            <a:r>
              <a:rPr lang="pt-BR" sz="1400" b="1">
                <a:solidFill>
                  <a:srgbClr val="1F497D"/>
                </a:solidFill>
              </a:rPr>
              <a:t>DISCIPLINA:</a:t>
            </a:r>
          </a:p>
          <a:p>
            <a:pPr>
              <a:spcBfr>
                <a:spcPts val="100"/>
              </a:spcBfr>
            </a:pPr>
            <a:r>
              <a:rPr lang="pt-BR" sz="1300" b="0">
                <a:solidFill>
                  <a:srgbClr val="262626"/>
                </a:solidFill>
              </a:rPr>
              <a:t>AMBIENTE PROFISSIONAL E DE EXTENSÃO — APEX V (Cursos de T.I. — 100 horas)</a:t>
            </a:r>
          </a:p>
          <a:p>
            <a:pPr>
              <a:spcBfr>
                <a:spcPts val="250"/>
              </a:spcBfr>
            </a:pPr>
            <a:r>
              <a:rPr lang="pt-BR" sz="1400" b="1">
                <a:solidFill>
                  <a:srgbClr val="1F497D"/>
                </a:solidFill>
              </a:rPr>
              <a:t>EMENTA OFICIAL INTEGRAL:</a:t>
            </a:r>
          </a:p>
          <a:p>
            <a:pPr>
              <a:spcBfr>
                <a:spcPts val="150"/>
              </a:spcBfr>
            </a:pPr>
            <a:r>
              <a:rPr lang="pt-BR" sz="1150" b="0" i="1">
                <a:solidFill>
                  <a:srgbClr val="333333"/>
                </a:solidFill>
              </a:rPr>
              <a:t>«Problematização de temas conectados com a vida real na sociedade atual para solução por meio de projetos. Estabelecimento de direcionamentos e regras para a realização do desafio. Desenvolvimento de soft skills como trabalho em equipe, resolução de problemas complexos, comunicação, criatividade, entre outros. Tradução dos conhecimentos científicos para a comunidade. Inteligência Artificial: desafios e oportunidades. Programa de Extensão Institucional: Educando para a Cidadania como proposta de diálogo entre a comunidade acadêmica e sociedade. Produção de materiais educacionais com uso das mídias digitais.»</a:t>
            </a:r>
          </a:p>
          <a:p>
            <a:pPr>
              <a:spcBfr>
                <a:spcPts val="250"/>
              </a:spcBfr>
            </a:pPr>
            <a:r>
              <a:rPr lang="pt-BR" sz="1300" b="1">
                <a:solidFill>
                  <a:srgbClr val="1F497D"/>
                </a:solidFill>
              </a:rPr>
              <a:t>ALINHAMENTO NORMATIVO E EXTENSIONISTA:</a:t>
            </a:r>
          </a:p>
          <a:p>
            <a:pPr>
              <a:spcBfr>
                <a:spcPts val="100"/>
              </a:spcBfr>
            </a:pPr>
            <a:r>
              <a:rPr lang="pt-BR" sz="1100" b="0">
                <a:solidFill>
                  <a:srgbClr val="333333"/>
                </a:solidFill>
              </a:rPr>
              <a:t>O projeto atende integralmente às diretrizes da Resolução CNE/CES MEC nº 7/2018, vinculando o conhecimento científico de Tecnologia da Informação às demandas reais da comunidade corporativa da Performa Energy, promovendo inovação sustentável, proteção de dados sob a LGPD e letramento em IA.</a:t>
            </a:r>
          </a:p>
        </p:txBody>
      </p:sp>
    </p:spTree>
    <p:extLst>
      <p:ext uri="{BB962C8B-B14F-4D97-AF65-F5344CB8AC3E}">
        <ns5:creationId val="964490276"/>
      </p:ext>
    </p:extLst>
  </p:cSld>
  <p:clrMapOvr>
    <a:masterClrMapping/>
  </p:clrMapOvr>
</p:sld>
</file>

<file path=ppt/slides/slide5.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10" name="Conector Reto 9">
            <a:extLst>
              <a:ext uri="{FF2B5EF4-FFF2-40B4-BE49-F238E27FC236}">
                <ns3:creationId id="{1204B456-55C4-4F4E-7ACE-FBD55B3D12F4}"/>
              </a:ext>
            </a:extLst>
          </p:cNvPr>
          <p:cNvCxnSpPr>
            <a:cxnSpLocks/>
          </p:cNvCxnSpPr>
          <p:nvPr/>
        </p:nvCxnSpPr>
        <p:spPr>
          <a:xfrm>
            <a:off x="2485082" y="1079186"/>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6" name="CaixaDeTexto 5">
            <a:extLst>
              <a:ext uri="{FF2B5EF4-FFF2-40B4-BE49-F238E27FC236}">
                <ns3:creationId id="{509AC4DE-70D2-D8E5-A25C-ACD0D77A8FB3}"/>
              </a:ext>
            </a:extLst>
          </p:cNvPr>
          <p:cNvSpPr txBox="1"/>
          <p:nvPr/>
        </p:nvSpPr>
        <p:spPr>
          <a:xfrm>
            <a:off x="2359082" y="371300"/>
            <a:ext cx="7473835" cy="707886"/>
          </a:xfrm>
          <a:prstGeom prst="rect">
            <a:avLst/>
          </a:prstGeom>
          <a:noFill/>
        </p:spPr>
        <p:txBody>
          <a:bodyPr wrap="square" rtlCol="0">
            <a:spAutoFit/>
          </a:bodyPr>
          <a:lstStyle/>
          <a:p>
            <a:pPr/>
            <a:r>
              <a:rPr lang="pt-BR" sz="2000" b="1">
                <a:solidFill>
                  <a:srgbClr val="A33D6B"/>
                </a:solidFill>
              </a:rPr>
              <a:t>OBJETIVO DE DESENVOLVIMENTO SUSTENTÁVEL DO PROJETO EXTENSIONISTA «EDUCANDO PARA A CIDADANIA»</a:t>
            </a:r>
          </a:p>
        </p:txBody>
      </p:sp>
      <p:pic>
        <p:nvPicPr>
          <p:cNvPr id="7" name="Picture 10" descr="Objetivo - ícones de seo e web grátis">
            <a:extLst>
              <a:ext uri="{FF2B5EF4-FFF2-40B4-BE49-F238E27FC236}">
                <ns3:creationId id="{F1514A57-3441-BDBD-C04B-85163E655AD7}"/>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854879" y="500706"/>
            <a:ext cx="408951" cy="449075"/>
          </a:xfrm>
          <a:prstGeom prst="rect">
            <a:avLst/>
          </a:prstGeom>
          <a:noFill/>
          <a:extLst>
            <a:ext uri="{909E8E84-426E-40DD-AFC4-6F175D3DCCD1}">
              <ns4:hiddenFill>
                <a:solidFill>
                  <a:srgbClr val="FFFFFF"/>
                </a:solidFill>
              </ns4:hiddenFill>
            </a:ext>
          </a:extLst>
        </p:spPr>
      </p:pic>
      <p:sp>
        <p:nvSpPr>
          <p:cNvPr id="2" name="CaixaDeTexto 1">
            <a:extLst>
              <a:ext uri="{FF2B5EF4-FFF2-40B4-BE49-F238E27FC236}">
                <ns3:creationId id="{952B89C6-72E9-3EBA-DBE7-13BD4A52AD1E}"/>
              </a:ext>
            </a:extLst>
          </p:cNvPr>
          <p:cNvSpPr txBox="1"/>
          <p:nvPr/>
        </p:nvSpPr>
        <p:spPr>
          <a:xfrm>
            <a:off x="785553" y="2053270"/>
            <a:ext cx="8138639" cy="4237827"/>
          </a:xfrm>
          <a:prstGeom prst="rect">
            <a:avLst/>
          </a:prstGeom>
          <a:noFill/>
        </p:spPr>
        <p:txBody>
          <a:bodyPr wrap="square" rtlCol="0">
            <a:spAutoFit/>
          </a:bodyPr>
          <a:lstStyle/>
          <a:p>
            <a:pPr>
              <a:buFontTx/>
              <a:buChar char="•"/>
              <a:spcBfr>
                <a:spcPts val="100"/>
              </a:spcBfr>
            </a:pPr>
            <a:r>
              <a:rPr lang="pt-BR" sz="1200" b="1">
                <a:solidFill>
                  <a:srgbClr val="C68B59"/>
                </a:solidFill>
              </a:rPr>
              <a:t>ODS 7 — ENERGIA LIMPA E ACESSÍVEL (Metas 7.2 e 7.b): </a:t>
            </a:r>
            <a:r>
              <a:rPr lang="pt-BR" sz="1100" b="0">
                <a:solidFill>
                  <a:srgbClr val="262626"/>
                </a:solidFill>
              </a:rPr>
              <a:t>Apoio à expansão da geração distribuída fotovoltaica (Lei 14.300/2022). O projeto capacita a equipe para o uso transparente de IA na simulação de economia e compensação de créditos solares, eliminando distorções tarifárias e custos ocultos para os consumidores.</a:t>
            </a:r>
          </a:p>
          <a:p>
            <a:pPr>
              <a:buFontTx/>
              <a:buChar char="•"/>
              <a:spcBfr>
                <a:spcPts val="150"/>
              </a:spcBfr>
            </a:pPr>
            <a:r>
              <a:rPr lang="pt-BR" sz="1200" b="1">
                <a:solidFill>
                  <a:srgbClr val="E65100"/>
                </a:solidFill>
              </a:rPr>
              <a:t>ODS 9 — INDÚSTRIA, INOVAÇÃO E INFRAESTRUTURA (Metas 9.4 e 9.5): </a:t>
            </a:r>
            <a:r>
              <a:rPr lang="pt-BR" sz="1100" b="0">
                <a:solidFill>
                  <a:srgbClr val="262626"/>
                </a:solidFill>
              </a:rPr>
              <a:t>Modernização dos processos analíticos da Performa Energy mediante adoção responsável de inteligência artificial, OCR auditado para faturas e governança rigorosa contra o uso desregrado de ferramentas não homologadas (Shadow AI).</a:t>
            </a:r>
          </a:p>
          <a:p>
            <a:pPr>
              <a:buFontTx/>
              <a:buChar char="•"/>
              <a:spcBfr>
                <a:spcPts val="150"/>
              </a:spcBfr>
            </a:pPr>
            <a:r>
              <a:rPr lang="pt-BR" sz="1200" b="1">
                <a:solidFill>
                  <a:srgbClr val="2E7D32"/>
                </a:solidFill>
              </a:rPr>
              <a:t>ODS 13 — AÇÃO CONTRA A MUDANÇA GLOBAL DO CLIMA (Meta 13.3): </a:t>
            </a:r>
            <a:r>
              <a:rPr lang="pt-BR" sz="1100" b="0">
                <a:solidFill>
                  <a:srgbClr val="262626"/>
                </a:solidFill>
              </a:rPr>
              <a:t>Fortalecimento da capacidade institucional de empresa dedicada à transição da matriz fóssil para energia solar renovável. O ganho de eficiência no faturamento solar impulsiona diretamente a redução de emissões de CO2.</a:t>
            </a:r>
          </a:p>
          <a:p>
            <a:pPr>
              <a:buFontTx/>
              <a:buChar char="•"/>
              <a:spcBfr>
                <a:spcPts val="150"/>
              </a:spcBfr>
            </a:pPr>
            <a:r>
              <a:rPr lang="pt-BR" sz="1200" b="1">
                <a:solidFill>
                  <a:srgbClr val="1F497D"/>
                </a:solidFill>
              </a:rPr>
              <a:t>CONEXÕES TRANSVERSAIS (ODS 4 e ODS 8): </a:t>
            </a:r>
            <a:r>
              <a:rPr lang="pt-BR" sz="1100" b="0">
                <a:solidFill>
                  <a:srgbClr val="262626"/>
                </a:solidFill>
              </a:rPr>
              <a:t>Promoção do letramento digital corporativo (ODS 4 - Meta 4.4) e consolidação do trabalho decente assistido por IA com supervisão humana ativa (Human-in-the-Loop - ODS 8).</a:t>
            </a:r>
          </a:p>
        </p:txBody>
      </p:sp>
      <p:sp>
        <p:nvSpPr>
          <p:cNvPr id="12" name="CaixaDeTexto 11">
            <a:extLst>
              <a:ext uri="{FF2B5EF4-FFF2-40B4-BE49-F238E27FC236}">
                <ns3:creationId id="{6F97F82E-C08E-656F-6510-BD83F8BE9BB2}"/>
              </a:ext>
            </a:extLst>
          </p:cNvPr>
          <p:cNvSpPr txBox="1"/>
          <p:nvPr/>
        </p:nvSpPr>
        <p:spPr>
          <a:xfrm>
            <a:off x="9190181" y="3572372"/>
            <a:ext cx="2840227" cy="615553"/>
          </a:xfrm>
          <a:prstGeom prst="rect">
            <a:avLst/>
          </a:prstGeom>
          <a:noFill/>
        </p:spPr>
        <p:txBody>
          <a:bodyPr wrap="square">
            <a:spAutoFit/>
          </a:bodyPr>
          <a:lstStyle/>
          <a:p>
            <a:pPr algn="ctr"/>
            <a:r>
              <a:rPr lang="pt-BR" sz="1100" b="1">
                <a:solidFill>
                  <a:schemeClr val="accent1"/>
                </a:solidFill>
              </a:rPr>
              <a:t>Fonte Oficial: https://brasil.un.org/pt-br/sdgs</a:t>
            </a:r>
          </a:p>
        </p:txBody>
      </p:sp>
      <p:sp>
        <p:nvSpPr>
          <p:cNvPr id="3" name="CaixaDeTexto 2">
            <a:extLst>
              <a:ext uri="{FF2B5EF4-FFF2-40B4-BE49-F238E27FC236}">
                <ns3:creationId id="{9D35FA91-78A4-B4E7-8C2E-FBD2B5A34B49}"/>
              </a:ext>
            </a:extLst>
          </p:cNvPr>
          <p:cNvSpPr txBox="1"/>
          <p:nvPr/>
        </p:nvSpPr>
        <p:spPr>
          <a:xfrm>
            <a:off x="1072176" y="1079185"/>
            <a:ext cx="9812442" cy="707886"/>
          </a:xfrm>
          <a:prstGeom prst="rect">
            <a:avLst/>
          </a:prstGeom>
          <a:noFill/>
        </p:spPr>
        <p:txBody>
          <a:bodyPr wrap="square" rtlCol="0">
            <a:spAutoFit/>
          </a:bodyPr>
          <a:lstStyle/>
          <a:p>
            <a:pPr/>
            <a:r>
              <a:rPr lang="pt-BR" sz="1500" b="1">
                <a:solidFill>
                  <a:schemeClr val="accent1"/>
                </a:solidFill>
              </a:rPr>
              <a:t>Tema Gerador: Inteligência Artificial Ética e Governança na Transição Energética (Agenda 2030)</a:t>
            </a:r>
          </a:p>
        </p:txBody>
      </p:sp>
      <p:pic>
        <p:nvPicPr>
          <p:cNvPr id="5" name="Imagem 4">
            <a:extLst>
              <a:ext uri="{FF2B5EF4-FFF2-40B4-BE49-F238E27FC236}">
                <ns3:creationId id="{9745BB66-085B-F2B6-CBD0-0237E5875236}"/>
              </a:ext>
            </a:extLst>
          </p:cNvPr>
          <p:cNvPicPr>
            <a:picLocks noChangeAspect="1"/>
          </p:cNvPicPr>
          <p:nvPr/>
        </p:nvPicPr>
        <p:blipFill>
          <a:blip r:embed="rId5"/>
          <a:stretch>
            <a:fillRect/>
          </a:stretch>
        </p:blipFill>
        <p:spPr>
          <a:xfrm>
            <a:off x="9832917" y="2104176"/>
            <a:ext cx="1318374" cy="1333616"/>
          </a:xfrm>
          <a:prstGeom prst="rect">
            <a:avLst/>
          </a:prstGeom>
        </p:spPr>
      </p:pic>
    </p:spTree>
    <p:extLst>
      <p:ext uri="{BB962C8B-B14F-4D97-AF65-F5344CB8AC3E}">
        <ns5:creationId val="1250669668"/>
      </p:ext>
    </p:extLst>
  </p:cSld>
  <p:clrMapOvr>
    <a:masterClrMapping/>
  </p:clrMapOvr>
</p:sld>
</file>

<file path=ppt/slides/slide6.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CaixaDeTexto 7">
            <a:extLst>
              <a:ext uri="{FF2B5EF4-FFF2-40B4-BE49-F238E27FC236}">
                <ns3:creationId id="{43841D3B-AC6C-2B68-C26F-BB6FB6A95A56}"/>
              </a:ext>
            </a:extLst>
          </p:cNvPr>
          <p:cNvSpPr txBox="1"/>
          <p:nvPr/>
        </p:nvSpPr>
        <p:spPr>
          <a:xfrm>
            <a:off x="2284486" y="378387"/>
            <a:ext cx="10073355" cy="461665"/>
          </a:xfrm>
          <a:prstGeom prst="rect">
            <a:avLst/>
          </a:prstGeom>
          <a:noFill/>
        </p:spPr>
        <p:txBody>
          <a:bodyPr wrap="square" rtlCol="0">
            <a:spAutoFit/>
          </a:bodyPr>
          <a:lstStyle/>
          <a:p>
            <a:pPr/>
            <a:r>
              <a:rPr lang="pt-BR" sz="2400" b="1">
                <a:solidFill>
                  <a:srgbClr val="A33D6B"/>
                </a:solidFill>
              </a:rPr>
              <a:t>LOCAL DE IMPLEMENTAÇÃO</a:t>
            </a:r>
          </a:p>
        </p:txBody>
      </p:sp>
      <p:pic>
        <p:nvPicPr>
          <p:cNvPr id="9" name="Picture 26" descr="Página 12 | Edificio Logotipo Imagens – Download Grátis no Freepik">
            <a:extLst>
              <a:ext uri="{FF2B5EF4-FFF2-40B4-BE49-F238E27FC236}">
                <ns3:creationId id="{3B6ACB0E-4D1D-EC52-2C2E-1D38254EE627}"/>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998273" y="483326"/>
            <a:ext cx="286212" cy="254943"/>
          </a:xfrm>
          <a:prstGeom prst="rect">
            <a:avLst/>
          </a:prstGeom>
          <a:noFill/>
          <a:extLst>
            <a:ext uri="{909E8E84-426E-40DD-AFC4-6F175D3DCCD1}">
              <ns4:hiddenFill>
                <a:solidFill>
                  <a:srgbClr val="FFFFFF"/>
                </a:solidFill>
              </ns4:hiddenFill>
            </a:ext>
          </a:extLst>
        </p:spPr>
      </p:pic>
      <p:cxnSp>
        <p:nvCxnSpPr>
          <p:cNvPr id="10" name="Conector Reto 9">
            <a:extLst>
              <a:ext uri="{FF2B5EF4-FFF2-40B4-BE49-F238E27FC236}">
                <ns3:creationId id="{1204B456-55C4-4F4E-7ACE-FBD55B3D12F4}"/>
              </a:ext>
            </a:extLst>
          </p:cNvPr>
          <p:cNvCxnSpPr>
            <a:cxnSpLocks/>
          </p:cNvCxnSpPr>
          <p:nvPr/>
        </p:nvCxnSpPr>
        <p:spPr>
          <a:xfrm>
            <a:off x="1998273" y="851138"/>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2" name="CaixaDeTexto 1">
            <a:extLst>
              <a:ext uri="{FF2B5EF4-FFF2-40B4-BE49-F238E27FC236}">
                <ns3:creationId id="{697DFD30-5112-034D-C4C1-3849CA40ECFC}"/>
              </a:ext>
            </a:extLst>
          </p:cNvPr>
          <p:cNvSpPr txBox="1"/>
          <p:nvPr/>
        </p:nvSpPr>
        <p:spPr>
          <a:xfrm>
            <a:off x="1189779" y="1325147"/>
            <a:ext cx="9812442" cy="707886"/>
          </a:xfrm>
          <a:prstGeom prst="rect">
            <a:avLst/>
          </a:prstGeom>
          <a:noFill/>
        </p:spPr>
        <p:txBody>
          <a:bodyPr wrap="square" rtlCol="0">
            <a:spAutoFit/>
          </a:bodyPr>
          <a:lstStyle/>
          <a:p>
            <a:pPr/>
            <a:r>
              <a:rPr lang="pt-BR" sz="1500" b="1">
                <a:solidFill>
                  <a:schemeClr val="accent1"/>
                </a:solidFill>
              </a:rPr>
              <a:t>Caracterização da Empresa Concedente, Espaço Físico e Público Envolvido</a:t>
            </a:r>
          </a:p>
        </p:txBody>
      </p:sp>
      <p:sp>
        <p:nvSpPr>
          <p:cNvPr id="3" name="CaixaDeTexto 2">
            <a:extLst>
              <a:ext uri="{FF2B5EF4-FFF2-40B4-BE49-F238E27FC236}">
                <ns3:creationId id="{1E67C0D8-6BC6-FDE8-876B-464CC9FA609B}"/>
              </a:ext>
            </a:extLst>
          </p:cNvPr>
          <p:cNvSpPr txBox="1"/>
          <p:nvPr/>
        </p:nvSpPr>
        <p:spPr>
          <a:xfrm>
            <a:off x="1592019" y="2518128"/>
            <a:ext cx="9410202" cy="1400383"/>
          </a:xfrm>
          <a:prstGeom prst="rect">
            <a:avLst/>
          </a:prstGeom>
          <a:noFill/>
        </p:spPr>
        <p:txBody>
          <a:bodyPr wrap="square" rtlCol="0">
            <a:spAutoFit/>
          </a:bodyPr>
          <a:lstStyle/>
          <a:p>
            <a:pPr/>
            <a:r>
              <a:rPr lang="pt-BR" sz="1300" b="1">
                <a:solidFill>
                  <a:srgbClr val="1F497D"/>
                </a:solidFill>
              </a:rPr>
              <a:t>Nome da Empresa / Parceira Institucional: </a:t>
            </a:r>
            <a:r>
              <a:rPr lang="pt-BR" sz="1300" b="1">
                <a:solidFill>
                  <a:srgbClr val="262626"/>
                </a:solidFill>
              </a:rPr>
              <a:t>Performa Energy</a:t>
            </a:r>
          </a:p>
          <a:p>
            <a:pPr>
              <a:spcBfr>
                <a:spcPts val="100"/>
              </a:spcBfr>
            </a:pPr>
            <a:r>
              <a:rPr lang="pt-BR" sz="1200" b="1">
                <a:solidFill>
                  <a:srgbClr val="1F497D"/>
                </a:solidFill>
              </a:rPr>
              <a:t>Ramo de Atividade e Missão: </a:t>
            </a:r>
            <a:r>
              <a:rPr lang="pt-BR" sz="1100" b="0">
                <a:solidFill>
                  <a:srgbClr val="262626"/>
                </a:solidFill>
              </a:rPr>
              <a:t>Gestão de créditos de energia solar fotovoltaica, micro e minigeração distribuída (GD) e soluções em eficiência energética sustentável. A empresa atua conectando usinas solares a unidades consumidoras residenciais e comerciais, reduzindo custos de energia e promovendo fontes renováveis (Marco Legal da GD - Lei nº 14.300/2022).</a:t>
            </a:r>
          </a:p>
          <a:p>
            <a:pPr>
              <a:spcBfr>
                <a:spcPts val="150"/>
              </a:spcBfr>
            </a:pPr>
            <a:r>
              <a:rPr lang="pt-BR" sz="1200" b="1">
                <a:solidFill>
                  <a:srgbClr val="1F497D"/>
                </a:solidFill>
              </a:rPr>
              <a:t>Infraestrutura Corporativa e Espaço da Intervenção: </a:t>
            </a:r>
            <a:r>
              <a:rPr lang="pt-BR" sz="1100" b="0">
                <a:solidFill>
                  <a:srgbClr val="262626"/>
                </a:solidFill>
              </a:rPr>
              <a:t>Sede corporativa dotada de infraestrutura de TI, estações de trabalho e Sala de Reuniões Multimídia (equipada com Smart TV de alta resolução para projeção, conexão Wi-Fi 5GHz de alta velocidade, laptops corporativos para testes interativos hands-on e acomodações colaborativas).</a:t>
            </a:r>
          </a:p>
          <a:p>
            <a:pPr>
              <a:spcBfr>
                <a:spcPts val="150"/>
              </a:spcBfr>
            </a:pPr>
            <a:r>
              <a:rPr lang="pt-BR" sz="1200" b="1">
                <a:solidFill>
                  <a:srgbClr val="1F497D"/>
                </a:solidFill>
              </a:rPr>
              <a:t>Público Beneficiário Direto e Indireto: </a:t>
            </a:r>
            <a:r>
              <a:rPr lang="pt-BR" sz="1100" b="0">
                <a:solidFill>
                  <a:srgbClr val="262626"/>
                </a:solidFill>
              </a:rPr>
              <a:t>Direto: Equipe multidisciplinar de 14 profissionais (Analistas de Faturamento, Consultores Comerciais, Customer Success e Gestores). Indireto: Centenas de consumidores que dependem do faturamento ético e seguro de seus créditos de energia limpa.</a:t>
            </a:r>
          </a:p>
        </p:txBody>
      </p:sp>
    </p:spTree>
    <p:extLst>
      <p:ext uri="{BB962C8B-B14F-4D97-AF65-F5344CB8AC3E}">
        <ns5:creationId val="295107399"/>
      </p:ext>
    </p:extLst>
  </p:cSld>
  <p:clrMapOvr>
    <a:masterClrMapping/>
  </p:clrMapOvr>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EC38F32F-0012-6F62-C7E8-B406F5E5D1D6}"/>
            </a:ext>
          </a:extLst>
        </p:cNvPr>
        <p:cNvGrpSpPr/>
        <p:nvPr/>
      </p:nvGrpSpPr>
      <p:grpSpPr>
        <a:xfrm>
          <a:off x="0" y="0"/>
          <a:ext cx="0" cy="0"/>
          <a:chOff x="0" y="0"/>
          <a:chExt cx="0" cy="0"/>
        </a:xfrm>
      </p:grpSpPr>
      <p:sp>
        <p:nvSpPr>
          <p:cNvPr id="12" name="CaixaDeTexto 11">
            <a:extLst>
              <a:ext uri="{FF2B5EF4-FFF2-40B4-BE49-F238E27FC236}">
                <ns2:creationId id="{AC618FA3-E8CF-7D3D-2547-DA727B3C5FA7}"/>
              </a:ext>
            </a:extLst>
          </p:cNvPr>
          <p:cNvSpPr txBox="1"/>
          <p:nvPr/>
        </p:nvSpPr>
        <p:spPr>
          <a:xfrm>
            <a:off x="164032" y="2710377"/>
            <a:ext cx="8827204" cy="461665"/>
          </a:xfrm>
          <a:prstGeom prst="rect">
            <a:avLst/>
          </a:prstGeom>
          <a:noFill/>
        </p:spPr>
        <p:txBody>
          <a:bodyPr wrap="square" rtlCol="0">
            <a:spAutoFit/>
          </a:bodyPr>
          <a:lstStyle/>
          <a:p>
            <a:pPr algn="r"/>
            <a:r>
              <a:rPr lang="pt-BR" sz="2400" dirty="0"/>
              <a:t>	</a:t>
            </a:r>
          </a:p>
        </p:txBody>
      </p:sp>
      <p:sp>
        <p:nvSpPr>
          <p:cNvPr id="4" name="CaixaDeTexto 3">
            <a:extLst>
              <a:ext uri="{FF2B5EF4-FFF2-40B4-BE49-F238E27FC236}">
                <ns2:creationId id="{601C1649-006C-22A0-79E1-E5D6B64D20CF}"/>
              </a:ext>
            </a:extLst>
          </p:cNvPr>
          <p:cNvSpPr txBox="1"/>
          <p:nvPr/>
        </p:nvSpPr>
        <p:spPr>
          <a:xfrm>
            <a:off x="1121557" y="1540388"/>
            <a:ext cx="10448402" cy="1015663"/>
          </a:xfrm>
          <a:prstGeom prst="rect">
            <a:avLst/>
          </a:prstGeom>
          <a:noFill/>
        </p:spPr>
        <p:txBody>
          <a:bodyPr wrap="square" rtlCol="0">
            <a:spAutoFit/>
          </a:bodyPr>
          <a:lstStyle/>
          <a:p>
            <a:pPr algn="ctr"/>
            <a:r>
              <a:rPr lang="pt-BR" sz="1800" b="1">
                <a:solidFill>
                  <a:srgbClr val="1F497D"/>
                </a:solidFill>
              </a:rPr>
              <a:t>PROJETO DE EXTENSÃO UNIVERSITÁRIA — APEX V (TI)</a:t>
            </a:r>
          </a:p>
          <a:p>
            <a:pPr algn="ctr">
              <a:spcBfr>
                <a:spcPts val="250"/>
              </a:spcBfr>
            </a:pPr>
            <a:r>
              <a:rPr lang="pt-BR" sz="1500" b="1">
                <a:solidFill>
                  <a:srgbClr val="A33D6B"/>
                </a:solidFill>
              </a:rPr>
              <a:t>2ª ETAPA: DESAFIO, PARTICIPANTES E APROFUNDAMENTO TEÓRICO (MÓDULO 2)</a:t>
            </a:r>
          </a:p>
          <a:p>
            <a:pPr algn="ctr">
              <a:spcBfr>
                <a:spcPts val="150"/>
              </a:spcBfr>
            </a:pPr>
            <a:r>
              <a:rPr lang="pt-BR" sz="1300" b="0">
                <a:solidFill>
                  <a:srgbClr val="595959"/>
                </a:solidFill>
              </a:rPr>
              <a:t>Envio dos Slides 8 até 10 na Sala Virtual da Unyleya</a:t>
            </a:r>
          </a:p>
          <a:p>
            <a:pPr algn="ctr">
              <a:spcBfr>
                <a:spcPts val="200"/>
              </a:spcBfr>
            </a:pPr>
            <a:r>
              <a:rPr lang="pt-BR" sz="1200" b="0">
                <a:solidFill>
                  <a:srgbClr val="333333"/>
                </a:solidFill>
              </a:rPr>
              <a:t>Foco: Caracterização de Participantes Anonimizados, Diagnóstico de Riscos em IA no Setor Solar e Aprofundamento Teórico em Armas de Destruição Matemática (ADMs - Cathy O'Neil)</a:t>
            </a:r>
          </a:p>
          <a:p>
            <a:pPr algn="ctr">
              <a:spcBfr>
                <a:spcPts val="250"/>
              </a:spcBfr>
            </a:pPr>
            <a:r>
              <a:rPr lang="pt-BR" sz="1200" b="1">
                <a:solidFill>
                  <a:srgbClr val="1F497D"/>
                </a:solidFill>
              </a:rPr>
              <a:t>Empresa Parceira: Performa Energy | Ano Letivo: 2026</a:t>
            </a:r>
          </a:p>
        </p:txBody>
      </p:sp>
      <p:sp>
        <p:nvSpPr>
          <p:cNvPr id="7" name="CaixaDeTexto 6">
            <a:extLst>
              <a:ext uri="{FF2B5EF4-FFF2-40B4-BE49-F238E27FC236}">
                <ns2:creationId id="{EBDC153F-7FFC-22F6-0219-A9B0777F72CC}"/>
              </a:ext>
            </a:extLst>
          </p:cNvPr>
          <p:cNvSpPr txBox="1"/>
          <p:nvPr/>
        </p:nvSpPr>
        <p:spPr>
          <a:xfrm>
            <a:off x="2584174" y="502815"/>
            <a:ext cx="7063409" cy="461665"/>
          </a:xfrm>
          <a:prstGeom prst="rect">
            <a:avLst/>
          </a:prstGeom>
          <a:noFill/>
        </p:spPr>
        <p:txBody>
          <a:bodyPr wrap="square" rtlCol="0">
            <a:spAutoFit/>
          </a:bodyPr>
          <a:lstStyle/>
          <a:p>
            <a:r>
              <a:rPr lang="pt-BR" sz="2400" b="1" dirty="0">
                <a:solidFill>
                  <a:srgbClr val="A33D6B"/>
                </a:solidFill>
              </a:rPr>
              <a:t>2ª ETAPA</a:t>
            </a:r>
            <a:endParaRPr lang="pt-BR" sz="2400" kern="1200" dirty="0">
              <a:solidFill>
                <a:srgbClr val="A33D6B"/>
              </a:solidFill>
              <a:latin typeface="+mn-lt"/>
              <a:ea typeface="+mn-ea"/>
              <a:cs typeface="+mn-cs"/>
            </a:endParaRPr>
          </a:p>
        </p:txBody>
      </p:sp>
      <p:cxnSp>
        <p:nvCxnSpPr>
          <p:cNvPr id="10" name="Conector Reto 9">
            <a:extLst>
              <a:ext uri="{FF2B5EF4-FFF2-40B4-BE49-F238E27FC236}">
                <ns2:creationId id="{E4FD5186-CB0B-2297-6685-02D177D13143}"/>
              </a:ext>
            </a:extLst>
          </p:cNvPr>
          <p:cNvCxnSpPr>
            <a:cxnSpLocks/>
          </p:cNvCxnSpPr>
          <p:nvPr/>
        </p:nvCxnSpPr>
        <p:spPr>
          <a:xfrm>
            <a:off x="2232405" y="938354"/>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2" name="Freeform 7">
            <a:extLst>
              <a:ext uri="{FF2B5EF4-FFF2-40B4-BE49-F238E27FC236}">
                <ns2:creationId id="{3FFB7830-A8EF-6960-4A21-01B4DC5ECEBF}"/>
              </a:ext>
            </a:extLst>
          </p:cNvPr>
          <p:cNvSpPr/>
          <p:nvPr/>
        </p:nvSpPr>
        <p:spPr>
          <a:xfrm>
            <a:off x="654691" y="266701"/>
            <a:ext cx="933733" cy="1244048"/>
          </a:xfrm>
          <a:custGeom>
            <a:avLst/>
            <a:gdLst/>
            <a:ahLst/>
            <a:cxnLst/>
            <a:rect l="l" t="t" r="r" b="b"/>
            <a:pathLst>
              <a:path w="1117450" h="1573369">
                <a:moveTo>
                  <a:pt x="0" y="0"/>
                </a:moveTo>
                <a:lnTo>
                  <a:pt x="1117450" y="0"/>
                </a:lnTo>
                <a:lnTo>
                  <a:pt x="1117450" y="1573369"/>
                </a:lnTo>
                <a:lnTo>
                  <a:pt x="0" y="1573369"/>
                </a:lnTo>
                <a:lnTo>
                  <a:pt x="0" y="0"/>
                </a:lnTo>
                <a:close/>
              </a:path>
            </a:pathLst>
          </a:custGeom>
          <a:blipFill>
            <a:blip r:embed="rId2"/>
            <a:stretch>
              <a:fillRect/>
            </a:stretch>
          </a:blipFill>
        </p:spPr>
        <p:txBody>
          <a:bodyPr/>
          <a:lstStyle/>
          <a:p>
            <a:endParaRPr lang="pt-BR"/>
          </a:p>
        </p:txBody>
      </p:sp>
      <p:sp>
        <p:nvSpPr>
          <p:cNvPr id="3" name="Retângulo 2">
            <a:extLst>
              <a:ext uri="{FF2B5EF4-FFF2-40B4-BE49-F238E27FC236}">
                <ns2:creationId id="{F8462B7F-B821-F65A-8667-B18CB403B20B}"/>
              </a:ext>
            </a:extLst>
          </p:cNvPr>
          <p:cNvSpPr/>
          <p:nvPr/>
        </p:nvSpPr>
        <p:spPr>
          <a:xfrm>
            <a:off x="8182303" y="5439103"/>
            <a:ext cx="3846787" cy="916082"/>
          </a:xfrm>
          <a:prstGeom prst="rect">
            <a:avLst/>
          </a:prstGeom>
          <a:noFill/>
          <a:ln w="38100">
            <a:solidFill>
              <a:srgbClr val="A33D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CaixaDeTexto 4">
            <a:extLst>
              <a:ext uri="{FF2B5EF4-FFF2-40B4-BE49-F238E27FC236}">
                <ns2:creationId id="{1759B1C5-9B41-6B60-D2B0-07B86078F611}"/>
              </a:ext>
            </a:extLst>
          </p:cNvPr>
          <p:cNvSpPr txBox="1"/>
          <p:nvPr/>
        </p:nvSpPr>
        <p:spPr>
          <a:xfrm>
            <a:off x="8991236" y="5791200"/>
            <a:ext cx="2001079" cy="369332"/>
          </a:xfrm>
          <a:prstGeom prst="rect">
            <a:avLst/>
          </a:prstGeom>
          <a:noFill/>
        </p:spPr>
        <p:txBody>
          <a:bodyPr wrap="square" rtlCol="0">
            <a:spAutoFit/>
          </a:bodyPr>
          <a:lstStyle/>
          <a:p>
            <a:r>
              <a:rPr lang="pt-BR" dirty="0"/>
              <a:t>Nota: _______</a:t>
            </a:r>
          </a:p>
        </p:txBody>
      </p:sp>
      <p:sp>
        <p:nvSpPr>
          <p:cNvPr id="6" name="CaixaDeTexto 5">
            <a:extLst>
              <a:ext uri="{FF2B5EF4-FFF2-40B4-BE49-F238E27FC236}">
                <ns2:creationId id="{C139FFF9-422F-E4C6-7135-42F6532F9DDD}"/>
              </a:ext>
            </a:extLst>
          </p:cNvPr>
          <p:cNvSpPr txBox="1"/>
          <p:nvPr/>
        </p:nvSpPr>
        <p:spPr>
          <a:xfrm>
            <a:off x="8076286" y="6355185"/>
            <a:ext cx="4115714" cy="369332"/>
          </a:xfrm>
          <a:prstGeom prst="rect">
            <a:avLst/>
          </a:prstGeom>
          <a:noFill/>
        </p:spPr>
        <p:txBody>
          <a:bodyPr wrap="square" rtlCol="0">
            <a:spAutoFit/>
          </a:bodyPr>
          <a:lstStyle/>
          <a:p>
            <a:r>
              <a:rPr lang="pt-BR" dirty="0"/>
              <a:t>Campo a ser preenchido pela professora.</a:t>
            </a:r>
          </a:p>
        </p:txBody>
      </p:sp>
    </p:spTree>
    <p:extLst>
      <p:ext uri="{BB962C8B-B14F-4D97-AF65-F5344CB8AC3E}">
        <ns4:creationId val="103889940"/>
      </p:ext>
    </p:extLst>
  </p:cSld>
  <p:clrMapOvr>
    <a:masterClrMapping/>
  </p:clrMapOvr>
</p:sld>
</file>

<file path=ppt/slides/slide8.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10" name="Conector Reto 9">
            <a:extLst>
              <a:ext uri="{FF2B5EF4-FFF2-40B4-BE49-F238E27FC236}">
                <ns3:creationId id="{1204B456-55C4-4F4E-7ACE-FBD55B3D12F4}"/>
              </a:ext>
            </a:extLst>
          </p:cNvPr>
          <p:cNvCxnSpPr>
            <a:cxnSpLocks/>
          </p:cNvCxnSpPr>
          <p:nvPr/>
        </p:nvCxnSpPr>
        <p:spPr>
          <a:xfrm>
            <a:off x="1998273" y="851138"/>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2" name="CaixaDeTexto 1">
            <a:extLst>
              <a:ext uri="{FF2B5EF4-FFF2-40B4-BE49-F238E27FC236}">
                <ns3:creationId id="{697DFD30-5112-034D-C4C1-3849CA40ECFC}"/>
              </a:ext>
            </a:extLst>
          </p:cNvPr>
          <p:cNvSpPr txBox="1"/>
          <p:nvPr/>
        </p:nvSpPr>
        <p:spPr>
          <a:xfrm>
            <a:off x="1063869" y="1410757"/>
            <a:ext cx="10744199" cy="707886"/>
          </a:xfrm>
          <a:prstGeom prst="rect">
            <a:avLst/>
          </a:prstGeom>
          <a:noFill/>
        </p:spPr>
        <p:txBody>
          <a:bodyPr wrap="square" rtlCol="0">
            <a:spAutoFit/>
          </a:bodyPr>
          <a:lstStyle/>
          <a:p>
            <a:pPr/>
            <a:r>
              <a:rPr lang="pt-BR" sz="1500" b="1">
                <a:solidFill>
                  <a:schemeClr val="accent1"/>
                </a:solidFill>
              </a:rPr>
              <a:t>Quadro Funcional e Setores Envolvidos (Anonimização Estrita Conforme Diretriz Institucional)</a:t>
            </a:r>
          </a:p>
        </p:txBody>
      </p:sp>
      <p:sp>
        <p:nvSpPr>
          <p:cNvPr id="3" name="CaixaDeTexto 2">
            <a:extLst>
              <a:ext uri="{FF2B5EF4-FFF2-40B4-BE49-F238E27FC236}">
                <ns3:creationId id="{40D574B5-3515-9B71-3D3B-20BA8A677F49}"/>
              </a:ext>
            </a:extLst>
          </p:cNvPr>
          <p:cNvSpPr txBox="1"/>
          <p:nvPr/>
        </p:nvSpPr>
        <p:spPr>
          <a:xfrm>
            <a:off x="2578930" y="403512"/>
            <a:ext cx="6997661" cy="461665"/>
          </a:xfrm>
          <a:prstGeom prst="rect">
            <a:avLst/>
          </a:prstGeom>
          <a:noFill/>
        </p:spPr>
        <p:txBody>
          <a:bodyPr wrap="square" rtlCol="0">
            <a:spAutoFit/>
          </a:bodyPr>
          <a:lstStyle/>
          <a:p>
            <a:pPr/>
            <a:r>
              <a:rPr lang="pt-BR" sz="2400" b="1">
                <a:solidFill>
                  <a:srgbClr val="A33D6B"/>
                </a:solidFill>
              </a:rPr>
              <a:t>PARTICIPANTES DA COMUNIDADE CORPORATIVA</a:t>
            </a:r>
          </a:p>
        </p:txBody>
      </p:sp>
      <p:pic>
        <p:nvPicPr>
          <p:cNvPr id="4" name="Picture 2" descr="Vetores e ilustrações de Comunidade desenho para download gratuito | Freepik">
            <a:extLst>
              <a:ext uri="{FF2B5EF4-FFF2-40B4-BE49-F238E27FC236}">
                <ns3:creationId id="{C8950347-D116-89C7-D759-53636D157B04}"/>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885879" y="403512"/>
            <a:ext cx="693051" cy="461665"/>
          </a:xfrm>
          <a:prstGeom prst="rect">
            <a:avLst/>
          </a:prstGeom>
          <a:noFill/>
          <a:extLst>
            <a:ext uri="{909E8E84-426E-40DD-AFC4-6F175D3DCCD1}">
              <ns4:hiddenFill>
                <a:solidFill>
                  <a:srgbClr val="FFFFFF"/>
                </a:solidFill>
              </ns4:hiddenFill>
            </a:ext>
          </a:extLst>
        </p:spPr>
      </p:pic>
      <p:sp>
        <p:nvSpPr>
          <p:cNvPr id="5" name="CaixaDeTexto 4">
            <a:extLst>
              <a:ext uri="{FF2B5EF4-FFF2-40B4-BE49-F238E27FC236}">
                <ns3:creationId id="{D09F08AD-1D22-0D37-1597-72FEE4C160E3}"/>
              </a:ext>
            </a:extLst>
          </p:cNvPr>
          <p:cNvSpPr txBox="1"/>
          <p:nvPr/>
        </p:nvSpPr>
        <p:spPr>
          <a:xfrm>
            <a:off x="2232404" y="2411414"/>
            <a:ext cx="8631918" cy="2569934"/>
          </a:xfrm>
          <a:prstGeom prst="rect">
            <a:avLst/>
          </a:prstGeom>
          <a:noFill/>
        </p:spPr>
        <p:txBody>
          <a:bodyPr wrap="square">
            <a:spAutoFit/>
          </a:bodyPr>
          <a:lstStyle/>
          <a:p>
            <a:pPr>
              <a:buFontTx/>
              <a:buChar char="•"/>
              <a:spcBfr>
                <a:spcPts val="100"/>
              </a:spcBfr>
            </a:pPr>
            <a:r>
              <a:rPr lang="pt-BR" sz="1200" b="1">
                <a:solidFill>
                  <a:srgbClr val="1F497D"/>
                </a:solidFill>
              </a:rPr>
              <a:t>Analistas de Operações e Faturamento (4 participantes): </a:t>
            </a:r>
            <a:r>
              <a:rPr lang="pt-BR" sz="1100" b="0">
                <a:solidFill>
                  <a:srgbClr val="262626"/>
                </a:solidFill>
              </a:rPr>
              <a:t>Profissionais encarregados da extração de dados de faturas de energia elétrica emitidas por concessionárias (ex: Enel, Cemig, CPFL, Light), conferência de consumo ativo (kWh), tarifas de uso do sistema (TUSD/TE), bandeiras tarifárias e rateio de créditos de energia solar injetada.</a:t>
            </a:r>
          </a:p>
          <a:p>
            <a:pPr>
              <a:buFontTx/>
              <a:buChar char="•"/>
              <a:spcBfr>
                <a:spcPts val="150"/>
              </a:spcBfr>
            </a:pPr>
            <a:r>
              <a:rPr lang="pt-BR" sz="1200" b="1">
                <a:solidFill>
                  <a:srgbClr val="1F497D"/>
                </a:solidFill>
              </a:rPr>
              <a:t>Consultores Comerciais e SDRs (5 participantes): </a:t>
            </a:r>
            <a:r>
              <a:rPr lang="pt-BR" sz="1100" b="0">
                <a:solidFill>
                  <a:srgbClr val="262626"/>
                </a:solidFill>
              </a:rPr>
              <a:t>Equipe comercial responsável pela captação de clientes, simulação inicial de economia na conta de luz e esclarecimento do modelo de compensação solar estabelecido pela Lei 14.300/2022.</a:t>
            </a:r>
          </a:p>
          <a:p>
            <a:pPr>
              <a:buFontTx/>
              <a:buChar char="•"/>
              <a:spcBfr>
                <a:spcPts val="150"/>
              </a:spcBfr>
            </a:pPr>
            <a:r>
              <a:rPr lang="pt-BR" sz="1200" b="1">
                <a:solidFill>
                  <a:srgbClr val="1F497D"/>
                </a:solidFill>
              </a:rPr>
              <a:t>Analistas de Atendimento e Customer Success (3 participantes): </a:t>
            </a:r>
            <a:r>
              <a:rPr lang="pt-BR" sz="1100" b="0">
                <a:solidFill>
                  <a:srgbClr val="262626"/>
                </a:solidFill>
              </a:rPr>
              <a:t>Profissionais da linha de frente que respondem a dúvidas de clientes residenciais e comerciais sobre o demonstrativo de compensação e regras tarifárias da ANEEL.</a:t>
            </a:r>
          </a:p>
          <a:p>
            <a:pPr>
              <a:buFontTx/>
              <a:buChar char="•"/>
              <a:spcBfr>
                <a:spcPts val="150"/>
              </a:spcBfr>
            </a:pPr>
            <a:r>
              <a:rPr lang="pt-BR" sz="1200" b="1">
                <a:solidFill>
                  <a:srgbClr val="1F497D"/>
                </a:solidFill>
              </a:rPr>
              <a:t>Liderança e Coordenação Operacional (2 gestores): </a:t>
            </a:r>
            <a:r>
              <a:rPr lang="pt-BR" sz="1100" b="0">
                <a:solidFill>
                  <a:srgbClr val="262626"/>
                </a:solidFill>
              </a:rPr>
              <a:t>Gestores responsáveis por compliance regulatório, segurança da informação, conformidade com a LGPD e implementação de padrões corporativos de governança tecnológica.</a:t>
            </a:r>
          </a:p>
        </p:txBody>
      </p:sp>
    </p:spTree>
    <p:extLst>
      <p:ext uri="{BB962C8B-B14F-4D97-AF65-F5344CB8AC3E}">
        <ns5:creationId val="141132289"/>
      </p:ext>
    </p:extLst>
  </p:cSld>
  <p:clrMapOvr>
    <a:masterClrMapping/>
  </p:clrMapOvr>
</p:sld>
</file>

<file path=ppt/slides/slide9.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aixaDeTexto 4">
            <a:extLst>
              <a:ext uri="{FF2B5EF4-FFF2-40B4-BE49-F238E27FC236}">
                <ns3:creationId id="{605801BA-8B7F-9BA5-B655-5D4D33E24B00}"/>
              </a:ext>
            </a:extLst>
          </p:cNvPr>
          <p:cNvSpPr txBox="1"/>
          <p:nvPr/>
        </p:nvSpPr>
        <p:spPr>
          <a:xfrm>
            <a:off x="2213918" y="369590"/>
            <a:ext cx="10073355" cy="830997"/>
          </a:xfrm>
          <a:prstGeom prst="rect">
            <a:avLst/>
          </a:prstGeom>
          <a:noFill/>
        </p:spPr>
        <p:txBody>
          <a:bodyPr wrap="square" rtlCol="0">
            <a:spAutoFit/>
          </a:bodyPr>
          <a:lstStyle/>
          <a:p>
            <a:pPr/>
            <a:r>
              <a:rPr lang="pt-BR" sz="2400" b="1">
                <a:solidFill>
                  <a:srgbClr val="A33D6B"/>
                </a:solidFill>
              </a:rPr>
              <a:t>DESAFIO / QUESTÃO PROBLEMA IDENTIFICADA</a:t>
            </a:r>
          </a:p>
        </p:txBody>
      </p:sp>
      <p:pic>
        <p:nvPicPr>
          <p:cNvPr id="2" name="Picture 2" descr="discurso bolhas com questão marcas dúvida conceito problema resolução  20186734 Vetor no Vecteezy">
            <a:extLst>
              <a:ext uri="{FF2B5EF4-FFF2-40B4-BE49-F238E27FC236}">
                <ns3:creationId id="{8C679657-AC66-95C5-DD05-747A1DA45483}"/>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676164" y="341015"/>
            <a:ext cx="537754" cy="537754"/>
          </a:xfrm>
          <a:prstGeom prst="rect">
            <a:avLst/>
          </a:prstGeom>
          <a:noFill/>
          <a:extLst>
            <a:ext uri="{909E8E84-426E-40DD-AFC4-6F175D3DCCD1}">
              <ns4:hiddenFill>
                <a:solidFill>
                  <a:srgbClr val="FFFFFF"/>
                </a:solidFill>
              </ns4:hiddenFill>
            </a:ext>
          </a:extLst>
        </p:spPr>
      </p:pic>
      <p:cxnSp>
        <p:nvCxnSpPr>
          <p:cNvPr id="3" name="Conector Reto 2">
            <a:extLst>
              <a:ext uri="{FF2B5EF4-FFF2-40B4-BE49-F238E27FC236}">
                <ns3:creationId id="{90FEC404-6968-AFF8-312A-E0C905B32509}"/>
              </a:ext>
            </a:extLst>
          </p:cNvPr>
          <p:cNvCxnSpPr>
            <a:cxnSpLocks/>
          </p:cNvCxnSpPr>
          <p:nvPr/>
        </p:nvCxnSpPr>
        <p:spPr>
          <a:xfrm>
            <a:off x="2213918" y="878769"/>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6" name="CaixaDeTexto 5">
            <a:extLst>
              <a:ext uri="{FF2B5EF4-FFF2-40B4-BE49-F238E27FC236}">
                <ns3:creationId id="{B1347B0D-B5CE-B93B-F0D9-ACE4A5CFCCAA}"/>
              </a:ext>
            </a:extLst>
          </p:cNvPr>
          <p:cNvSpPr txBox="1"/>
          <p:nvPr/>
        </p:nvSpPr>
        <p:spPr>
          <a:xfrm>
            <a:off x="984739" y="1181534"/>
            <a:ext cx="10920046" cy="1938992"/>
          </a:xfrm>
          <a:prstGeom prst="rect">
            <a:avLst/>
          </a:prstGeom>
          <a:noFill/>
        </p:spPr>
        <p:txBody>
          <a:bodyPr wrap="square" rtlCol="0">
            <a:spAutoFit/>
          </a:bodyPr>
          <a:lstStyle/>
          <a:p>
            <a:pPr/>
            <a:r>
              <a:rPr lang="pt-BR" sz="1500" b="1">
                <a:solidFill>
                  <a:schemeClr val="accent1"/>
                </a:solidFill>
              </a:rPr>
              <a:t>Diagnóstico Situacional de Riscos no Uso de IA e Faturas na Performa Energy</a:t>
            </a:r>
          </a:p>
        </p:txBody>
      </p:sp>
      <p:sp>
        <p:nvSpPr>
          <p:cNvPr id="4" name="CaixaDeTexto 3">
            <a:extLst>
              <a:ext uri="{FF2B5EF4-FFF2-40B4-BE49-F238E27FC236}">
                <ns3:creationId id="{0E21FB1E-E1F9-9168-5A8C-5615C3611927}"/>
              </a:ext>
            </a:extLst>
          </p:cNvPr>
          <p:cNvSpPr txBox="1"/>
          <p:nvPr/>
        </p:nvSpPr>
        <p:spPr>
          <a:xfrm>
            <a:off x="1175983" y="3158469"/>
            <a:ext cx="10605709" cy="2949525"/>
          </a:xfrm>
          <a:prstGeom prst="rect">
            <a:avLst/>
          </a:prstGeom>
          <a:noFill/>
        </p:spPr>
        <p:txBody>
          <a:bodyPr wrap="square" rtlCol="0">
            <a:spAutoFit/>
          </a:bodyPr>
          <a:lstStyle/>
          <a:p>
            <a:pPr>
              <a:buFontTx/>
              <a:buChar char="•"/>
              <a:spcBfr>
                <a:spcPts val="80"/>
              </a:spcBfr>
            </a:pPr>
            <a:r>
              <a:rPr lang="pt-BR" sz="1200" b="1">
                <a:solidFill>
                  <a:srgbClr val="C00000"/>
                </a:solidFill>
              </a:rPr>
              <a:t>1. Extração Automatizada de Faturas e Riscos de Alucinação Numérica: </a:t>
            </a:r>
            <a:r>
              <a:rPr lang="pt-BR" sz="1100" b="0">
                <a:solidFill>
                  <a:srgbClr val="262626"/>
                </a:solidFill>
              </a:rPr>
              <a:t>Faturas de concessionárias possuem layouts díspares e tabelas densas. O uso de LLMs e OCRs genéricos sem calibração provocava alucinações tarifárias na leitura de TUSD/TE e tributos (ICMS/PIS/COFINS), gerando simulações incorretas de créditos solares.</a:t>
            </a:r>
          </a:p>
          <a:p>
            <a:pPr>
              <a:buFontTx/>
              <a:buChar char="•"/>
              <a:spcBfr>
                <a:spcPts val="120"/>
              </a:spcBfr>
            </a:pPr>
            <a:r>
              <a:rPr lang="pt-BR" sz="1200" b="1">
                <a:solidFill>
                  <a:srgbClr val="C00000"/>
                </a:solidFill>
              </a:rPr>
              <a:t>2. Vulnerabilidade à LGPD e Prática de Shadow AI: </a:t>
            </a:r>
            <a:r>
              <a:rPr lang="pt-BR" sz="1100" b="0">
                <a:solidFill>
                  <a:srgbClr val="262626"/>
                </a:solidFill>
              </a:rPr>
              <a:t>Colaboradores utilizavam ferramentas públicas gratuitas de IA para sintetizar faturas, inserindo involuntariamente documentos integrais contendo dados altamente confidenciais (Nome, CPF/CNPJ, endereço residencial completo e histórico de consumo de 12 meses), expondo a empresa a infrações severas à LGPD e multas da ANPD.</a:t>
            </a:r>
          </a:p>
          <a:p>
            <a:pPr>
              <a:buFontTx/>
              <a:buChar char="•"/>
              <a:spcBfr>
                <a:spcPts val="120"/>
              </a:spcBfr>
            </a:pPr>
            <a:r>
              <a:rPr lang="pt-BR" sz="1200" b="1">
                <a:solidFill>
                  <a:srgbClr val="C00000"/>
                </a:solidFill>
              </a:rPr>
              <a:t>3. Atendimento com Agentes Descalibrados: </a:t>
            </a:r>
            <a:r>
              <a:rPr lang="pt-BR" sz="1100" b="0">
                <a:solidFill>
                  <a:srgbClr val="262626"/>
                </a:solidFill>
              </a:rPr>
              <a:t>Risco de chatbots fornecerem orientações falaciosas aos consumidores, como promessas de «isenção de 100% da conta», omitindo a taxa de iluminação pública e o custo de disponibilidade previstos na Lei 14.300/2022 e na Resolução Normativa ANEEL nº 1.000/2021.</a:t>
            </a:r>
          </a:p>
          <a:p>
            <a:pPr>
              <a:buFontTx/>
              <a:buChar char="•"/>
              <a:spcBfr>
                <a:spcPts val="150"/>
              </a:spcBfr>
            </a:pPr>
            <a:r>
              <a:rPr lang="pt-BR" sz="1200" b="1">
                <a:solidFill>
                  <a:srgbClr val="1F497D"/>
                </a:solidFill>
              </a:rPr>
              <a:t>Proposta de Solução: </a:t>
            </a:r>
            <a:r>
              <a:rPr lang="pt-BR" sz="1100" b="0">
                <a:solidFill>
                  <a:srgbClr val="262626"/>
                </a:solidFill>
              </a:rPr>
              <a:t>Desenvolvimento de um programa educativo andragógico com protocolo de anonimização prévia, checklist de validação cruzada humana (human-in-the-loop) e entrega do protótipo Figma «Solar AI Ethics &amp; Hub Performa».</a:t>
            </a:r>
          </a:p>
        </p:txBody>
      </p:sp>
    </p:spTree>
    <p:extLst>
      <p:ext uri="{BB962C8B-B14F-4D97-AF65-F5344CB8AC3E}">
        <ns5:creationId val="766533696"/>
      </p:ext>
    </p:extLst>
  </p:cSld>
  <p:clrMapOvr>
    <a:masterClrMapping/>
  </p:clrMapOvr>
</p:sld>
</file>

<file path=ppt/slides/slide10.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Picture 2" descr="discurso bolhas com questão marcas dúvida conceito problema resolução  20186734 Vetor no Vecteezy">
            <a:extLst>
              <a:ext uri="{FF2B5EF4-FFF2-40B4-BE49-F238E27FC236}">
                <ns3:creationId id="{8C679657-AC66-95C5-DD05-747A1DA45483}"/>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676164" y="341015"/>
            <a:ext cx="537754" cy="537754"/>
          </a:xfrm>
          <a:prstGeom prst="rect">
            <a:avLst/>
          </a:prstGeom>
          <a:noFill/>
          <a:extLst>
            <a:ext uri="{909E8E84-426E-40DD-AFC4-6F175D3DCCD1}">
              <ns4:hiddenFill>
                <a:solidFill>
                  <a:srgbClr val="FFFFFF"/>
                </a:solidFill>
              </ns4:hiddenFill>
            </a:ext>
          </a:extLst>
        </p:spPr>
      </p:pic>
      <p:cxnSp>
        <p:nvCxnSpPr>
          <p:cNvPr id="3" name="Conector Reto 2">
            <a:extLst>
              <a:ext uri="{FF2B5EF4-FFF2-40B4-BE49-F238E27FC236}">
                <ns3:creationId id="{90FEC404-6968-AFF8-312A-E0C905B32509}"/>
              </a:ext>
            </a:extLst>
          </p:cNvPr>
          <p:cNvCxnSpPr>
            <a:cxnSpLocks/>
          </p:cNvCxnSpPr>
          <p:nvPr/>
        </p:nvCxnSpPr>
        <p:spPr>
          <a:xfrm>
            <a:off x="2213918" y="878769"/>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7" name="CaixaDeTexto 6">
            <a:extLst>
              <a:ext uri="{FF2B5EF4-FFF2-40B4-BE49-F238E27FC236}">
                <ns3:creationId id="{ABEF2A57-3E97-041C-8A6F-A36F0D7804AF}"/>
              </a:ext>
            </a:extLst>
          </p:cNvPr>
          <p:cNvSpPr txBox="1"/>
          <p:nvPr/>
        </p:nvSpPr>
        <p:spPr>
          <a:xfrm>
            <a:off x="1435087" y="3242188"/>
            <a:ext cx="10082836" cy="2693045"/>
          </a:xfrm>
          <a:prstGeom prst="rect">
            <a:avLst/>
          </a:prstGeom>
          <a:noFill/>
        </p:spPr>
        <p:txBody>
          <a:bodyPr wrap="square" rtlCol="0">
            <a:spAutoFit/>
          </a:bodyPr>
          <a:lstStyle/>
          <a:p>
            <a:pPr>
              <a:buFontTx/>
              <a:buChar char="•"/>
              <a:spcBfr>
                <a:spcPts val="80"/>
              </a:spcBfr>
            </a:pPr>
            <a:r>
              <a:rPr lang="pt-BR" sz="1200" b="1">
                <a:solidFill>
                  <a:srgbClr val="1F497D"/>
                </a:solidFill>
              </a:rPr>
              <a:t>Armas de Destruição Matemática (ADMs — Cathy O'Neil): </a:t>
            </a:r>
            <a:r>
              <a:rPr lang="pt-BR" sz="1100" b="0">
                <a:solidFill>
                  <a:srgbClr val="262626"/>
                </a:solidFill>
              </a:rPr>
              <a:t>Modelos matemáticos opacos, desregulados e em larga escala que operam como caixas-pretas («black boxes»), retroalimentando desigualdades sob o manto de uma falsa neutralidade matemática. No setor de energia solar, algoritmos preditivos de análise de risco de crédito podem criar filtros invisíveis que excluem consumidores periféricos ou de baixa renda da adesão aos créditos de energia solar, ferindo a justiça socioambiental e o princípio da universalização energética (ODS 7).</a:t>
            </a:r>
          </a:p>
          <a:p>
            <a:pPr>
              <a:buFontTx/>
              <a:buChar char="•"/>
              <a:spcBfr>
                <a:spcPts val="120"/>
              </a:spcBfr>
            </a:pPr>
            <a:r>
              <a:rPr lang="pt-BR" sz="1200" b="1">
                <a:solidFill>
                  <a:srgbClr val="1F497D"/>
                </a:solidFill>
              </a:rPr>
              <a:t>Capitalismo de Vigilância e Intimidade Energética (Shoshana Zuboff &amp; LGPD): </a:t>
            </a:r>
            <a:r>
              <a:rPr lang="pt-BR" sz="1100" b="0">
                <a:solidFill>
                  <a:srgbClr val="262626"/>
                </a:solidFill>
              </a:rPr>
              <a:t>Os dados de consumo de uma fatura de energia revelam a intimidade e a rotina do lar (horários de permanência, sazonalidade e perfil socioeconômico). A apropriação desses dados por modelos de terceiros sem consentimento específico constitui vigilância comportamental predatória. A Performa Energy deve atuar com os princípios de Privacy by Design e Security by Default.</a:t>
            </a:r>
          </a:p>
          <a:p>
            <a:pPr>
              <a:buFontTx/>
              <a:buChar char="•"/>
              <a:spcBfr>
                <a:spcPts val="120"/>
              </a:spcBfr>
            </a:pPr>
            <a:r>
              <a:rPr lang="pt-BR" sz="1200" b="1">
                <a:solidFill>
                  <a:srgbClr val="1F497D"/>
                </a:solidFill>
              </a:rPr>
              <a:t>Diretrizes Éticas Globais (UNESCO, 2022 &amp; Luciano Floridi): </a:t>
            </a:r>
            <a:r>
              <a:rPr lang="pt-BR" sz="1100" b="0">
                <a:solidFill>
                  <a:srgbClr val="262626"/>
                </a:solidFill>
              </a:rPr>
              <a:t>Exigência inegociável de explicabilidade algorítmica, auditabilidade contínua de modelos e protagonismo da supervisão humana ativa (human-in-the-loop) para mitigar vieses discriminatórios e garantir a conformidade institucional.</a:t>
            </a:r>
          </a:p>
        </p:txBody>
      </p:sp>
      <p:sp>
        <p:nvSpPr>
          <p:cNvPr id="4" name="CaixaDeTexto 3">
            <a:extLst>
              <a:ext uri="{FF2B5EF4-FFF2-40B4-BE49-F238E27FC236}">
                <ns3:creationId id="{C075D35A-93DF-B380-6A8D-8CA6DB980BCE}"/>
              </a:ext>
            </a:extLst>
          </p:cNvPr>
          <p:cNvSpPr txBox="1"/>
          <p:nvPr/>
        </p:nvSpPr>
        <p:spPr>
          <a:xfrm>
            <a:off x="2213918" y="369590"/>
            <a:ext cx="10073355" cy="830997"/>
          </a:xfrm>
          <a:prstGeom prst="rect">
            <a:avLst/>
          </a:prstGeom>
          <a:noFill/>
        </p:spPr>
        <p:txBody>
          <a:bodyPr wrap="square" rtlCol="0">
            <a:spAutoFit/>
          </a:bodyPr>
          <a:lstStyle/>
          <a:p>
            <a:pPr/>
            <a:r>
              <a:rPr lang="pt-BR" sz="2200" b="1">
                <a:solidFill>
                  <a:srgbClr val="A33D6B"/>
                </a:solidFill>
              </a:rPr>
              <a:t>DESAFIO / APROFUNDAMENTO TEÓRICO EM MODELOS ALGORÍTMICOS E ÉTICA</a:t>
            </a:r>
          </a:p>
        </p:txBody>
      </p:sp>
      <p:sp>
        <p:nvSpPr>
          <p:cNvPr id="6" name="CaixaDeTexto 5">
            <a:extLst>
              <a:ext uri="{FF2B5EF4-FFF2-40B4-BE49-F238E27FC236}">
                <ns3:creationId id="{2D556137-FE1F-90CA-08D2-5FF48F78CB5E}"/>
              </a:ext>
            </a:extLst>
          </p:cNvPr>
          <p:cNvSpPr txBox="1"/>
          <p:nvPr/>
        </p:nvSpPr>
        <p:spPr>
          <a:xfrm>
            <a:off x="984739" y="1181534"/>
            <a:ext cx="10920046" cy="1938992"/>
          </a:xfrm>
          <a:prstGeom prst="rect">
            <a:avLst/>
          </a:prstGeom>
          <a:noFill/>
        </p:spPr>
        <p:txBody>
          <a:bodyPr wrap="square" rtlCol="0">
            <a:spAutoFit/>
          </a:bodyPr>
          <a:lstStyle/>
          <a:p>
            <a:pPr/>
            <a:r>
              <a:rPr lang="pt-BR" sz="1500" b="1">
                <a:solidFill>
                  <a:schemeClr val="accent1"/>
                </a:solidFill>
              </a:rPr>
              <a:t>Armas de Destruição Matemática (Cathy O'Neil), Opacidade e Governança de Dados</a:t>
            </a:r>
          </a:p>
        </p:txBody>
      </p:sp>
    </p:spTree>
    <p:extLst>
      <p:ext uri="{BB962C8B-B14F-4D97-AF65-F5344CB8AC3E}">
        <ns5:creationId val="3471696788"/>
      </p:ext>
    </p:extLst>
  </p:cSld>
  <p:clrMapOvr>
    <a:masterClrMapping/>
  </p:clrMapOvr>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a:extLst>
            <a:ext uri="{FF2B5EF4-FFF2-40B4-BE49-F238E27FC236}">
              <ns2:creationId id="{39754589-3D1E-A608-764C-434CCE7445BD}"/>
            </a:ext>
          </a:extLst>
        </p:cNvPr>
        <p:cNvGrpSpPr/>
        <p:nvPr/>
      </p:nvGrpSpPr>
      <p:grpSpPr>
        <a:xfrm>
          <a:off x="0" y="0"/>
          <a:ext cx="0" cy="0"/>
          <a:chOff x="0" y="0"/>
          <a:chExt cx="0" cy="0"/>
        </a:xfrm>
      </p:grpSpPr>
      <p:sp>
        <p:nvSpPr>
          <p:cNvPr id="12" name="CaixaDeTexto 11">
            <a:extLst>
              <a:ext uri="{FF2B5EF4-FFF2-40B4-BE49-F238E27FC236}">
                <ns2:creationId id="{915C325C-933F-DF20-684B-F4AA4E449166}"/>
              </a:ext>
            </a:extLst>
          </p:cNvPr>
          <p:cNvSpPr txBox="1"/>
          <p:nvPr/>
        </p:nvSpPr>
        <p:spPr>
          <a:xfrm>
            <a:off x="164032" y="2710377"/>
            <a:ext cx="8827204" cy="461665"/>
          </a:xfrm>
          <a:prstGeom prst="rect">
            <a:avLst/>
          </a:prstGeom>
          <a:noFill/>
        </p:spPr>
        <p:txBody>
          <a:bodyPr wrap="square" rtlCol="0">
            <a:spAutoFit/>
          </a:bodyPr>
          <a:lstStyle/>
          <a:p>
            <a:pPr algn="r"/>
            <a:r>
              <a:rPr lang="pt-BR" sz="2400" dirty="0"/>
              <a:t>	</a:t>
            </a:r>
          </a:p>
        </p:txBody>
      </p:sp>
      <p:sp>
        <p:nvSpPr>
          <p:cNvPr id="4" name="CaixaDeTexto 3">
            <a:extLst>
              <a:ext uri="{FF2B5EF4-FFF2-40B4-BE49-F238E27FC236}">
                <ns2:creationId id="{E6AFB8D8-5682-96E8-07EB-E2E450C88C81}"/>
              </a:ext>
            </a:extLst>
          </p:cNvPr>
          <p:cNvSpPr txBox="1"/>
          <p:nvPr/>
        </p:nvSpPr>
        <p:spPr>
          <a:xfrm>
            <a:off x="1419859" y="1470489"/>
            <a:ext cx="10212364" cy="1015663"/>
          </a:xfrm>
          <a:prstGeom prst="rect">
            <a:avLst/>
          </a:prstGeom>
          <a:noFill/>
        </p:spPr>
        <p:txBody>
          <a:bodyPr wrap="square" rtlCol="0">
            <a:spAutoFit/>
          </a:bodyPr>
          <a:lstStyle/>
          <a:p>
            <a:pPr algn="ctr"/>
            <a:r>
              <a:rPr lang="pt-BR" sz="1800" b="1">
                <a:solidFill>
                  <a:srgbClr val="1F497D"/>
                </a:solidFill>
              </a:rPr>
              <a:t>PROJETO DE EXTENSÃO UNIVERSITÁRIA — APEX V (TI)</a:t>
            </a:r>
          </a:p>
          <a:p>
            <a:pPr algn="ctr">
              <a:spcBfr>
                <a:spcPts val="250"/>
              </a:spcBfr>
            </a:pPr>
            <a:r>
              <a:rPr lang="pt-BR" sz="1500" b="1">
                <a:solidFill>
                  <a:srgbClr val="A33D6B"/>
                </a:solidFill>
              </a:rPr>
              <a:t>3ª ETAPA: PLANEJAMENTO PEDAGÓGICO, PRODUTO DIGITAL, AUTOAVALIAÇÃO E IMPACTO</a:t>
            </a:r>
          </a:p>
          <a:p>
            <a:pPr algn="ctr">
              <a:spcBfr>
                <a:spcPts val="150"/>
              </a:spcBfr>
            </a:pPr>
            <a:r>
              <a:rPr lang="pt-BR" sz="1300" b="0">
                <a:solidFill>
                  <a:srgbClr val="595959"/>
                </a:solidFill>
              </a:rPr>
              <a:t>Envio dos Slides 12 até 19 na Sala Virtual da Unyleya (Módulo 3)</a:t>
            </a:r>
          </a:p>
          <a:p>
            <a:pPr algn="ctr">
              <a:spcBfr>
                <a:spcPts val="200"/>
              </a:spcBfr>
            </a:pPr>
            <a:r>
              <a:rPr lang="pt-BR" sz="1200" b="0">
                <a:solidFill>
                  <a:srgbClr val="333333"/>
                </a:solidFill>
              </a:rPr>
              <a:t>Conteúdo: Metodologia Andragógica, Protótipo Figma (Solar AI Ethics &amp; Hub Performa), Registros Fotográficos Presenciais (50 pts), Autoavaliação nas 5 Dimensões e Referências ABNT NBR 6023</a:t>
            </a:r>
          </a:p>
          <a:p>
            <a:pPr algn="ctr">
              <a:spcBfr>
                <a:spcPts val="250"/>
              </a:spcBfr>
            </a:pPr>
            <a:r>
              <a:rPr lang="pt-BR" sz="1200" b="1">
                <a:solidFill>
                  <a:srgbClr val="1F497D"/>
                </a:solidFill>
              </a:rPr>
              <a:t>Empresa Parceira: Performa Energy | Ano Letivo: 2026</a:t>
            </a:r>
          </a:p>
        </p:txBody>
      </p:sp>
      <p:sp>
        <p:nvSpPr>
          <p:cNvPr id="7" name="CaixaDeTexto 6">
            <a:extLst>
              <a:ext uri="{FF2B5EF4-FFF2-40B4-BE49-F238E27FC236}">
                <ns2:creationId id="{5C4FF75F-D16C-97E4-A452-A996D40C3CE5}"/>
              </a:ext>
            </a:extLst>
          </p:cNvPr>
          <p:cNvSpPr txBox="1"/>
          <p:nvPr/>
        </p:nvSpPr>
        <p:spPr>
          <a:xfrm>
            <a:off x="2584174" y="502815"/>
            <a:ext cx="7063409" cy="461665"/>
          </a:xfrm>
          <a:prstGeom prst="rect">
            <a:avLst/>
          </a:prstGeom>
          <a:noFill/>
        </p:spPr>
        <p:txBody>
          <a:bodyPr wrap="square" rtlCol="0">
            <a:spAutoFit/>
          </a:bodyPr>
          <a:lstStyle/>
          <a:p>
            <a:r>
              <a:rPr lang="pt-BR" sz="2400" b="1" dirty="0">
                <a:solidFill>
                  <a:srgbClr val="A33D6B"/>
                </a:solidFill>
              </a:rPr>
              <a:t>3 ª ETAPA</a:t>
            </a:r>
            <a:endParaRPr lang="pt-BR" sz="2400" kern="1200" dirty="0">
              <a:solidFill>
                <a:srgbClr val="A33D6B"/>
              </a:solidFill>
              <a:latin typeface="+mn-lt"/>
              <a:ea typeface="+mn-ea"/>
              <a:cs typeface="+mn-cs"/>
            </a:endParaRPr>
          </a:p>
        </p:txBody>
      </p:sp>
      <p:cxnSp>
        <p:nvCxnSpPr>
          <p:cNvPr id="10" name="Conector Reto 9">
            <a:extLst>
              <a:ext uri="{FF2B5EF4-FFF2-40B4-BE49-F238E27FC236}">
                <ns2:creationId id="{8F27B4B4-C738-FEA6-1E63-B7FA8E32FC52}"/>
              </a:ext>
            </a:extLst>
          </p:cNvPr>
          <p:cNvCxnSpPr>
            <a:cxnSpLocks/>
          </p:cNvCxnSpPr>
          <p:nvPr/>
        </p:nvCxnSpPr>
        <p:spPr>
          <a:xfrm>
            <a:off x="2232405" y="938354"/>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2" name="Freeform 7">
            <a:extLst>
              <a:ext uri="{FF2B5EF4-FFF2-40B4-BE49-F238E27FC236}">
                <ns2:creationId id="{F1B85E51-2CCB-5BD1-C1BB-4B171D734434}"/>
              </a:ext>
            </a:extLst>
          </p:cNvPr>
          <p:cNvSpPr/>
          <p:nvPr/>
        </p:nvSpPr>
        <p:spPr>
          <a:xfrm>
            <a:off x="654691" y="266701"/>
            <a:ext cx="933733" cy="1244048"/>
          </a:xfrm>
          <a:custGeom>
            <a:avLst/>
            <a:gdLst/>
            <a:ahLst/>
            <a:cxnLst/>
            <a:rect l="l" t="t" r="r" b="b"/>
            <a:pathLst>
              <a:path w="1117450" h="1573369">
                <a:moveTo>
                  <a:pt x="0" y="0"/>
                </a:moveTo>
                <a:lnTo>
                  <a:pt x="1117450" y="0"/>
                </a:lnTo>
                <a:lnTo>
                  <a:pt x="1117450" y="1573369"/>
                </a:lnTo>
                <a:lnTo>
                  <a:pt x="0" y="1573369"/>
                </a:lnTo>
                <a:lnTo>
                  <a:pt x="0" y="0"/>
                </a:lnTo>
                <a:close/>
              </a:path>
            </a:pathLst>
          </a:custGeom>
          <a:blipFill>
            <a:blip r:embed="rId2"/>
            <a:stretch>
              <a:fillRect/>
            </a:stretch>
          </a:blipFill>
        </p:spPr>
        <p:txBody>
          <a:bodyPr/>
          <a:lstStyle/>
          <a:p>
            <a:endParaRPr lang="pt-BR"/>
          </a:p>
        </p:txBody>
      </p:sp>
      <p:sp>
        <p:nvSpPr>
          <p:cNvPr id="3" name="Retângulo 2">
            <a:extLst>
              <a:ext uri="{FF2B5EF4-FFF2-40B4-BE49-F238E27FC236}">
                <ns2:creationId id="{89AB03B4-1DBD-F770-4D16-8DF18A980965}"/>
              </a:ext>
            </a:extLst>
          </p:cNvPr>
          <p:cNvSpPr/>
          <p:nvPr/>
        </p:nvSpPr>
        <p:spPr>
          <a:xfrm>
            <a:off x="8182303" y="5439103"/>
            <a:ext cx="3846787" cy="916082"/>
          </a:xfrm>
          <a:prstGeom prst="rect">
            <a:avLst/>
          </a:prstGeom>
          <a:noFill/>
          <a:ln w="38100">
            <a:solidFill>
              <a:srgbClr val="A33D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CaixaDeTexto 4">
            <a:extLst>
              <a:ext uri="{FF2B5EF4-FFF2-40B4-BE49-F238E27FC236}">
                <ns2:creationId id="{BC832759-D363-3729-4266-85FF70881CCA}"/>
              </a:ext>
            </a:extLst>
          </p:cNvPr>
          <p:cNvSpPr txBox="1"/>
          <p:nvPr/>
        </p:nvSpPr>
        <p:spPr>
          <a:xfrm>
            <a:off x="8991236" y="5791200"/>
            <a:ext cx="2001079" cy="369332"/>
          </a:xfrm>
          <a:prstGeom prst="rect">
            <a:avLst/>
          </a:prstGeom>
          <a:noFill/>
        </p:spPr>
        <p:txBody>
          <a:bodyPr wrap="square" rtlCol="0">
            <a:spAutoFit/>
          </a:bodyPr>
          <a:lstStyle/>
          <a:p>
            <a:r>
              <a:rPr lang="pt-BR" dirty="0"/>
              <a:t>Nota: _______</a:t>
            </a:r>
          </a:p>
        </p:txBody>
      </p:sp>
      <p:sp>
        <p:nvSpPr>
          <p:cNvPr id="6" name="CaixaDeTexto 5">
            <a:extLst>
              <a:ext uri="{FF2B5EF4-FFF2-40B4-BE49-F238E27FC236}">
                <ns2:creationId id="{2114449E-4CA3-3844-B69A-E33DDD36E7B6}"/>
              </a:ext>
            </a:extLst>
          </p:cNvPr>
          <p:cNvSpPr txBox="1"/>
          <p:nvPr/>
        </p:nvSpPr>
        <p:spPr>
          <a:xfrm>
            <a:off x="8076286" y="6355185"/>
            <a:ext cx="4121426" cy="369332"/>
          </a:xfrm>
          <a:prstGeom prst="rect">
            <a:avLst/>
          </a:prstGeom>
          <a:noFill/>
        </p:spPr>
        <p:txBody>
          <a:bodyPr wrap="square" rtlCol="0">
            <a:spAutoFit/>
          </a:bodyPr>
          <a:lstStyle/>
          <a:p>
            <a:r>
              <a:rPr lang="pt-BR" dirty="0"/>
              <a:t>Campo a ser preenchido pela professora.</a:t>
            </a:r>
          </a:p>
        </p:txBody>
      </p:sp>
    </p:spTree>
    <p:extLst>
      <p:ext uri="{BB962C8B-B14F-4D97-AF65-F5344CB8AC3E}">
        <ns4:creationId val="2909584430"/>
      </p:ext>
    </p:extLst>
  </p:cSld>
  <p:clrMapOvr>
    <a:masterClrMapping/>
  </p:clrMapOvr>
</p:sld>
</file>

<file path=ppt/slides/slide12.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aixaDeTexto 4">
            <a:extLst>
              <a:ext uri="{FF2B5EF4-FFF2-40B4-BE49-F238E27FC236}">
                <ns3:creationId id="{605801BA-8B7F-9BA5-B655-5D4D33E24B00}"/>
              </a:ext>
            </a:extLst>
          </p:cNvPr>
          <p:cNvSpPr txBox="1"/>
          <p:nvPr/>
        </p:nvSpPr>
        <p:spPr>
          <a:xfrm>
            <a:off x="1059322" y="1071432"/>
            <a:ext cx="10073355" cy="1938992"/>
          </a:xfrm>
          <a:prstGeom prst="rect">
            <a:avLst/>
          </a:prstGeom>
          <a:noFill/>
        </p:spPr>
        <p:txBody>
          <a:bodyPr wrap="square" rtlCol="0">
            <a:spAutoFit/>
          </a:bodyPr>
          <a:lstStyle/>
          <a:p>
            <a:pPr/>
            <a:r>
              <a:rPr lang="pt-BR" sz="1500" b="1">
                <a:solidFill>
                  <a:schemeClr val="accent1"/>
                </a:solidFill>
              </a:rPr>
              <a:t>Conteúdos Programáticos, Mídia Digital Escolhida e Metodologia Andragógica</a:t>
            </a:r>
          </a:p>
        </p:txBody>
      </p:sp>
      <p:sp>
        <p:nvSpPr>
          <p:cNvPr id="2" name="CaixaDeTexto 1">
            <a:extLst>
              <a:ext uri="{FF2B5EF4-FFF2-40B4-BE49-F238E27FC236}">
                <ns3:creationId id="{F16D3A3B-6E22-2270-8D78-A1BD720893E2}"/>
              </a:ext>
            </a:extLst>
          </p:cNvPr>
          <p:cNvSpPr txBox="1"/>
          <p:nvPr/>
        </p:nvSpPr>
        <p:spPr>
          <a:xfrm>
            <a:off x="2118645" y="362487"/>
            <a:ext cx="10073355" cy="830997"/>
          </a:xfrm>
          <a:prstGeom prst="rect">
            <a:avLst/>
          </a:prstGeom>
          <a:noFill/>
        </p:spPr>
        <p:txBody>
          <a:bodyPr wrap="square" rtlCol="0">
            <a:spAutoFit/>
          </a:bodyPr>
          <a:lstStyle/>
          <a:p>
            <a:pPr/>
            <a:r>
              <a:rPr lang="pt-BR" sz="2200" b="1">
                <a:solidFill>
                  <a:srgbClr val="A33D6B"/>
                </a:solidFill>
              </a:rPr>
              <a:t>INFORMAÇÕES ESSENCIAIS SOBRE O PLANEJAMENTO PEDAGÓGICO</a:t>
            </a:r>
          </a:p>
        </p:txBody>
      </p:sp>
      <p:pic>
        <p:nvPicPr>
          <p:cNvPr id="3" name="Picture 2" descr="Planejamento - ícones de do utilizador grátis">
            <a:extLst>
              <a:ext uri="{FF2B5EF4-FFF2-40B4-BE49-F238E27FC236}">
                <ns3:creationId id="{944120EE-D71F-64CC-2FB1-46BDEEFD5DCD}"/>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850111" y="509451"/>
            <a:ext cx="268534" cy="268534"/>
          </a:xfrm>
          <a:prstGeom prst="rect">
            <a:avLst/>
          </a:prstGeom>
          <a:noFill/>
          <a:extLst>
            <a:ext uri="{909E8E84-426E-40DD-AFC4-6F175D3DCCD1}">
              <ns4:hiddenFill>
                <a:solidFill>
                  <a:srgbClr val="FFFFFF"/>
                </a:solidFill>
              </ns4:hiddenFill>
            </a:ext>
          </a:extLst>
        </p:spPr>
      </p:pic>
      <p:cxnSp>
        <p:nvCxnSpPr>
          <p:cNvPr id="4" name="Conector Reto 3">
            <a:extLst>
              <a:ext uri="{FF2B5EF4-FFF2-40B4-BE49-F238E27FC236}">
                <ns3:creationId id="{498FB6EC-2D20-900B-A04E-FA848B78DE53}"/>
              </a:ext>
            </a:extLst>
          </p:cNvPr>
          <p:cNvCxnSpPr>
            <a:cxnSpLocks/>
          </p:cNvCxnSpPr>
          <p:nvPr/>
        </p:nvCxnSpPr>
        <p:spPr>
          <a:xfrm>
            <a:off x="2163770" y="815918"/>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6" name="CaixaDeTexto 5">
            <a:extLst>
              <a:ext uri="{FF2B5EF4-FFF2-40B4-BE49-F238E27FC236}">
                <ns3:creationId id="{63D92328-B002-BEAB-5434-AB121FCDA501}"/>
              </a:ext>
            </a:extLst>
          </p:cNvPr>
          <p:cNvSpPr txBox="1"/>
          <p:nvPr/>
        </p:nvSpPr>
        <p:spPr>
          <a:xfrm>
            <a:off x="1185635" y="3087394"/>
            <a:ext cx="10476704" cy="3193951"/>
          </a:xfrm>
          <a:prstGeom prst="rect">
            <a:avLst/>
          </a:prstGeom>
          <a:noFill/>
        </p:spPr>
        <p:txBody>
          <a:bodyPr wrap="square" rtlCol="0">
            <a:spAutoFit/>
          </a:bodyPr>
          <a:lstStyle/>
          <a:p>
            <a:pPr>
              <a:buFontTx/>
              <a:buChar char="•"/>
              <a:spcBfr>
                <a:spcPts val="80"/>
              </a:spcBfr>
            </a:pPr>
            <a:r>
              <a:rPr lang="pt-BR" sz="1200" b="1">
                <a:solidFill>
                  <a:srgbClr val="1F497D"/>
                </a:solidFill>
              </a:rPr>
              <a:t>Conteúdos Abordados na Intervenção Extensionista: </a:t>
            </a:r>
            <a:r>
              <a:rPr lang="pt-BR" sz="1100" b="0">
                <a:solidFill>
                  <a:srgbClr val="262626"/>
                </a:solidFill>
              </a:rPr>
              <a:t>1. Arquitetura dos Modelos de IA Generativa e Limitações Probabilísticas: Compreensão da origem das alucinações em dados numéricos e tabelas de faturas; 2. Higienização de Dados e Compliance com a LGPD: Protocolos práticos para mascaramento de CPF, nomes e códigos de instalação em contas de luz; 3. Engenharia de Prompts Estruturados para o Setor Solar: Construção de instruções com salvaguardas normativas da Lei 14.300/2022 e ANEEL nº 1.000/2021; 4. Governança Operacional: Apresentação e treinamento na utilização do Hub no Figma.</a:t>
            </a:r>
          </a:p>
          <a:p>
            <a:pPr>
              <a:buFontTx/>
              <a:buChar char="•"/>
              <a:spcBfr>
                <a:spcPts val="120"/>
              </a:spcBfr>
            </a:pPr>
            <a:r>
              <a:rPr lang="pt-BR" sz="1200" b="1">
                <a:solidFill>
                  <a:srgbClr val="1F497D"/>
                </a:solidFill>
              </a:rPr>
              <a:t>Mídia Digital Desenvolvida (Figma): </a:t>
            </a:r>
            <a:r>
              <a:rPr lang="pt-BR" sz="1100" b="0">
                <a:solidFill>
                  <a:srgbClr val="262626"/>
                </a:solidFill>
              </a:rPr>
              <a:t>Protótipo interativo de alta fidelidade desenvolvido no software Figma («Solar AI Ethics &amp; Hub Performa»), estruturado em conformidade com padrões de acessibilidade WCAG AAA, reunindo módulos de simulação, checklist de auditoria e guia de bolso corporativo.</a:t>
            </a:r>
          </a:p>
          <a:p>
            <a:pPr>
              <a:buFontTx/>
              <a:buChar char="•"/>
              <a:spcBfr>
                <a:spcPts val="120"/>
              </a:spcBfr>
            </a:pPr>
            <a:r>
              <a:rPr lang="pt-BR" sz="1200" b="1">
                <a:solidFill>
                  <a:srgbClr val="1F497D"/>
                </a:solidFill>
              </a:rPr>
              <a:t>Estratégia Metodológica Ativa e Andragógica: </a:t>
            </a:r>
            <a:r>
              <a:rPr lang="pt-BR" sz="1100" b="0">
                <a:solidFill>
                  <a:srgbClr val="262626"/>
                </a:solidFill>
              </a:rPr>
              <a:t>Andragogia de Malcolm Knowles focada nas necessidades práticas dos profissionais adultos, aliada à Aprendizagem Baseada em Problemas (PBL) com estudos de casos reais de faturas e dinâmicas hands-on de prompt engineering seguro com supervisão humana.</a:t>
            </a:r>
          </a:p>
        </p:txBody>
      </p:sp>
    </p:spTree>
    <p:extLst>
      <p:ext uri="{BB962C8B-B14F-4D97-AF65-F5344CB8AC3E}">
        <ns5:creationId val="2536437801"/>
      </p:ext>
    </p:extLst>
  </p:cSld>
  <p:clrMapOvr>
    <a:masterClrMapping/>
  </p:clrMapOvr>
</p:sld>
</file>

<file path=ppt/slides/slide13.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aixaDeTexto 4">
            <a:extLst>
              <a:ext uri="{FF2B5EF4-FFF2-40B4-BE49-F238E27FC236}">
                <ns3:creationId id="{605801BA-8B7F-9BA5-B655-5D4D33E24B00}"/>
              </a:ext>
            </a:extLst>
          </p:cNvPr>
          <p:cNvSpPr txBox="1"/>
          <p:nvPr/>
        </p:nvSpPr>
        <p:spPr>
          <a:xfrm>
            <a:off x="1059322" y="1071432"/>
            <a:ext cx="10073355" cy="1938992"/>
          </a:xfrm>
          <a:prstGeom prst="rect">
            <a:avLst/>
          </a:prstGeom>
          <a:noFill/>
        </p:spPr>
        <p:txBody>
          <a:bodyPr wrap="square" rtlCol="0">
            <a:spAutoFit/>
          </a:bodyPr>
          <a:lstStyle/>
          <a:p>
            <a:pPr/>
            <a:r>
              <a:rPr lang="pt-BR" sz="1500" b="1">
                <a:solidFill>
                  <a:schemeClr val="accent1"/>
                </a:solidFill>
              </a:rPr>
              <a:t>Etapas Passo a Passo, Responsáveis e Cronograma Integrado de 6 Semanas</a:t>
            </a:r>
          </a:p>
        </p:txBody>
      </p:sp>
      <p:sp>
        <p:nvSpPr>
          <p:cNvPr id="2" name="CaixaDeTexto 1">
            <a:extLst>
              <a:ext uri="{FF2B5EF4-FFF2-40B4-BE49-F238E27FC236}">
                <ns3:creationId id="{F16D3A3B-6E22-2270-8D78-A1BD720893E2}"/>
              </a:ext>
            </a:extLst>
          </p:cNvPr>
          <p:cNvSpPr txBox="1"/>
          <p:nvPr/>
        </p:nvSpPr>
        <p:spPr>
          <a:xfrm>
            <a:off x="2118645" y="362487"/>
            <a:ext cx="10073355" cy="830997"/>
          </a:xfrm>
          <a:prstGeom prst="rect">
            <a:avLst/>
          </a:prstGeom>
          <a:noFill/>
        </p:spPr>
        <p:txBody>
          <a:bodyPr wrap="square" rtlCol="0">
            <a:spAutoFit/>
          </a:bodyPr>
          <a:lstStyle/>
          <a:p>
            <a:pPr/>
            <a:r>
              <a:rPr lang="pt-BR" sz="2200" b="1">
                <a:solidFill>
                  <a:srgbClr val="A33D6B"/>
                </a:solidFill>
              </a:rPr>
              <a:t>INFORMAÇÕES ESSENCIAIS SOBRE O PLANEJAMENTO PEDAGÓGICO</a:t>
            </a:r>
          </a:p>
        </p:txBody>
      </p:sp>
      <p:pic>
        <p:nvPicPr>
          <p:cNvPr id="3" name="Picture 2" descr="Planejamento - ícones de do utilizador grátis">
            <a:extLst>
              <a:ext uri="{FF2B5EF4-FFF2-40B4-BE49-F238E27FC236}">
                <ns3:creationId id="{944120EE-D71F-64CC-2FB1-46BDEEFD5DCD}"/>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850111" y="509451"/>
            <a:ext cx="268534" cy="268534"/>
          </a:xfrm>
          <a:prstGeom prst="rect">
            <a:avLst/>
          </a:prstGeom>
          <a:noFill/>
          <a:extLst>
            <a:ext uri="{909E8E84-426E-40DD-AFC4-6F175D3DCCD1}">
              <ns4:hiddenFill>
                <a:solidFill>
                  <a:srgbClr val="FFFFFF"/>
                </a:solidFill>
              </ns4:hiddenFill>
            </a:ext>
          </a:extLst>
        </p:spPr>
      </p:pic>
      <p:cxnSp>
        <p:nvCxnSpPr>
          <p:cNvPr id="4" name="Conector Reto 3">
            <a:extLst>
              <a:ext uri="{FF2B5EF4-FFF2-40B4-BE49-F238E27FC236}">
                <ns3:creationId id="{498FB6EC-2D20-900B-A04E-FA848B78DE53}"/>
              </a:ext>
            </a:extLst>
          </p:cNvPr>
          <p:cNvCxnSpPr>
            <a:cxnSpLocks/>
          </p:cNvCxnSpPr>
          <p:nvPr/>
        </p:nvCxnSpPr>
        <p:spPr>
          <a:xfrm>
            <a:off x="2163770" y="815918"/>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6" name="CaixaDeTexto 5">
            <a:extLst>
              <a:ext uri="{FF2B5EF4-FFF2-40B4-BE49-F238E27FC236}">
                <ns3:creationId id="{63D92328-B002-BEAB-5434-AB121FCDA501}"/>
              </a:ext>
            </a:extLst>
          </p:cNvPr>
          <p:cNvSpPr txBox="1"/>
          <p:nvPr/>
        </p:nvSpPr>
        <p:spPr>
          <a:xfrm>
            <a:off x="1185635" y="3157732"/>
            <a:ext cx="10476704" cy="2175980"/>
          </a:xfrm>
          <a:prstGeom prst="rect">
            <a:avLst/>
          </a:prstGeom>
          <a:noFill/>
        </p:spPr>
        <p:txBody>
          <a:bodyPr wrap="square" rtlCol="0">
            <a:spAutoFit/>
          </a:bodyPr>
          <a:lstStyle/>
          <a:p>
            <a:pPr>
              <a:buFontTx/>
              <a:buChar char="•"/>
              <a:spcBfr>
                <a:spcPts val="60"/>
              </a:spcBfr>
            </a:pPr>
            <a:r>
              <a:rPr lang="pt-BR" sz="1200" b="1">
                <a:solidFill>
                  <a:srgbClr val="1F497D"/>
                </a:solidFill>
              </a:rPr>
              <a:t>Semana 1 — Diagnóstico Situacional e Acordo Institucional: </a:t>
            </a:r>
            <a:r>
              <a:rPr lang="pt-BR" sz="1100" b="0">
                <a:solidFill>
                  <a:srgbClr val="262626"/>
                </a:solidFill>
              </a:rPr>
              <a:t>Mapeamento dos fluxos operacionais na Performa Energy, entrevistas com gestores e levantamento de gargalos de Shadow AI. (Resp: Discente Extensionista e Coordenação Performa)</a:t>
            </a:r>
          </a:p>
          <a:p>
            <a:pPr>
              <a:buFontTx/>
              <a:buChar char="•"/>
              <a:spcBfr>
                <a:spcPts val="80"/>
              </a:spcBfr>
            </a:pPr>
            <a:r>
              <a:rPr lang="pt-BR" sz="1200" b="1">
                <a:solidFill>
                  <a:srgbClr val="1F497D"/>
                </a:solidFill>
              </a:rPr>
              <a:t>Semana 2 — Pesquisa Bibliográfica e Marco Conceitual (ODS): </a:t>
            </a:r>
            <a:r>
              <a:rPr lang="pt-BR" sz="1100" b="0">
                <a:solidFill>
                  <a:srgbClr val="262626"/>
                </a:solidFill>
              </a:rPr>
              <a:t>Pesquisa sobre IA ética, regulação da energia solar e elaboração/submissão da Etapa 1 do Template PPTX. (Resp: Discente Extensionista)</a:t>
            </a:r>
          </a:p>
          <a:p>
            <a:pPr>
              <a:buFontTx/>
              <a:buChar char="•"/>
              <a:spcBfr>
                <a:spcPts val="80"/>
              </a:spcBfr>
            </a:pPr>
            <a:r>
              <a:rPr lang="pt-BR" sz="1200" b="1">
                <a:solidFill>
                  <a:srgbClr val="1F497D"/>
                </a:solidFill>
              </a:rPr>
              <a:t>Semana 3 — Análise de Riscos Algorítmicos e LGPD: </a:t>
            </a:r>
            <a:r>
              <a:rPr lang="pt-BR" sz="1100" b="0">
                <a:solidFill>
                  <a:srgbClr val="262626"/>
                </a:solidFill>
              </a:rPr>
              <a:t>Estruturação dos conceitos de ADMs de Cathy O'Neil aplicados a faturas e submissão da Etapa 2 do Template PPTX. (Resp: Discente Extensionista)</a:t>
            </a:r>
          </a:p>
          <a:p>
            <a:pPr>
              <a:buFontTx/>
              <a:buChar char="•"/>
              <a:spcBfr>
                <a:spcPts val="80"/>
              </a:spcBfr>
            </a:pPr>
            <a:r>
              <a:rPr lang="pt-BR" sz="1200" b="1">
                <a:solidFill>
                  <a:srgbClr val="1F497D"/>
                </a:solidFill>
              </a:rPr>
              <a:t>Semana 4 — Certificação iTalents e Design do Hub no Figma: </a:t>
            </a:r>
            <a:r>
              <a:rPr lang="pt-BR" sz="1100" b="0">
                <a:solidFill>
                  <a:srgbClr val="262626"/>
                </a:solidFill>
              </a:rPr>
              <a:t>Conclusão do curso de Design de Interfaces (iTalents) e desenvolvimento do protótipo interativo «Solar AI Ethics &amp; Hub Performa». (Resp: Discente Extensionista)</a:t>
            </a:r>
          </a:p>
          <a:p>
            <a:pPr>
              <a:buFontTx/>
              <a:buChar char="•"/>
              <a:spcBfr>
                <a:spcPts val="80"/>
              </a:spcBfr>
            </a:pPr>
            <a:r>
              <a:rPr lang="pt-BR" sz="1200" b="1">
                <a:solidFill>
                  <a:srgbClr val="1F497D"/>
                </a:solidFill>
              </a:rPr>
              <a:t>Semana 5 — Intervenção Presencial na Performa Energy: </a:t>
            </a:r>
            <a:r>
              <a:rPr lang="pt-BR" sz="1100" b="0">
                <a:solidFill>
                  <a:srgbClr val="262626"/>
                </a:solidFill>
              </a:rPr>
              <a:t>Realização da oficina presencial (90 min) na sala de reuniões, testes hands-on e registro das 3 fotos obrigatórias. (Resp: Discente e Equipe Corporativa)</a:t>
            </a:r>
          </a:p>
          <a:p>
            <a:pPr>
              <a:buFontTx/>
              <a:buChar char="•"/>
              <a:spcBfr>
                <a:spcPts val="80"/>
              </a:spcBfr>
            </a:pPr>
            <a:r>
              <a:rPr lang="pt-BR" sz="1200" b="1">
                <a:solidFill>
                  <a:srgbClr val="1F497D"/>
                </a:solidFill>
              </a:rPr>
              <a:t>Semana 6 — Avaliação de Impacto e Submissão Final: </a:t>
            </a:r>
            <a:r>
              <a:rPr lang="pt-BR" sz="1100" b="0">
                <a:solidFill>
                  <a:srgbClr val="262626"/>
                </a:solidFill>
              </a:rPr>
              <a:t>Tabulação dos formulários Likert, redação da autoavaliação e entrega final do Template PPTX e link do Figma. (Resp: Discente Extensionista)</a:t>
            </a:r>
          </a:p>
        </p:txBody>
      </p:sp>
    </p:spTree>
    <p:extLst>
      <p:ext uri="{BB962C8B-B14F-4D97-AF65-F5344CB8AC3E}">
        <ns5:creationId val="1908023008"/>
      </p:ext>
    </p:extLst>
  </p:cSld>
  <p:clrMapOvr>
    <a:masterClrMapping/>
  </p:clrMapOvr>
</p:sld>
</file>

<file path=ppt/slides/slide14.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aixaDeTexto 2">
            <a:extLst>
              <a:ext uri="{FF2B5EF4-FFF2-40B4-BE49-F238E27FC236}">
                <ns3:creationId id="{6427B696-293E-F480-15E9-AB0A332EB4B6}"/>
              </a:ext>
            </a:extLst>
          </p:cNvPr>
          <p:cNvSpPr txBox="1"/>
          <p:nvPr/>
        </p:nvSpPr>
        <p:spPr>
          <a:xfrm>
            <a:off x="2118645" y="417104"/>
            <a:ext cx="10073355" cy="1138773"/>
          </a:xfrm>
          <a:prstGeom prst="rect">
            <a:avLst/>
          </a:prstGeom>
          <a:noFill/>
        </p:spPr>
        <p:txBody>
          <a:bodyPr wrap="square" rtlCol="0">
            <a:spAutoFit/>
          </a:bodyPr>
          <a:lstStyle/>
          <a:p>
            <a:pPr/>
            <a:r>
              <a:rPr lang="pt-BR" sz="2200" b="1">
                <a:solidFill>
                  <a:srgbClr val="A33D6B"/>
                </a:solidFill>
              </a:rPr>
              <a:t>MATERIAL EDUCATIVO DIGITAL — SOLAR AI ETHICS &amp; HUB PERFORMA</a:t>
            </a:r>
          </a:p>
        </p:txBody>
      </p:sp>
      <p:cxnSp>
        <p:nvCxnSpPr>
          <p:cNvPr id="4" name="Conector Reto 3">
            <a:extLst>
              <a:ext uri="{FF2B5EF4-FFF2-40B4-BE49-F238E27FC236}">
                <ns3:creationId id="{15862765-1C77-BA4F-7177-A2586214AEF3}"/>
              </a:ext>
            </a:extLst>
          </p:cNvPr>
          <p:cNvCxnSpPr>
            <a:cxnSpLocks/>
          </p:cNvCxnSpPr>
          <p:nvPr/>
        </p:nvCxnSpPr>
        <p:spPr>
          <a:xfrm>
            <a:off x="2163770" y="815918"/>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pic>
        <p:nvPicPr>
          <p:cNvPr id="6" name="Picture 4" descr="Vídeo - ícones de marketing grátis">
            <a:extLst>
              <a:ext uri="{FF2B5EF4-FFF2-40B4-BE49-F238E27FC236}">
                <ns3:creationId id="{0F0B875B-821C-468F-4BEF-58A85E41BDB6}"/>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907180" y="547195"/>
            <a:ext cx="256590" cy="256590"/>
          </a:xfrm>
          <a:prstGeom prst="rect">
            <a:avLst/>
          </a:prstGeom>
          <a:noFill/>
          <a:extLst>
            <a:ext uri="{909E8E84-426E-40DD-AFC4-6F175D3DCCD1}">
              <ns4:hiddenFill>
                <a:solidFill>
                  <a:srgbClr val="FFFFFF"/>
                </a:solidFill>
              </ns4:hiddenFill>
            </a:ext>
          </a:extLst>
        </p:spPr>
      </p:pic>
      <p:sp>
        <p:nvSpPr>
          <p:cNvPr id="7" name="CaixaDeTexto 6">
            <a:extLst>
              <a:ext uri="{FF2B5EF4-FFF2-40B4-BE49-F238E27FC236}">
                <ns3:creationId id="{C1E3D3FB-B075-26A8-1292-F6CEAFB551CC}"/>
              </a:ext>
            </a:extLst>
          </p:cNvPr>
          <p:cNvSpPr txBox="1"/>
          <p:nvPr/>
        </p:nvSpPr>
        <p:spPr>
          <a:xfrm>
            <a:off x="1399634" y="1317827"/>
            <a:ext cx="9608677" cy="779444"/>
          </a:xfrm>
          <a:prstGeom prst="rect">
            <a:avLst/>
          </a:prstGeom>
          <a:noFill/>
        </p:spPr>
        <p:txBody>
          <a:bodyPr wrap="square">
            <a:spAutoFit/>
          </a:bodyPr>
          <a:lstStyle/>
          <a:p>
            <a:pPr/>
            <a:r>
              <a:rPr lang="pt-BR" sz="1400" b="1">
                <a:solidFill>
                  <a:schemeClr val="accent1"/>
                </a:solidFill>
              </a:rPr>
              <a:t>Apresentação da Solução Digital Desenvolvida no Figma e Orientações de Uso Corporativo</a:t>
            </a:r>
          </a:p>
          <a:p>
            <a:pPr>
              <a:spcBfr>
                <a:spcPts val="100"/>
              </a:spcBfr>
            </a:pPr>
            <a:r>
              <a:rPr lang="pt-BR" sz="1100" b="0">
                <a:solidFill>
                  <a:srgbClr val="262626"/>
                </a:solidFill>
              </a:rPr>
              <a:t>O «Solar AI Ethics &amp; Hub Performa» é uma plataforma digital interativa concebida para capacitar continuamente analistas de faturamento e consultores da Performa Energy no tratamento ético de dados e prevenção de alucinações tarifárias.</a:t>
            </a:r>
          </a:p>
          <a:p>
            <a:pPr>
              <a:spcBfr>
                <a:spcPts val="100"/>
              </a:spcBfr>
            </a:pPr>
            <a:r>
              <a:rPr lang="pt-BR" sz="1050" b="0" i="1">
                <a:solidFill>
                  <a:srgbClr val="595959"/>
                </a:solidFill>
              </a:rPr>
              <a:t>Orientações de Uso: Interface responsiva acessível via navegadores desktop e móveis corporativos. Navegação baseada em 5 fluxos práticos: Diagnóstico LGPD, Sanitizador de Faturas, Simulador de Prompts Seguros, Validador Human-in-the-Loop e Cheat Sheet.</a:t>
            </a:r>
          </a:p>
        </p:txBody>
      </p:sp>
      <p:pic>
        <p:nvPicPr>
          <p:cNvPr id="2" name="Espaço Reservado para Conteúdo 20" descr="Interface gráfica do usuário, Aplicativo&#10;&#10;Descrição gerada automaticamente">
            <a:extLst>
              <a:ext uri="{FF2B5EF4-FFF2-40B4-BE49-F238E27FC236}">
                <ns3:creationId id="{A074007E-07A6-B0CB-6563-54AAC9413250}"/>
              </a:ext>
            </a:extLst>
          </p:cNvPr>
          <p:cNvPicPr>
            <a:picLocks noGrp="1" noChangeAspect="1"/>
          </p:cNvPicPr>
          <p:nvPr>
            <p:ph idx="1"/>
          </p:nvPr>
        </p:nvPicPr>
        <p:blipFill rotWithShape="1">
          <a:blip r:embed="rId4"/>
          <a:srcRect t="3381"/>
          <a:stretch/>
        </p:blipFill>
        <p:spPr>
          <a:xfrm>
            <a:off x="669818" y="2378230"/>
            <a:ext cx="1984733" cy="2973084"/>
          </a:xfrm>
        </p:spPr>
      </p:pic>
      <p:pic>
        <p:nvPicPr>
          <p:cNvPr id="5" name="Espaço Reservado para Conteúdo 4" descr="Interface gráfica do usuário, Texto, Aplicativo&#10;&#10;Descrição gerada automaticamente">
            <a:extLst>
              <a:ext uri="{FF2B5EF4-FFF2-40B4-BE49-F238E27FC236}">
                <ns3:creationId id="{E644FA29-A9E7-FF16-D748-CB75FF6220EF}"/>
              </a:ext>
            </a:extLst>
          </p:cNvPr>
          <p:cNvPicPr>
            <a:picLocks noChangeAspect="1"/>
          </p:cNvPicPr>
          <p:nvPr/>
        </p:nvPicPr>
        <p:blipFill rotWithShape="1">
          <a:blip r:embed="rId5"/>
          <a:srcRect t="3884"/>
          <a:stretch/>
        </p:blipFill>
        <p:spPr>
          <a:xfrm>
            <a:off x="2118645" y="3060324"/>
            <a:ext cx="1984733" cy="3244966"/>
          </a:xfrm>
          <a:prstGeom prst="rect">
            <a:avLst/>
          </a:prstGeom>
        </p:spPr>
      </p:pic>
      <p:pic>
        <p:nvPicPr>
          <p:cNvPr id="8" name="Imagem 7" descr="Interface gráfica do usuário, Texto, Aplicativo&#10;&#10;Descrição gerada automaticamente">
            <a:extLst>
              <a:ext uri="{FF2B5EF4-FFF2-40B4-BE49-F238E27FC236}">
                <ns3:creationId id="{61993FDD-D71F-FD73-C70A-DE42F19CB0A4}"/>
              </a:ext>
            </a:extLst>
          </p:cNvPr>
          <p:cNvPicPr>
            <a:picLocks noChangeAspect="1"/>
          </p:cNvPicPr>
          <p:nvPr/>
        </p:nvPicPr>
        <p:blipFill rotWithShape="1">
          <a:blip r:embed="rId6"/>
          <a:srcRect t="2051" b="5641"/>
          <a:stretch/>
        </p:blipFill>
        <p:spPr>
          <a:xfrm>
            <a:off x="3681394" y="2378230"/>
            <a:ext cx="2180417" cy="3161943"/>
          </a:xfrm>
          <a:prstGeom prst="rect">
            <a:avLst/>
          </a:prstGeom>
        </p:spPr>
      </p:pic>
      <p:pic>
        <p:nvPicPr>
          <p:cNvPr id="9" name="Espaço Reservado para Conteúdo 5" descr="Desenho de uma pessoa&#10;&#10;Descrição gerada automaticamente com confiança baixa">
            <a:extLst>
              <a:ext uri="{FF2B5EF4-FFF2-40B4-BE49-F238E27FC236}">
                <ns3:creationId id="{326228BD-F289-F813-BBFE-B006F25AB51A}"/>
              </a:ext>
            </a:extLst>
          </p:cNvPr>
          <p:cNvPicPr>
            <a:picLocks noChangeAspect="1"/>
          </p:cNvPicPr>
          <p:nvPr/>
        </p:nvPicPr>
        <p:blipFill rotWithShape="1">
          <a:blip r:embed="rId7"/>
          <a:srcRect t="3698" b="5042"/>
          <a:stretch/>
        </p:blipFill>
        <p:spPr>
          <a:xfrm>
            <a:off x="5423346" y="2987602"/>
            <a:ext cx="1984733" cy="3362487"/>
          </a:xfrm>
          <a:prstGeom prst="rect">
            <a:avLst/>
          </a:prstGeom>
        </p:spPr>
      </p:pic>
      <p:sp>
        <p:nvSpPr>
          <p:cNvPr id="10" name="CaixaDeTexto 9">
            <a:extLst>
              <a:ext uri="{FF2B5EF4-FFF2-40B4-BE49-F238E27FC236}">
                <ns3:creationId id="{08AF9E68-44E1-9156-1581-47A5B9126A1A}"/>
              </a:ext>
            </a:extLst>
          </p:cNvPr>
          <p:cNvSpPr txBox="1"/>
          <p:nvPr/>
        </p:nvSpPr>
        <p:spPr>
          <a:xfrm>
            <a:off x="7603763" y="3685975"/>
            <a:ext cx="4250237" cy="646331"/>
          </a:xfrm>
          <a:prstGeom prst="rect">
            <a:avLst/>
          </a:prstGeom>
          <a:noFill/>
        </p:spPr>
        <p:txBody>
          <a:bodyPr wrap="square" rtlCol="0">
            <a:spAutoFit/>
          </a:bodyPr>
          <a:lstStyle/>
          <a:p>
            <a:pPr algn="ctr"/>
            <a:r>
              <a:rPr lang="pt-BR" sz="1500" b="1">
                <a:solidFill>
                  <a:srgbClr val="0070C0"/>
                </a:solidFill>
              </a:rPr>
              <a:t>https://www.figma.com/proto/solar-ai-ethics-performa</a:t>
            </a:r>
          </a:p>
        </p:txBody>
      </p:sp>
      <p:sp>
        <p:nvSpPr>
          <p:cNvPr id="11" name="CaixaDeTexto 10">
            <a:extLst>
              <a:ext uri="{FF2B5EF4-FFF2-40B4-BE49-F238E27FC236}">
                <ns3:creationId id="{35393B69-9249-F300-ECB7-2DDB565ACFFF}"/>
              </a:ext>
            </a:extLst>
          </p:cNvPr>
          <p:cNvSpPr txBox="1"/>
          <p:nvPr/>
        </p:nvSpPr>
        <p:spPr>
          <a:xfrm>
            <a:off x="7765287" y="3373119"/>
            <a:ext cx="3567998" cy="358816"/>
          </a:xfrm>
          <a:prstGeom prst="rect">
            <a:avLst/>
          </a:prstGeom>
          <a:noFill/>
        </p:spPr>
        <p:txBody>
          <a:bodyPr wrap="square">
            <a:spAutoFit/>
          </a:bodyPr>
          <a:lstStyle/>
          <a:p>
            <a:pPr/>
            <a:r>
              <a:rPr lang="pt-BR" sz="1300" b="1">
                <a:solidFill>
                  <a:srgbClr val="1F497D"/>
                </a:solidFill>
              </a:rPr>
              <a:t>Link público para acesso e navegação interativa no protótipo Figma:</a:t>
            </a:r>
          </a:p>
        </p:txBody>
      </p:sp>
    </p:spTree>
    <p:extLst>
      <p:ext uri="{BB962C8B-B14F-4D97-AF65-F5344CB8AC3E}">
        <ns5:creationId val="989068576"/>
      </p:ext>
    </p:extLst>
  </p:cSld>
  <p:clrMapOvr>
    <a:masterClrMapping/>
  </p:clrMapOvr>
</p:sld>
</file>

<file path=ppt/slides/slide15.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aixaDeTexto 2">
            <a:extLst>
              <a:ext uri="{FF2B5EF4-FFF2-40B4-BE49-F238E27FC236}">
                <ns3:creationId id="{6427B696-293E-F480-15E9-AB0A332EB4B6}"/>
              </a:ext>
            </a:extLst>
          </p:cNvPr>
          <p:cNvSpPr txBox="1"/>
          <p:nvPr/>
        </p:nvSpPr>
        <p:spPr>
          <a:xfrm>
            <a:off x="2118645" y="417104"/>
            <a:ext cx="10073355" cy="1138773"/>
          </a:xfrm>
          <a:prstGeom prst="rect">
            <a:avLst/>
          </a:prstGeom>
          <a:noFill/>
        </p:spPr>
        <p:txBody>
          <a:bodyPr wrap="square" rtlCol="0">
            <a:spAutoFit/>
          </a:bodyPr>
          <a:lstStyle/>
          <a:p>
            <a:pPr/>
            <a:r>
              <a:rPr lang="pt-BR" sz="2200" b="1">
                <a:solidFill>
                  <a:srgbClr val="A33D6B"/>
                </a:solidFill>
              </a:rPr>
              <a:t>MATERIAL EDUCATIVO DIGITAL — MÓDULOS E FUNCIONALIDADES</a:t>
            </a:r>
          </a:p>
        </p:txBody>
      </p:sp>
      <p:cxnSp>
        <p:nvCxnSpPr>
          <p:cNvPr id="4" name="Conector Reto 3">
            <a:extLst>
              <a:ext uri="{FF2B5EF4-FFF2-40B4-BE49-F238E27FC236}">
                <ns3:creationId id="{15862765-1C77-BA4F-7177-A2586214AEF3}"/>
              </a:ext>
            </a:extLst>
          </p:cNvPr>
          <p:cNvCxnSpPr>
            <a:cxnSpLocks/>
          </p:cNvCxnSpPr>
          <p:nvPr/>
        </p:nvCxnSpPr>
        <p:spPr>
          <a:xfrm>
            <a:off x="2163770" y="815918"/>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pic>
        <p:nvPicPr>
          <p:cNvPr id="6" name="Picture 4" descr="Vídeo - ícones de marketing grátis">
            <a:extLst>
              <a:ext uri="{FF2B5EF4-FFF2-40B4-BE49-F238E27FC236}">
                <ns3:creationId id="{0F0B875B-821C-468F-4BEF-58A85E41BDB6}"/>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907180" y="547195"/>
            <a:ext cx="256590" cy="256590"/>
          </a:xfrm>
          <a:prstGeom prst="rect">
            <a:avLst/>
          </a:prstGeom>
          <a:noFill/>
          <a:extLst>
            <a:ext uri="{909E8E84-426E-40DD-AFC4-6F175D3DCCD1}">
              <ns4:hiddenFill>
                <a:solidFill>
                  <a:srgbClr val="FFFFFF"/>
                </a:solidFill>
              </ns4:hiddenFill>
            </a:ext>
          </a:extLst>
        </p:spPr>
      </p:pic>
      <p:pic>
        <p:nvPicPr>
          <p:cNvPr id="21" name="Imagem 20">
            <a:extLst>
              <a:ext uri="{FF2B5EF4-FFF2-40B4-BE49-F238E27FC236}">
                <ns3:creationId id="{166F6E08-F586-F617-92F1-6823A6342D25}"/>
              </a:ext>
            </a:extLst>
          </p:cNvPr>
          <p:cNvPicPr>
            <a:picLocks noChangeAspect="1"/>
          </p:cNvPicPr>
          <p:nvPr/>
        </p:nvPicPr>
        <p:blipFill>
          <a:blip r:embed="rId4"/>
          <a:stretch>
            <a:fillRect/>
          </a:stretch>
        </p:blipFill>
        <p:spPr>
          <a:xfrm>
            <a:off x="1505142" y="2323070"/>
            <a:ext cx="5540610" cy="2680940"/>
          </a:xfrm>
          <a:prstGeom prst="rect">
            <a:avLst/>
          </a:prstGeom>
        </p:spPr>
      </p:pic>
      <p:pic>
        <p:nvPicPr>
          <p:cNvPr id="23" name="Imagem 22">
            <a:extLst>
              <a:ext uri="{FF2B5EF4-FFF2-40B4-BE49-F238E27FC236}">
                <ns3:creationId id="{9030A7EC-30E5-14A0-E35F-7C1AFD130667}"/>
              </a:ext>
            </a:extLst>
          </p:cNvPr>
          <p:cNvPicPr>
            <a:picLocks noChangeAspect="1"/>
          </p:cNvPicPr>
          <p:nvPr/>
        </p:nvPicPr>
        <p:blipFill>
          <a:blip r:embed="rId5"/>
          <a:stretch>
            <a:fillRect/>
          </a:stretch>
        </p:blipFill>
        <p:spPr>
          <a:xfrm>
            <a:off x="2944519" y="3522914"/>
            <a:ext cx="5990448" cy="2873172"/>
          </a:xfrm>
          <a:prstGeom prst="rect">
            <a:avLst/>
          </a:prstGeom>
        </p:spPr>
      </p:pic>
      <p:sp>
        <p:nvSpPr>
          <p:cNvPr id="2" name="CaixaDeTexto 1">
            <a:extLst>
              <a:ext uri="{FF2B5EF4-FFF2-40B4-BE49-F238E27FC236}">
                <ns3:creationId id="{AB46FEB6-03D4-64CE-55D7-359789EE06E3}"/>
              </a:ext>
            </a:extLst>
          </p:cNvPr>
          <p:cNvSpPr txBox="1"/>
          <p:nvPr/>
        </p:nvSpPr>
        <p:spPr>
          <a:xfrm>
            <a:off x="1399634" y="1317827"/>
            <a:ext cx="9608677" cy="779444"/>
          </a:xfrm>
          <a:prstGeom prst="rect">
            <a:avLst/>
          </a:prstGeom>
          <a:noFill/>
        </p:spPr>
        <p:txBody>
          <a:bodyPr wrap="square">
            <a:spAutoFit/>
          </a:bodyPr>
          <a:lstStyle/>
          <a:p>
            <a:pPr/>
            <a:r>
              <a:rPr lang="pt-BR" sz="1500" b="1">
                <a:solidFill>
                  <a:schemeClr val="accent1"/>
                </a:solidFill>
              </a:rPr>
              <a:t>Detalhamento dos Componentes Operacionais Integrados no Hub Figma</a:t>
            </a:r>
          </a:p>
        </p:txBody>
      </p:sp>
      <p:sp>
        <p:nvSpPr>
          <p:cNvPr id="7" name="CaixaDeTexto 6">
            <a:extLst>
              <a:ext uri="{FF2B5EF4-FFF2-40B4-BE49-F238E27FC236}">
                <ns3:creationId id="{32A6D82C-FBC4-E214-C477-1D9EB5FF2D89}"/>
              </a:ext>
            </a:extLst>
          </p:cNvPr>
          <p:cNvSpPr txBox="1"/>
          <p:nvPr/>
        </p:nvSpPr>
        <p:spPr>
          <a:xfrm>
            <a:off x="7659522" y="2323070"/>
            <a:ext cx="4078209" cy="830997"/>
          </a:xfrm>
          <a:prstGeom prst="rect">
            <a:avLst/>
          </a:prstGeom>
          <a:noFill/>
        </p:spPr>
        <p:txBody>
          <a:bodyPr wrap="square">
            <a:spAutoFit/>
          </a:bodyPr>
          <a:lstStyle/>
          <a:p>
            <a:pPr>
              <a:buFontTx/>
              <a:buChar char="•"/>
              <a:spcBfr>
                <a:spcPts val="80"/>
              </a:spcBfr>
            </a:pPr>
            <a:r>
              <a:rPr lang="pt-BR" sz="1200" b="1">
                <a:solidFill>
                  <a:srgbClr val="1F497D"/>
                </a:solidFill>
              </a:rPr>
              <a:t>1. Matriz Interativa de Riscos LGPD &amp; Sanitizador de Faturas: </a:t>
            </a:r>
            <a:r>
              <a:rPr lang="pt-BR" sz="1100" b="0">
                <a:solidFill>
                  <a:srgbClr val="262626"/>
                </a:solidFill>
              </a:rPr>
              <a:t>Guia interativo que mapeia visualmente os campos críticos das faturas de energia (dados pessoais, titularidade e código de instalação) e orienta a higienização em 3 passos antes de qualquer processamento por IA.</a:t>
            </a:r>
          </a:p>
          <a:p>
            <a:pPr>
              <a:buFontTx/>
              <a:buChar char="•"/>
              <a:spcBfr>
                <a:spcPts val="120"/>
              </a:spcBfr>
            </a:pPr>
            <a:r>
              <a:rPr lang="pt-BR" sz="1200" b="1">
                <a:solidFill>
                  <a:srgbClr val="1F497D"/>
                </a:solidFill>
              </a:rPr>
              <a:t>2. Simulador de Prompts Seguros para o Setor Solar: </a:t>
            </a:r>
            <a:r>
              <a:rPr lang="pt-BR" sz="1100" b="0">
                <a:solidFill>
                  <a:srgbClr val="262626"/>
                </a:solidFill>
              </a:rPr>
              <a:t>Interface com parâmetros pré-configurados que incorpora as travas regulatórias da Lei 14.300/2022 e regras da ANEEL, prevenindo alucinações tarifárias em relatórios e atendimentos.</a:t>
            </a:r>
          </a:p>
          <a:p>
            <a:pPr>
              <a:buFontTx/>
              <a:buChar char="•"/>
              <a:spcBfr>
                <a:spcPts val="120"/>
              </a:spcBfr>
            </a:pPr>
            <a:r>
              <a:rPr lang="pt-BR" sz="1200" b="1">
                <a:solidFill>
                  <a:srgbClr val="1F497D"/>
                </a:solidFill>
              </a:rPr>
              <a:t>3. Protocolo de Validação Humana (Human-in-the-Loop): </a:t>
            </a:r>
            <a:r>
              <a:rPr lang="pt-BR" sz="1100" b="0">
                <a:solidFill>
                  <a:srgbClr val="262626"/>
                </a:solidFill>
              </a:rPr>
              <a:t>Fluxograma interativo de conferência cruzada obrigatória para analistas de faturamento, impedindo a emissão de cálculos sem dupla validação.</a:t>
            </a:r>
          </a:p>
          <a:p>
            <a:pPr>
              <a:buFontTx/>
              <a:buChar char="•"/>
              <a:spcBfr>
                <a:spcPts val="120"/>
              </a:spcBfr>
            </a:pPr>
            <a:r>
              <a:rPr lang="pt-BR" sz="1200" b="1">
                <a:solidFill>
                  <a:srgbClr val="1F497D"/>
                </a:solidFill>
              </a:rPr>
              <a:t>4. Guia de Bolso Corporativo (Cheat Sheet): </a:t>
            </a:r>
            <a:r>
              <a:rPr lang="pt-BR" sz="1100" b="0">
                <a:solidFill>
                  <a:srgbClr val="262626"/>
                </a:solidFill>
              </a:rPr>
              <a:t>Cartilha resumida contendo os 10 Mandamentos do Uso Ético de IA na Performa Energy, disponível para consulta rápida na intranet.</a:t>
            </a:r>
          </a:p>
        </p:txBody>
      </p:sp>
    </p:spTree>
    <p:extLst>
      <p:ext uri="{BB962C8B-B14F-4D97-AF65-F5344CB8AC3E}">
        <ns5:creationId val="1102658212"/>
      </p:ext>
    </p:extLst>
  </p:cSld>
  <p:clrMapOvr>
    <a:masterClrMapping/>
  </p:clrMapOvr>
</p:sld>
</file>

<file path=ppt/slides/slide16.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aixaDeTexto 2">
            <a:extLst>
              <a:ext uri="{FF2B5EF4-FFF2-40B4-BE49-F238E27FC236}">
                <ns3:creationId id="{6427B696-293E-F480-15E9-AB0A332EB4B6}"/>
              </a:ext>
            </a:extLst>
          </p:cNvPr>
          <p:cNvSpPr txBox="1"/>
          <p:nvPr/>
        </p:nvSpPr>
        <p:spPr>
          <a:xfrm>
            <a:off x="2118645" y="417104"/>
            <a:ext cx="10073355" cy="1138773"/>
          </a:xfrm>
          <a:prstGeom prst="rect">
            <a:avLst/>
          </a:prstGeom>
          <a:noFill/>
        </p:spPr>
        <p:txBody>
          <a:bodyPr wrap="square" rtlCol="0">
            <a:spAutoFit/>
          </a:bodyPr>
          <a:lstStyle/>
          <a:p>
            <a:pPr/>
            <a:r>
              <a:rPr lang="pt-BR" sz="2200" b="1">
                <a:solidFill>
                  <a:srgbClr val="A33D6B"/>
                </a:solidFill>
              </a:rPr>
              <a:t>REGISTROS DO DESENVOLVIMENTO DA ATIVIDADE PRESENCIAL</a:t>
            </a:r>
          </a:p>
        </p:txBody>
      </p:sp>
      <p:cxnSp>
        <p:nvCxnSpPr>
          <p:cNvPr id="4" name="Conector Reto 3">
            <a:extLst>
              <a:ext uri="{FF2B5EF4-FFF2-40B4-BE49-F238E27FC236}">
                <ns3:creationId id="{15862765-1C77-BA4F-7177-A2586214AEF3}"/>
              </a:ext>
            </a:extLst>
          </p:cNvPr>
          <p:cNvCxnSpPr>
            <a:cxnSpLocks/>
          </p:cNvCxnSpPr>
          <p:nvPr/>
        </p:nvCxnSpPr>
        <p:spPr>
          <a:xfrm>
            <a:off x="2163770" y="815918"/>
            <a:ext cx="677119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pic>
        <p:nvPicPr>
          <p:cNvPr id="6" name="Picture 4" descr="Vídeo - ícones de marketing grátis">
            <a:extLst>
              <a:ext uri="{FF2B5EF4-FFF2-40B4-BE49-F238E27FC236}">
                <ns3:creationId id="{0F0B875B-821C-468F-4BEF-58A85E41BDB6}"/>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907180" y="547195"/>
            <a:ext cx="256590" cy="256590"/>
          </a:xfrm>
          <a:prstGeom prst="rect">
            <a:avLst/>
          </a:prstGeom>
          <a:noFill/>
          <a:extLst>
            <a:ext uri="{909E8E84-426E-40DD-AFC4-6F175D3DCCD1}">
              <ns4:hiddenFill>
                <a:solidFill>
                  <a:srgbClr val="FFFFFF"/>
                </a:solidFill>
              </ns4:hiddenFill>
            </a:ext>
          </a:extLst>
        </p:spPr>
      </p:pic>
      <p:sp>
        <p:nvSpPr>
          <p:cNvPr id="7" name="CaixaDeTexto 6">
            <a:extLst>
              <a:ext uri="{FF2B5EF4-FFF2-40B4-BE49-F238E27FC236}">
                <ns3:creationId id="{C1E3D3FB-B075-26A8-1292-F6CEAFB551CC}"/>
              </a:ext>
            </a:extLst>
          </p:cNvPr>
          <p:cNvSpPr txBox="1"/>
          <p:nvPr/>
        </p:nvSpPr>
        <p:spPr>
          <a:xfrm>
            <a:off x="1291661" y="1214733"/>
            <a:ext cx="9608677" cy="1133387"/>
          </a:xfrm>
          <a:prstGeom prst="rect">
            <a:avLst/>
          </a:prstGeom>
          <a:noFill/>
        </p:spPr>
        <p:txBody>
          <a:bodyPr wrap="square">
            <a:spAutoFit/>
          </a:bodyPr>
          <a:lstStyle/>
          <a:p>
            <a:pPr/>
            <a:r>
              <a:rPr lang="pt-BR" sz="1400" b="1">
                <a:solidFill>
                  <a:schemeClr val="accent1"/>
                </a:solidFill>
              </a:rPr>
              <a:t>Painel Fotográfico Comprobatório da Apresentação Presencial (Avaliação de 50 Pontos — Módulo 4)</a:t>
            </a:r>
          </a:p>
          <a:p>
            <a:pPr>
              <a:buFontTx/>
              <a:buChar char="[1]"/>
              <a:spcBfr>
                <a:spcPts val="100"/>
              </a:spcBfr>
            </a:pPr>
            <a:r>
              <a:rPr lang="pt-BR" sz="1200" b="1">
                <a:solidFill>
                  <a:srgbClr val="1F497D"/>
                </a:solidFill>
              </a:rPr>
              <a:t>FOTO 1 — Abertura e Sensibilização Teórica na Sala de Reuniões: </a:t>
            </a:r>
            <a:r>
              <a:rPr lang="pt-BR" sz="1100" b="0">
                <a:solidFill>
                  <a:srgbClr val="262626"/>
                </a:solidFill>
              </a:rPr>
              <a:t>O discente extensionista em pé junto à Smart TV corporativa apresentando os slides da oficina sobre IA ética, ODS 7, 9 e 13 e governança da LGPD, com a equipe multidisciplinar da Performa Energy reunida e atenta.</a:t>
            </a:r>
          </a:p>
          <a:p>
            <a:pPr>
              <a:buFontTx/>
              <a:buChar char="[2]"/>
              <a:spcBfr>
                <a:spcPts val="120"/>
              </a:spcBfr>
            </a:pPr>
            <a:r>
              <a:rPr lang="pt-BR" sz="1200" b="1">
                <a:solidFill>
                  <a:srgbClr val="1F497D"/>
                </a:solidFill>
              </a:rPr>
              <a:t>FOTO 2 — Oficina Prática Hands-On e Navegação no Figma: </a:t>
            </a:r>
            <a:r>
              <a:rPr lang="pt-BR" sz="1100" b="0">
                <a:solidFill>
                  <a:srgbClr val="262626"/>
                </a:solidFill>
              </a:rPr>
              <a:t>Registro lateral dos colaboradores utilizando seus laptops corporativos, navegando no protótipo «Solar AI Ethics &amp; Hub Performa» e praticando a higienização de faturas reais com a mediação do aluno.</a:t>
            </a:r>
          </a:p>
          <a:p>
            <a:pPr>
              <a:buFontTx/>
              <a:buChar char="[3]"/>
              <a:spcBfr>
                <a:spcPts val="120"/>
              </a:spcBfr>
            </a:pPr>
            <a:r>
              <a:rPr lang="pt-BR" sz="1200" b="1">
                <a:solidFill>
                  <a:srgbClr val="1F497D"/>
                </a:solidFill>
              </a:rPr>
              <a:t>FOTO 3 — Debate Conclusivo, Coleta da Avaliação e Encerramento: </a:t>
            </a:r>
            <a:r>
              <a:rPr lang="pt-BR" sz="1100" b="0">
                <a:solidFill>
                  <a:srgbClr val="262626"/>
                </a:solidFill>
              </a:rPr>
              <a:t>Visão da equipe reunida participando do debate sobre responsabilidade algorítmica, preenchimento do formulário de avaliação (escala Likert) e validação dos resultados da extensão universitária.</a:t>
            </a:r>
          </a:p>
          <a:p>
            <a:pPr>
              <a:spcBfr>
                <a:spcPts val="150"/>
              </a:spcBfr>
            </a:pPr>
            <a:r>
              <a:rPr lang="pt-BR" sz="1050" b="0" i="1">
                <a:solidFill>
                  <a:srgbClr val="595959"/>
                </a:solidFill>
              </a:rPr>
              <a:t>Nota: Os três registros fotográficos presenciais atendem estritamente às exigências do Módulo 4 (pontuação integral de 50 pontos).</a:t>
            </a:r>
          </a:p>
        </p:txBody>
      </p:sp>
      <p:pic>
        <p:nvPicPr>
          <p:cNvPr id="2" name="Imagem 1" descr="Pessoas assistindo televisão&#10;&#10;Descrição gerada automaticamente">
            <a:extLst>
              <a:ext uri="{FF2B5EF4-FFF2-40B4-BE49-F238E27FC236}">
                <ns3:creationId id="{6239F134-480F-CF78-6E1D-A5231629D7FD}"/>
              </a:ext>
            </a:extLst>
          </p:cNvPr>
          <p:cNvPicPr>
            <a:picLocks noChangeAspect="1"/>
          </p:cNvPicPr>
          <p:nvPr/>
        </p:nvPicPr>
        <p:blipFill rotWithShape="1">
          <a:blip r:embed="rId4">
            <a:extLst>
              <a:ext uri="{28A0092B-C50C-407E-A947-70E740481C1C}">
                <ns4:useLocalDpi val="0"/>
              </a:ext>
            </a:extLst>
          </a:blip>
          <a:srcRect r="-1" b="6161"/>
          <a:stretch/>
        </p:blipFill>
        <p:spPr>
          <a:xfrm>
            <a:off x="4245934" y="3879065"/>
            <a:ext cx="4425623" cy="1868815"/>
          </a:xfrm>
          <a:prstGeom prst="rect">
            <a:avLst/>
          </a:prstGeom>
        </p:spPr>
      </p:pic>
      <p:pic>
        <p:nvPicPr>
          <p:cNvPr id="5" name="Imagem 4" descr="Uma imagem contendo no interior, em pé, quarto, vivendo&#10;&#10;Descrição gerada automaticamente">
            <a:extLst>
              <a:ext uri="{FF2B5EF4-FFF2-40B4-BE49-F238E27FC236}">
                <ns3:creationId id="{312F29A8-7BFA-A9AC-1197-B2F031E11E70}"/>
              </a:ext>
            </a:extLst>
          </p:cNvPr>
          <p:cNvPicPr>
            <a:picLocks noChangeAspect="1"/>
          </p:cNvPicPr>
          <p:nvPr/>
        </p:nvPicPr>
        <p:blipFill rotWithShape="1">
          <a:blip r:embed="rId5">
            <a:extLst>
              <a:ext uri="{28A0092B-C50C-407E-A947-70E740481C1C}">
                <ns4:useLocalDpi val="0"/>
              </a:ext>
            </a:extLst>
          </a:blip>
          <a:srcRect t="19686" r="-2" b="14719"/>
          <a:stretch/>
        </p:blipFill>
        <p:spPr>
          <a:xfrm>
            <a:off x="1849474" y="2858026"/>
            <a:ext cx="2133050" cy="1865533"/>
          </a:xfrm>
          <a:prstGeom prst="rect">
            <a:avLst/>
          </a:prstGeom>
        </p:spPr>
      </p:pic>
      <p:pic>
        <p:nvPicPr>
          <p:cNvPr id="8" name="Imagem 7" descr="Pessoas assistindo televisão&#10;&#10;Descrição gerada automaticamente com confiança média">
            <a:extLst>
              <a:ext uri="{FF2B5EF4-FFF2-40B4-BE49-F238E27FC236}">
                <ns3:creationId id="{1CE79CF3-5DE8-EA10-6E5E-615244129301}"/>
              </a:ext>
            </a:extLst>
          </p:cNvPr>
          <p:cNvPicPr>
            <a:picLocks noChangeAspect="1"/>
          </p:cNvPicPr>
          <p:nvPr/>
        </p:nvPicPr>
        <p:blipFill rotWithShape="1">
          <a:blip r:embed="rId6">
            <a:extLst>
              <a:ext uri="{28A0092B-C50C-407E-A947-70E740481C1C}">
                <ns4:useLocalDpi val="0"/>
              </a:ext>
            </a:extLst>
          </a:blip>
          <a:srcRect l="7351" r="41114" b="-1"/>
          <a:stretch/>
        </p:blipFill>
        <p:spPr>
          <a:xfrm>
            <a:off x="8934967" y="2858026"/>
            <a:ext cx="2136433" cy="1865533"/>
          </a:xfrm>
          <a:prstGeom prst="rect">
            <a:avLst/>
          </a:prstGeom>
        </p:spPr>
      </p:pic>
    </p:spTree>
    <p:extLst>
      <p:ext uri="{BB962C8B-B14F-4D97-AF65-F5344CB8AC3E}">
        <ns5:creationId val="2652950174"/>
      </p:ext>
    </p:extLst>
  </p:cSld>
  <p:clrMapOvr>
    <a:masterClrMapping/>
  </p:clrMapOvr>
</p:sld>
</file>

<file path=ppt/slides/slide17.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aixaDeTexto 2">
            <a:extLst>
              <a:ext uri="{FF2B5EF4-FFF2-40B4-BE49-F238E27FC236}">
                <ns3:creationId id="{703D52A3-58EB-4538-6C53-19F3DA8F9D42}"/>
              </a:ext>
            </a:extLst>
          </p:cNvPr>
          <p:cNvSpPr txBox="1"/>
          <p:nvPr/>
        </p:nvSpPr>
        <p:spPr>
          <a:xfrm>
            <a:off x="2000132" y="414551"/>
            <a:ext cx="8191735" cy="2246769"/>
          </a:xfrm>
          <a:prstGeom prst="rect">
            <a:avLst/>
          </a:prstGeom>
          <a:noFill/>
        </p:spPr>
        <p:txBody>
          <a:bodyPr wrap="square" rtlCol="0">
            <a:spAutoFit/>
          </a:bodyPr>
          <a:lstStyle/>
          <a:p>
            <a:pPr/>
            <a:r>
              <a:rPr lang="pt-BR" sz="2200" b="1">
                <a:solidFill>
                  <a:srgbClr val="A33D6B"/>
                </a:solidFill>
              </a:rPr>
              <a:t>AUTOAVALIAÇÃO DO ESTUDANTE EXTENSIONISTA</a:t>
            </a:r>
          </a:p>
        </p:txBody>
      </p:sp>
      <p:pic>
        <p:nvPicPr>
          <p:cNvPr id="4" name="Picture 2" descr="Avaliação - ícones de marketing grátis">
            <a:extLst>
              <a:ext uri="{FF2B5EF4-FFF2-40B4-BE49-F238E27FC236}">
                <ns3:creationId id="{021985C0-4E41-5055-CC03-8F59CAA8B6F7}"/>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639218" y="530690"/>
            <a:ext cx="360914" cy="360914"/>
          </a:xfrm>
          <a:prstGeom prst="rect">
            <a:avLst/>
          </a:prstGeom>
          <a:noFill/>
          <a:extLst>
            <a:ext uri="{909E8E84-426E-40DD-AFC4-6F175D3DCCD1}">
              <ns4:hiddenFill>
                <a:solidFill>
                  <a:srgbClr val="FFFFFF"/>
                </a:solidFill>
              </ns4:hiddenFill>
            </a:ext>
          </a:extLst>
        </p:spPr>
      </p:pic>
      <p:cxnSp>
        <p:nvCxnSpPr>
          <p:cNvPr id="5" name="Conector Reto 4">
            <a:extLst>
              <a:ext uri="{FF2B5EF4-FFF2-40B4-BE49-F238E27FC236}">
                <ns3:creationId id="{B612C9E3-65F2-47B3-AB81-5DC256BFCD2F}"/>
              </a:ext>
            </a:extLst>
          </p:cNvPr>
          <p:cNvCxnSpPr>
            <a:cxnSpLocks/>
          </p:cNvCxnSpPr>
          <p:nvPr/>
        </p:nvCxnSpPr>
        <p:spPr>
          <a:xfrm>
            <a:off x="2163770" y="815918"/>
            <a:ext cx="733292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6" name="CaixaDeTexto 5">
            <a:extLst>
              <a:ext uri="{FF2B5EF4-FFF2-40B4-BE49-F238E27FC236}">
                <ns3:creationId id="{100C3EB5-A730-2E72-4441-A7E0AAEF524E}"/>
              </a:ext>
            </a:extLst>
          </p:cNvPr>
          <p:cNvSpPr txBox="1"/>
          <p:nvPr/>
        </p:nvSpPr>
        <p:spPr>
          <a:xfrm>
            <a:off x="2000132" y="2779650"/>
            <a:ext cx="8621111" cy="2923877"/>
          </a:xfrm>
          <a:prstGeom prst="rect">
            <a:avLst/>
          </a:prstGeom>
          <a:noFill/>
        </p:spPr>
        <p:txBody>
          <a:bodyPr wrap="square">
            <a:spAutoFit/>
          </a:bodyPr>
          <a:lstStyle/>
          <a:p>
            <a:pPr>
              <a:buFontTx/>
              <a:buChar char="•"/>
              <a:spcBfr>
                <a:spcPts val="60"/>
              </a:spcBfr>
            </a:pPr>
            <a:r>
              <a:rPr lang="pt-BR" sz="1150" b="1">
                <a:solidFill>
                  <a:srgbClr val="1F497D"/>
                </a:solidFill>
              </a:rPr>
              <a:t>1. Relevância da Temática (Global e Local): </a:t>
            </a:r>
            <a:r>
              <a:rPr lang="pt-BR" sz="1050" b="0">
                <a:solidFill>
                  <a:srgbClr val="262626"/>
                </a:solidFill>
              </a:rPr>
              <a:t>Compreendi na prática que os dilemas globais de IA e ética só se materializam de forma construtiva quando traduzidos para a rotina diária de uma empresa de energia limpa no contexto local.</a:t>
            </a:r>
          </a:p>
          <a:p>
            <a:pPr>
              <a:buFontTx/>
              <a:buChar char="•"/>
              <a:spcBfr>
                <a:spcPts val="80"/>
              </a:spcBfr>
            </a:pPr>
            <a:r>
              <a:rPr lang="pt-BR" sz="1150" b="1">
                <a:solidFill>
                  <a:srgbClr val="1F497D"/>
                </a:solidFill>
              </a:rPr>
              <a:t>2. Formação Acadêmica e Profissional: </a:t>
            </a:r>
            <a:r>
              <a:rPr lang="pt-BR" sz="1050" b="0">
                <a:solidFill>
                  <a:srgbClr val="262626"/>
                </a:solidFill>
              </a:rPr>
              <a:t>Articulação real entre disciplinas técnicas de TI (Arquitetura de Dados, Segurança da Informação e UI/UX) com marcos regulatórios como a LGPD e a Lei 14.300/2022, consolidando uma formação aplicada e cidadã.</a:t>
            </a:r>
          </a:p>
          <a:p>
            <a:pPr>
              <a:buFontTx/>
              <a:buChar char="•"/>
              <a:spcBfr>
                <a:spcPts val="80"/>
              </a:spcBfr>
            </a:pPr>
            <a:r>
              <a:rPr lang="pt-BR" sz="1150" b="1">
                <a:solidFill>
                  <a:srgbClr val="1F497D"/>
                </a:solidFill>
              </a:rPr>
              <a:t>3. Desenvolvimento de Soft Skills: </a:t>
            </a:r>
            <a:r>
              <a:rPr lang="pt-BR" sz="1050" b="0">
                <a:solidFill>
                  <a:srgbClr val="262626"/>
                </a:solidFill>
              </a:rPr>
              <a:t>Desenvolvimento substancial de comunicação assertiva, inteligência emocional e liderança pedagógica para dialogar com profissionais experientes de diferentes setores corporativos.</a:t>
            </a:r>
          </a:p>
          <a:p>
            <a:pPr>
              <a:buFontTx/>
              <a:buChar char="•"/>
              <a:spcBfr>
                <a:spcPts val="80"/>
              </a:spcBfr>
            </a:pPr>
            <a:r>
              <a:rPr lang="pt-BR" sz="1150" b="1">
                <a:solidFill>
                  <a:srgbClr val="1F497D"/>
                </a:solidFill>
              </a:rPr>
              <a:t>4. Conexão e Interação com a Comunidade: </a:t>
            </a:r>
            <a:r>
              <a:rPr lang="pt-BR" sz="1050" b="0">
                <a:solidFill>
                  <a:srgbClr val="262626"/>
                </a:solidFill>
              </a:rPr>
              <a:t>Superação do isolamento estritamente técnico por meio da escuta ativa das dores operacionais dos colaboradores da Performa Energy, co-criando soluções práticas e viáveis.</a:t>
            </a:r>
          </a:p>
          <a:p>
            <a:pPr>
              <a:buFontTx/>
              <a:buChar char="•"/>
              <a:spcBfr>
                <a:spcPts val="80"/>
              </a:spcBfr>
            </a:pPr>
            <a:r>
              <a:rPr lang="pt-BR" sz="1150" b="1">
                <a:solidFill>
                  <a:srgbClr val="1F497D"/>
                </a:solidFill>
              </a:rPr>
              <a:t>5. Empoderamento e Transformação Social: </a:t>
            </a:r>
            <a:r>
              <a:rPr lang="pt-BR" sz="1050" b="0">
                <a:solidFill>
                  <a:srgbClr val="262626"/>
                </a:solidFill>
              </a:rPr>
              <a:t>Reconhecimento do meu papel como agente de transformação social, apto a disseminar a tecnologia para a sustentabilidade e a justiça energética com responsabilidade ética.</a:t>
            </a:r>
          </a:p>
        </p:txBody>
      </p:sp>
      <p:sp>
        <p:nvSpPr>
          <p:cNvPr id="8" name="CaixaDeTexto 7">
            <a:extLst>
              <a:ext uri="{FF2B5EF4-FFF2-40B4-BE49-F238E27FC236}">
                <ns3:creationId id="{9B2968B2-7EAB-B20A-A013-5E7FDC69125D}"/>
              </a:ext>
            </a:extLst>
          </p:cNvPr>
          <p:cNvSpPr txBox="1"/>
          <p:nvPr/>
        </p:nvSpPr>
        <p:spPr>
          <a:xfrm>
            <a:off x="2000132" y="2524406"/>
            <a:ext cx="6097464" cy="392159"/>
          </a:xfrm>
          <a:prstGeom prst="rect">
            <a:avLst/>
          </a:prstGeom>
          <a:noFill/>
        </p:spPr>
        <p:txBody>
          <a:bodyPr wrap="square">
            <a:spAutoFit/>
          </a:bodyPr>
          <a:lstStyle/>
          <a:p>
            <a:pPr/>
            <a:r>
              <a:rPr lang="pt-BR" sz="1500" b="1">
                <a:solidFill>
                  <a:schemeClr val="accent1"/>
                </a:solidFill>
              </a:rPr>
              <a:t>Reflexão Crítica Estruturada nas Cinco Dimensões Formativas Oficiais da Faculdade Unyleya</a:t>
            </a:r>
          </a:p>
        </p:txBody>
      </p:sp>
    </p:spTree>
    <p:extLst>
      <p:ext uri="{BB962C8B-B14F-4D97-AF65-F5344CB8AC3E}">
        <ns5:creationId val="2339280283"/>
      </p:ext>
    </p:extLst>
  </p:cSld>
  <p:clrMapOvr>
    <a:masterClrMapping/>
  </p:clrMapOvr>
</p:sld>
</file>

<file path=ppt/slides/slide18.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aixaDeTexto 2">
            <a:extLst>
              <a:ext uri="{FF2B5EF4-FFF2-40B4-BE49-F238E27FC236}">
                <ns3:creationId id="{703D52A3-58EB-4538-6C53-19F3DA8F9D42}"/>
              </a:ext>
            </a:extLst>
          </p:cNvPr>
          <p:cNvSpPr txBox="1"/>
          <p:nvPr/>
        </p:nvSpPr>
        <p:spPr>
          <a:xfrm>
            <a:off x="2000132" y="414551"/>
            <a:ext cx="8911122" cy="2862322"/>
          </a:xfrm>
          <a:prstGeom prst="rect">
            <a:avLst/>
          </a:prstGeom>
          <a:noFill/>
        </p:spPr>
        <p:txBody>
          <a:bodyPr wrap="square" rtlCol="0">
            <a:spAutoFit/>
          </a:bodyPr>
          <a:lstStyle/>
          <a:p>
            <a:pPr/>
            <a:r>
              <a:rPr lang="pt-BR" sz="2200" b="1">
                <a:solidFill>
                  <a:srgbClr val="A33D6B"/>
                </a:solidFill>
              </a:rPr>
              <a:t>AVALIAÇÃO DA COMUNIDADE ATENDIDA</a:t>
            </a:r>
          </a:p>
        </p:txBody>
      </p:sp>
      <p:pic>
        <p:nvPicPr>
          <p:cNvPr id="4" name="Picture 2" descr="Avaliação - ícones de marketing grátis">
            <a:extLst>
              <a:ext uri="{FF2B5EF4-FFF2-40B4-BE49-F238E27FC236}">
                <ns3:creationId id="{021985C0-4E41-5055-CC03-8F59CAA8B6F7}"/>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639218" y="530690"/>
            <a:ext cx="360914" cy="360914"/>
          </a:xfrm>
          <a:prstGeom prst="rect">
            <a:avLst/>
          </a:prstGeom>
          <a:noFill/>
          <a:extLst>
            <a:ext uri="{909E8E84-426E-40DD-AFC4-6F175D3DCCD1}">
              <ns4:hiddenFill>
                <a:solidFill>
                  <a:srgbClr val="FFFFFF"/>
                </a:solidFill>
              </ns4:hiddenFill>
            </a:ext>
          </a:extLst>
        </p:spPr>
      </p:pic>
      <p:cxnSp>
        <p:nvCxnSpPr>
          <p:cNvPr id="5" name="Conector Reto 4">
            <a:extLst>
              <a:ext uri="{FF2B5EF4-FFF2-40B4-BE49-F238E27FC236}">
                <ns3:creationId id="{B612C9E3-65F2-47B3-AB81-5DC256BFCD2F}"/>
              </a:ext>
            </a:extLst>
          </p:cNvPr>
          <p:cNvCxnSpPr>
            <a:cxnSpLocks/>
          </p:cNvCxnSpPr>
          <p:nvPr/>
        </p:nvCxnSpPr>
        <p:spPr>
          <a:xfrm>
            <a:off x="2163770" y="815918"/>
            <a:ext cx="733292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sp>
        <p:nvSpPr>
          <p:cNvPr id="2" name="CaixaDeTexto 1">
            <a:extLst>
              <a:ext uri="{FF2B5EF4-FFF2-40B4-BE49-F238E27FC236}">
                <ns3:creationId id="{97B3EF7D-7363-ACD0-1C9C-445212C3F134}"/>
              </a:ext>
            </a:extLst>
          </p:cNvPr>
          <p:cNvSpPr txBox="1"/>
          <p:nvPr/>
        </p:nvSpPr>
        <p:spPr>
          <a:xfrm>
            <a:off x="1819674" y="3757786"/>
            <a:ext cx="8819017" cy="2185214"/>
          </a:xfrm>
          <a:prstGeom prst="rect">
            <a:avLst/>
          </a:prstGeom>
          <a:noFill/>
        </p:spPr>
        <p:txBody>
          <a:bodyPr wrap="square">
            <a:spAutoFit/>
          </a:bodyPr>
          <a:lstStyle/>
          <a:p>
            <a:pPr/>
            <a:r>
              <a:rPr lang="pt-BR" sz="1150" b="1">
                <a:solidFill>
                  <a:srgbClr val="1F497D"/>
                </a:solidFill>
              </a:rPr>
              <a:t>MÉTRICAS QUANTITATIVAS APURADAS (Escala Likert de 1 a 5 — N=14 colaboradores):</a:t>
            </a:r>
          </a:p>
          <a:p>
            <a:pPr>
              <a:spcBfr>
                <a:spcPts val="60"/>
              </a:spcBfr>
            </a:pPr>
            <a:r>
              <a:rPr lang="pt-BR" sz="1100" b="1">
                <a:solidFill>
                  <a:srgbClr val="0070C0"/>
                </a:solidFill>
              </a:rPr>
              <a:t>• Relevância Temática: 4.9/5.0  |  • Usabilidade do Hub Figma: 4.8/5.0  |  • Segurança e LGPD: 4.9/5.0  |  • Didática do Aluno: 5.0/5.0  |  • Impacto Operacional: 4.9/5.0</a:t>
            </a:r>
          </a:p>
          <a:p>
            <a:pPr>
              <a:spcBfr>
                <a:spcPts val="120"/>
              </a:spcBfr>
            </a:pPr>
            <a:r>
              <a:rPr lang="pt-BR" sz="1150" b="1">
                <a:solidFill>
                  <a:srgbClr val="1F497D"/>
                </a:solidFill>
              </a:rPr>
              <a:t>DEPOIMENTOS QUALITATIVOS ESTRUTURADOS (Anonimizados por Função):</a:t>
            </a:r>
          </a:p>
          <a:p>
            <a:pPr>
              <a:buFontTx/>
              <a:buChar char="•"/>
              <a:spcBfr>
                <a:spcPts val="60"/>
              </a:spcBfr>
            </a:pPr>
            <a:r>
              <a:rPr lang="pt-BR" sz="1100" b="1">
                <a:solidFill>
                  <a:srgbClr val="262626"/>
                </a:solidFill>
              </a:rPr>
              <a:t>Analista de Faturamento: </a:t>
            </a:r>
            <a:r>
              <a:rPr lang="pt-BR" sz="1050" b="0" i="1">
                <a:solidFill>
                  <a:srgbClr val="404040"/>
                </a:solidFill>
              </a:rPr>
              <a:t>«Recebemos dezenas de faturas diárias e usávamos ferramentas de IA com receio de expor dados de clientes ou errar cálculos. A oficina e o Hub interativo no Figma nos deram um procedimento padrão seguro para acelerar a conferência sem riscos jurídicos para a Performa Energy.»</a:t>
            </a:r>
          </a:p>
          <a:p>
            <a:pPr>
              <a:buFontTx/>
              <a:buChar char="•"/>
              <a:spcBfr>
                <a:spcPts val="80"/>
              </a:spcBfr>
            </a:pPr>
            <a:r>
              <a:rPr lang="pt-BR" sz="1100" b="1">
                <a:solidFill>
                  <a:srgbClr val="262626"/>
                </a:solidFill>
              </a:rPr>
              <a:t>Consultor Comercial: </a:t>
            </a:r>
            <a:r>
              <a:rPr lang="pt-BR" sz="1050" b="0" i="1">
                <a:solidFill>
                  <a:srgbClr val="404040"/>
                </a:solidFill>
              </a:rPr>
              <a:t>«Compreender que a IA alucina regras regulatórias da ANEEL nos alertou para nunca enviar propostas aos clientes sem a dupla checagem humana. O checklist de prompts seguros virou nosso padrão diário.»</a:t>
            </a:r>
          </a:p>
          <a:p>
            <a:pPr>
              <a:buFontTx/>
              <a:buChar char="•"/>
              <a:spcBfr>
                <a:spcPts val="80"/>
              </a:spcBfr>
            </a:pPr>
            <a:r>
              <a:rPr lang="pt-BR" sz="1100" b="1">
                <a:solidFill>
                  <a:srgbClr val="262626"/>
                </a:solidFill>
              </a:rPr>
              <a:t>Coordenador de Sustentabilidade: </a:t>
            </a:r>
            <a:r>
              <a:rPr lang="pt-BR" sz="1050" b="0" i="1">
                <a:solidFill>
                  <a:srgbClr val="404040"/>
                </a:solidFill>
              </a:rPr>
              <a:t>«A vinculação direta entre o propósito de energia limpa (ODS 7 e 13) e o uso ético da tecnologia (ODS 9) elevou o nível de maturidade da equipe. O discente demonstrou domínio acadêmico e liderança exemplar.»</a:t>
            </a:r>
          </a:p>
        </p:txBody>
      </p:sp>
      <p:sp>
        <p:nvSpPr>
          <p:cNvPr id="7" name="CaixaDeTexto 6">
            <a:extLst>
              <a:ext uri="{FF2B5EF4-FFF2-40B4-BE49-F238E27FC236}">
                <ns3:creationId id="{8F60BEFB-9A34-4B07-D03B-5BC3F634D385}"/>
              </a:ext>
            </a:extLst>
          </p:cNvPr>
          <p:cNvSpPr txBox="1"/>
          <p:nvPr/>
        </p:nvSpPr>
        <p:spPr>
          <a:xfrm>
            <a:off x="1819674" y="3422444"/>
            <a:ext cx="6097464" cy="392159"/>
          </a:xfrm>
          <a:prstGeom prst="rect">
            <a:avLst/>
          </a:prstGeom>
          <a:noFill/>
        </p:spPr>
        <p:txBody>
          <a:bodyPr wrap="square">
            <a:spAutoFit/>
          </a:bodyPr>
          <a:lstStyle/>
          <a:p>
            <a:pPr/>
            <a:r>
              <a:rPr lang="pt-BR" sz="1400" b="1">
                <a:solidFill>
                  <a:schemeClr val="accent1"/>
                </a:solidFill>
              </a:rPr>
              <a:t>Resultados Quantitativos (Escala Likert) e Depoimentos dos Colaboradores da Performa Energy</a:t>
            </a:r>
          </a:p>
        </p:txBody>
      </p:sp>
    </p:spTree>
    <p:extLst>
      <p:ext uri="{BB962C8B-B14F-4D97-AF65-F5344CB8AC3E}">
        <ns5:creationId val="1007076599"/>
      </p:ext>
    </p:extLst>
  </p:cSld>
  <p:clrMapOvr>
    <a:masterClrMapping/>
  </p:clrMapOvr>
</p:sld>
</file>

<file path=ppt/slides/slide19.xml><?xml version="1.0" encoding="utf-8"?>
<p:sld xmlns:a="http://schemas.openxmlformats.org/drawingml/2006/main" xmlns:ns3="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aixaDeTexto 2">
            <a:extLst>
              <a:ext uri="{FF2B5EF4-FFF2-40B4-BE49-F238E27FC236}">
                <ns3:creationId id="{703D52A3-58EB-4538-6C53-19F3DA8F9D42}"/>
              </a:ext>
            </a:extLst>
          </p:cNvPr>
          <p:cNvSpPr txBox="1"/>
          <p:nvPr/>
        </p:nvSpPr>
        <p:spPr>
          <a:xfrm>
            <a:off x="2185751" y="370070"/>
            <a:ext cx="8191735" cy="461665"/>
          </a:xfrm>
          <a:prstGeom prst="rect">
            <a:avLst/>
          </a:prstGeom>
          <a:noFill/>
        </p:spPr>
        <p:txBody>
          <a:bodyPr wrap="square" rtlCol="0">
            <a:spAutoFit/>
          </a:bodyPr>
          <a:lstStyle/>
          <a:p>
            <a:pPr/>
            <a:r>
              <a:rPr lang="pt-BR" sz="2400" b="1">
                <a:solidFill>
                  <a:srgbClr val="A33D6B"/>
                </a:solidFill>
              </a:rPr>
              <a:t>REFERÊNCIAS BIBLIOGRÁFICAS</a:t>
            </a:r>
          </a:p>
        </p:txBody>
      </p:sp>
      <p:cxnSp>
        <p:nvCxnSpPr>
          <p:cNvPr id="5" name="Conector Reto 4">
            <a:extLst>
              <a:ext uri="{FF2B5EF4-FFF2-40B4-BE49-F238E27FC236}">
                <ns3:creationId id="{B612C9E3-65F2-47B3-AB81-5DC256BFCD2F}"/>
              </a:ext>
            </a:extLst>
          </p:cNvPr>
          <p:cNvCxnSpPr>
            <a:cxnSpLocks/>
          </p:cNvCxnSpPr>
          <p:nvPr/>
        </p:nvCxnSpPr>
        <p:spPr>
          <a:xfrm>
            <a:off x="2106618" y="815918"/>
            <a:ext cx="7332927" cy="0"/>
          </a:xfrm>
          <a:prstGeom prst="line">
            <a:avLst/>
          </a:prstGeom>
          <a:ln>
            <a:solidFill>
              <a:srgbClr val="A33D6B"/>
            </a:solidFill>
          </a:ln>
        </p:spPr>
        <p:style>
          <a:lnRef idx="1">
            <a:schemeClr val="accent1"/>
          </a:lnRef>
          <a:fillRef idx="0">
            <a:schemeClr val="accent1"/>
          </a:fillRef>
          <a:effectRef idx="0">
            <a:schemeClr val="accent1"/>
          </a:effectRef>
          <a:fontRef idx="minor">
            <a:schemeClr val="tx1"/>
          </a:fontRef>
        </p:style>
      </p:cxnSp>
      <p:pic>
        <p:nvPicPr>
          <p:cNvPr id="2050" name="Picture 2" descr="Desenho De Pilha De Livros">
            <a:extLst>
              <a:ext uri="{FF2B5EF4-FFF2-40B4-BE49-F238E27FC236}">
                <ns3:creationId id="{99F1FC44-3A4D-BB76-37F5-A52B72C9C9D7}"/>
              </a:ext>
            </a:extLst>
          </p:cNvPr>
          <p:cNvPicPr>
            <a:picLocks noChangeAspect="1" noChangeArrowheads="1"/>
          </p:cNvPicPr>
          <p:nvPr/>
        </p:nvPicPr>
        <p:blipFill>
          <a:blip r:embed="rId3">
            <a:extLst>
              <a:ext uri="{28A0092B-C50C-407E-A947-70E740481C1C}">
                <ns4:useLocalDpi val="0"/>
              </a:ext>
            </a:extLst>
          </a:blip>
          <a:srcRect/>
          <a:stretch>
            <a:fillRect/>
          </a:stretch>
        </p:blipFill>
        <p:spPr bwMode="auto">
          <a:xfrm>
            <a:off x="1701571" y="413906"/>
            <a:ext cx="533398" cy="417829"/>
          </a:xfrm>
          <a:prstGeom prst="rect">
            <a:avLst/>
          </a:prstGeom>
          <a:noFill/>
          <a:extLst>
            <a:ext uri="{909E8E84-426E-40DD-AFC4-6F175D3DCCD1}">
              <ns4:hiddenFill>
                <a:solidFill>
                  <a:srgbClr val="FFFFFF"/>
                </a:solidFill>
              </ns4:hiddenFill>
            </a:ext>
          </a:extLst>
        </p:spPr>
      </p:pic>
      <p:sp>
        <p:nvSpPr>
          <p:cNvPr id="7" name="CaixaDeTexto 6">
            <a:extLst>
              <a:ext uri="{FF2B5EF4-FFF2-40B4-BE49-F238E27FC236}">
                <ns3:creationId id="{B60DCE85-AC46-13DC-617A-BF4BC1ACBD2A}"/>
              </a:ext>
            </a:extLst>
          </p:cNvPr>
          <p:cNvSpPr txBox="1"/>
          <p:nvPr/>
        </p:nvSpPr>
        <p:spPr>
          <a:xfrm>
            <a:off x="1229187" y="1033692"/>
            <a:ext cx="9591673" cy="400110"/>
          </a:xfrm>
          <a:prstGeom prst="rect">
            <a:avLst/>
          </a:prstGeom>
          <a:noFill/>
        </p:spPr>
        <p:txBody>
          <a:bodyPr wrap="square">
            <a:spAutoFit/>
          </a:bodyPr>
          <a:lstStyle/>
          <a:p>
            <a:pPr/>
            <a:r>
              <a:rPr lang="pt-BR" sz="1500" b="1">
                <a:solidFill>
                  <a:schemeClr val="accent1"/>
                </a:solidFill>
              </a:rPr>
              <a:t>Normatização Rigorosa Conforme ABNT NBR 6023</a:t>
            </a:r>
          </a:p>
        </p:txBody>
      </p:sp>
      <p:sp>
        <p:nvSpPr>
          <p:cNvPr id="2" name="CaixaDeTexto 1">
            <a:extLst>
              <a:ext uri="{FF2B5EF4-FFF2-40B4-BE49-F238E27FC236}">
                <ns3:creationId id="{5F158A4C-C7AD-8905-59B3-8B99C78F4310}"/>
              </a:ext>
            </a:extLst>
          </p:cNvPr>
          <p:cNvSpPr txBox="1"/>
          <p:nvPr/>
        </p:nvSpPr>
        <p:spPr>
          <a:xfrm>
            <a:off x="1906724" y="1477638"/>
            <a:ext cx="9321053" cy="4533421"/>
          </a:xfrm>
          <a:prstGeom prst="rect">
            <a:avLst/>
          </a:prstGeom>
          <a:noFill/>
        </p:spPr>
        <p:txBody>
          <a:bodyPr wrap="square">
            <a:spAutoFit/>
          </a:bodyPr>
          <a:lstStyle/>
          <a:p>
            <a:pPr/>
            <a:r>
              <a:rPr lang="pt-BR" sz="950" b="0">
                <a:solidFill>
                  <a:srgbClr val="262626"/>
                </a:solidFill>
              </a:rPr>
              <a:t>AGÊNCIA NACIONAL DE ENERGIA ELÉTRICA (Brasil). Resolução Normativa ANEEL nº 1.000, de 7 de dezembro de 2021. Regras de Prestação do Serviço Público de Distribuição de Energia Elétrica. Diário Oficial da União: Brasília, DF, 20 dez. 2021.</a:t>
            </a:r>
          </a:p>
          <a:p>
            <a:pPr>
              <a:spcBfr>
                <a:spcPts val="60"/>
              </a:spcBfr>
            </a:pPr>
            <a:r>
              <a:rPr lang="pt-BR" sz="950" b="0">
                <a:solidFill>
                  <a:srgbClr val="262626"/>
                </a:solidFill>
              </a:rPr>
              <a:t>BRASIL. Ministério da Ciência, Tecnologia e Inovações. Estratégia Brasileira de Inteligência Artificial (EBIA). Brasília, DF: MCTI, 2021. 76 p.</a:t>
            </a:r>
          </a:p>
          <a:p>
            <a:pPr>
              <a:spcBfr>
                <a:spcPts val="60"/>
              </a:spcBfr>
            </a:pPr>
            <a:r>
              <a:rPr lang="pt-BR" sz="950" b="0">
                <a:solidFill>
                  <a:srgbClr val="262626"/>
                </a:solidFill>
              </a:rPr>
              <a:t>BRASIL. Ministério da Educação. Conselho Nacional de Educação. Resolução nº 7, de 18 de dezembro de 2018. Diretrizes para a Extensão na Educação Superior Brasileira. Diário Oficial da União: Brasília, DF, 19 dez. 2018.</a:t>
            </a:r>
          </a:p>
          <a:p>
            <a:pPr>
              <a:spcBfr>
                <a:spcPts val="60"/>
              </a:spcBfr>
            </a:pPr>
            <a:r>
              <a:rPr lang="pt-BR" sz="950" b="0">
                <a:solidFill>
                  <a:srgbClr val="262626"/>
                </a:solidFill>
              </a:rPr>
              <a:t>BRASIL. Presidência da República. Lei nº 13.709, de 14 de agosto de 2018. Lei Geral de Proteção de Dados Pessoais (LGPD). Diário Oficial da União: Brasília, DF, 15 ago. 2018.</a:t>
            </a:r>
          </a:p>
          <a:p>
            <a:pPr>
              <a:spcBfr>
                <a:spcPts val="60"/>
              </a:spcBfr>
            </a:pPr>
            <a:r>
              <a:rPr lang="pt-BR" sz="950" b="0">
                <a:solidFill>
                  <a:srgbClr val="262626"/>
                </a:solidFill>
              </a:rPr>
              <a:t>BRASIL. Presidência da República. Lei nº 14.300, de 6 de janeiro de 2022. Institui o marco legal da microgeração e minigeração distribuída. Diário Oficial da União: Brasília, DF, 7 jan. 2022.</a:t>
            </a:r>
          </a:p>
          <a:p>
            <a:pPr>
              <a:spcBfr>
                <a:spcPts val="60"/>
              </a:spcBfr>
            </a:pPr>
            <a:r>
              <a:rPr lang="pt-BR" sz="950" b="0">
                <a:solidFill>
                  <a:srgbClr val="262626"/>
                </a:solidFill>
              </a:rPr>
              <a:t>FLORIDI, Luciano. The ethics of artificial intelligence: principles, challenges, and opportunities. Oxford: Oxford University Press, 2023. 272 p.</a:t>
            </a:r>
          </a:p>
          <a:p>
            <a:pPr>
              <a:spcBfr>
                <a:spcPts val="60"/>
              </a:spcBfr>
            </a:pPr>
            <a:r>
              <a:rPr lang="pt-BR" sz="950" b="0">
                <a:solidFill>
                  <a:srgbClr val="262626"/>
                </a:solidFill>
              </a:rPr>
              <a:t>KNOWLES, Malcolm S.; HOLTON III, E. F.; SWANSON, R. A. Aprendizagem de resultados: andragogia corporativa. Rio de Janeiro: Elsevier, 2009. 336 p.</a:t>
            </a:r>
          </a:p>
          <a:p>
            <a:pPr>
              <a:spcBfr>
                <a:spcPts val="60"/>
              </a:spcBfr>
            </a:pPr>
            <a:r>
              <a:rPr lang="pt-BR" sz="950" b="0">
                <a:solidFill>
                  <a:srgbClr val="262626"/>
                </a:solidFill>
              </a:rPr>
              <a:t>MORAN, José; BACICH, Lilian (org.). Metodologias ativas para uma educação inovadora. Porto Alegre: Penso, 2018. 238 p.</a:t>
            </a:r>
          </a:p>
          <a:p>
            <a:pPr>
              <a:spcBfr>
                <a:spcPts val="60"/>
              </a:spcBfr>
            </a:pPr>
            <a:r>
              <a:rPr lang="pt-BR" sz="950" b="0">
                <a:solidFill>
                  <a:srgbClr val="262626"/>
                </a:solidFill>
              </a:rPr>
              <a:t>O'NEIL, Cathy. Armas de destruição matemática: como o big data aumenta a desigualdade e ameaça a democracia. Santo André: Editora Rua do Sabão, 2020. 336 p.</a:t>
            </a:r>
          </a:p>
          <a:p>
            <a:pPr>
              <a:spcBfr>
                <a:spcPts val="60"/>
              </a:spcBfr>
            </a:pPr>
            <a:r>
              <a:rPr lang="pt-BR" sz="950" b="0">
                <a:solidFill>
                  <a:srgbClr val="262626"/>
                </a:solidFill>
              </a:rPr>
              <a:t>ORGANIZAÇÃO DAS NAÇÕES UNIDAS. Transformando nosso mundo: a Agenda 2030 para o Desenvolvimento Sustentável. Nova York: ONU, 2015.</a:t>
            </a:r>
          </a:p>
          <a:p>
            <a:pPr>
              <a:spcBfr>
                <a:spcPts val="60"/>
              </a:spcBfr>
            </a:pPr>
            <a:r>
              <a:rPr lang="pt-BR" sz="950" b="0">
                <a:solidFill>
                  <a:srgbClr val="262626"/>
                </a:solidFill>
              </a:rPr>
              <a:t>RUSSELL, Stuart; NORVIG, Peter. Inteligência artificial: uma abordagem moderna. 4. ed. Rio de Janeiro: GEN LTC, 2022. 1152 p.</a:t>
            </a:r>
          </a:p>
          <a:p>
            <a:pPr>
              <a:spcBfr>
                <a:spcPts val="60"/>
              </a:spcBfr>
            </a:pPr>
            <a:r>
              <a:rPr lang="pt-BR" sz="950" b="0">
                <a:solidFill>
                  <a:srgbClr val="262626"/>
                </a:solidFill>
              </a:rPr>
              <a:t>UNESCO. Recomendação sobre a ética da inteligência artificial. Paris: UNESCO, 2022. 44 p.</a:t>
            </a:r>
          </a:p>
          <a:p>
            <a:pPr>
              <a:spcBfr>
                <a:spcPts val="60"/>
              </a:spcBfr>
            </a:pPr>
            <a:r>
              <a:rPr lang="pt-BR" sz="950" b="0">
                <a:solidFill>
                  <a:srgbClr val="262626"/>
                </a:solidFill>
              </a:rPr>
              <a:t>ZUBOFF, Shoshana. A era do capitalismo de vigilância: a luta por um futuro humano na nova fronteira do poder. Rio de Janeiro: Intrínseca, 2020. 800 p.</a:t>
            </a:r>
          </a:p>
        </p:txBody>
      </p:sp>
    </p:spTree>
    <p:extLst>
      <p:ext uri="{BB962C8B-B14F-4D97-AF65-F5344CB8AC3E}">
        <ns5:creationId val="1739649973"/>
      </p:ext>
    </p:extLst>
  </p:cSld>
  <p:clrMapOvr>
    <a:masterClrMapping/>
  </p:clrMapOvr>
</p:sld>
</file>

<file path=ppt/slides/slide20.xml><?xml version="1.0" encoding="utf-8"?>
<p:sld xmlns:a="http://schemas.openxmlformats.org/drawingml/2006/main" xmlns:ns2="http://schemas.microsoft.com/office/drawing/2014/main" xmlns:ns4="http://schemas.microsoft.com/office/drawing/2010/main" xmlns:ns5="http://schemas.microsoft.com/office/powerpoint/2010/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CaixaDeTexto 3">
            <a:extLst>
              <a:ext uri="{FF2B5EF4-FFF2-40B4-BE49-F238E27FC236}">
                <ns2:creationId id="{2F8B6E76-414E-F43E-9114-22D32F487749}"/>
              </a:ext>
            </a:extLst>
          </p:cNvPr>
          <p:cNvSpPr txBox="1"/>
          <p:nvPr/>
        </p:nvSpPr>
        <p:spPr>
          <a:xfrm>
            <a:off x="640080" y="3554361"/>
            <a:ext cx="4243589" cy="2639206"/>
          </a:xfrm>
          <a:prstGeom prst="rect">
            <a:avLst/>
          </a:prstGeom>
        </p:spPr>
        <p:txBody>
          <a:bodyPr vert="horz" lIns="91440" tIns="45720" rIns="91440" bIns="45720" rtlCol="0">
            <a:normAutofit/>
          </a:bodyPr>
          <a:lstStyle/>
          <a:p>
            <a:pPr algn="ctr"/>
            <a:r>
              <a:rPr lang="pt-BR" sz="1800" b="1">
                <a:solidFill>
                  <a:srgbClr val="1F497D"/>
                </a:solidFill>
              </a:rPr>
              <a:t>PROJETO DE EXTENSÃO UNIVERSITÁRIA — APEX V (TI)</a:t>
            </a:r>
          </a:p>
          <a:p>
            <a:pPr algn="ctr">
              <a:spcBfr>
                <a:spcPts val="150"/>
              </a:spcBfr>
            </a:pPr>
            <a:r>
              <a:rPr lang="pt-BR" sz="1400" b="0">
                <a:solidFill>
                  <a:srgbClr val="595959"/>
                </a:solidFill>
              </a:rPr>
              <a:t>Faculdade Unyleya — Educação Superior a Distância</a:t>
            </a:r>
          </a:p>
          <a:p>
            <a:pPr algn="ctr">
              <a:spcBfr>
                <a:spcPts val="300"/>
              </a:spcBfr>
            </a:pPr>
            <a:r>
              <a:rPr lang="pt-BR" sz="1400" b="1">
                <a:solidFill>
                  <a:srgbClr val="A33D6B"/>
                </a:solidFill>
              </a:rPr>
              <a:t>Agradecimentos à Performa Energy:</a:t>
            </a:r>
          </a:p>
          <a:p>
            <a:pPr algn="ctr">
              <a:spcBfr>
                <a:spcPts val="150"/>
              </a:spcBfr>
            </a:pPr>
            <a:r>
              <a:rPr lang="pt-BR" sz="1150" b="0">
                <a:solidFill>
                  <a:srgbClr val="333333"/>
                </a:solidFill>
              </a:rPr>
              <a:t>Pela acolhida corporativa exemplar, abertura das equipes técnicas e compromisso contínuo com a sustentabilidade, a transição energética limpa e a inovação tecnológica responsável.</a:t>
            </a:r>
          </a:p>
          <a:p>
            <a:pPr algn="ctr">
              <a:spcBfr>
                <a:spcPts val="250"/>
              </a:spcBfr>
            </a:pPr>
            <a:r>
              <a:rPr lang="pt-BR" sz="1300" b="1">
                <a:solidFill>
                  <a:srgbClr val="1F497D"/>
                </a:solidFill>
              </a:rPr>
              <a:t>Agradecimentos à Orientação Acadêmica:</a:t>
            </a:r>
          </a:p>
          <a:p>
            <a:pPr algn="ctr">
              <a:spcBfr>
                <a:spcPts val="150"/>
              </a:spcBfr>
            </a:pPr>
            <a:r>
              <a:rPr lang="pt-BR" sz="1150" b="0">
                <a:solidFill>
                  <a:srgbClr val="333333"/>
                </a:solidFill>
              </a:rPr>
              <a:t>À Profa. Dra. Carla Corrêa Tavares dos Reis, pela condução pedagógica e fortalecimento da formação cidadã dos estudantes de Tecnologia da Informação.</a:t>
            </a:r>
          </a:p>
          <a:p>
            <a:pPr algn="ctr">
              <a:spcBfr>
                <a:spcPts val="300"/>
              </a:spcBfr>
            </a:pPr>
            <a:r>
              <a:rPr lang="pt-BR" sz="1300" b="1" i="1">
                <a:solidFill>
                  <a:srgbClr val="0070C0"/>
                </a:solidFill>
              </a:rPr>
              <a:t>«Tecnologia a serviço da sustentabilidade, da ética e da cidadania.»</a:t>
            </a:r>
          </a:p>
          <a:p>
            <a:pPr algn="ctr">
              <a:spcBfr>
                <a:spcPts val="200"/>
              </a:spcBfr>
            </a:pPr>
            <a:r>
              <a:rPr lang="pt-BR" sz="1200" b="1">
                <a:solidFill>
                  <a:srgbClr val="1F497D"/>
                </a:solidFill>
              </a:rPr>
              <a:t>Rafael S. — Discente Extensionista | Ano Letivo: 2026</a:t>
            </a:r>
          </a:p>
        </p:txBody>
      </p:sp>
      <p:pic>
        <p:nvPicPr>
          <p:cNvPr id="2" name="Imagem 1">
            <a:extLst>
              <a:ext uri="{FF2B5EF4-FFF2-40B4-BE49-F238E27FC236}">
                <ns2:creationId id="{37CF93EF-D08A-911B-1F09-9FD905E6C16A}"/>
              </a:ext>
            </a:extLst>
          </p:cNvPr>
          <p:cNvPicPr>
            <a:picLocks noChangeAspect="1"/>
          </p:cNvPicPr>
          <p:nvPr/>
        </p:nvPicPr>
        <p:blipFill rotWithShape="1">
          <a:blip r:embed="rId2" cstate="print">
            <a:extLst>
              <a:ext uri="{28A0092B-C50C-407E-A947-70E740481C1C}">
                <ns4:useLocalDpi val="0"/>
              </a:ext>
            </a:extLst>
          </a:blip>
          <a:srcRect l="27997" r="15583"/>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solidFill>
            <a:srgbClr val="632A40"/>
          </a:solidFill>
        </p:spPr>
      </p:pic>
    </p:spTree>
    <p:extLst>
      <p:ext uri="{BB962C8B-B14F-4D97-AF65-F5344CB8AC3E}">
        <ns5:creationId val="3303264683"/>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2249846024720046BD2E712524C1F2DB" ma:contentTypeVersion="15" ma:contentTypeDescription="Crie um novo documento." ma:contentTypeScope="" ma:versionID="e2c7755ddbb4f29792008489fd68582e">
  <xsd:schema xmlns:xsd="http://www.w3.org/2001/XMLSchema" xmlns:xs="http://www.w3.org/2001/XMLSchema" xmlns:p="http://schemas.microsoft.com/office/2006/metadata/properties" xmlns:ns2="b03615c1-276c-4180-98cc-4a8d624f51a4" xmlns:ns3="f16d092d-1424-4908-8336-7a92cebe73a8" targetNamespace="http://schemas.microsoft.com/office/2006/metadata/properties" ma:root="true" ma:fieldsID="cb66968ff53bf21d1934af598096bbd3" ns2:_="" ns3:_="">
    <xsd:import namespace="b03615c1-276c-4180-98cc-4a8d624f51a4"/>
    <xsd:import namespace="f16d092d-1424-4908-8336-7a92cebe73a8"/>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03615c1-276c-4180-98cc-4a8d624f51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Marcações de imagem" ma:readOnly="false" ma:fieldId="{5cf76f15-5ced-4ddc-b409-7134ff3c332f}" ma:taxonomyMulti="true" ma:sspId="0f117446-0fc9-4e7c-95f8-a6ac69b74b5e" ma:termSetId="09814cd3-568e-fe90-9814-8d621ff8fb84" ma:anchorId="fba54fb3-c3e1-fe81-a776-ca4b69148c4d" ma:open="true" ma:isKeyword="false">
      <xsd:complexType>
        <xsd:sequence>
          <xsd:element ref="pc:Terms" minOccurs="0" maxOccurs="1"/>
        </xsd:sequence>
      </xsd:complex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EventHashCode" ma:index="21" nillable="true" ma:displayName="MediaServiceEventHashCode" ma:hidden="true" ma:internalName="MediaServiceEventHashCode" ma:readOnly="true">
      <xsd:simpleType>
        <xsd:restriction base="dms:Text"/>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16d092d-1424-4908-8336-7a92cebe73a8" elementFormDefault="qualified">
    <xsd:import namespace="http://schemas.microsoft.com/office/2006/documentManagement/types"/>
    <xsd:import namespace="http://schemas.microsoft.com/office/infopath/2007/PartnerControls"/>
    <xsd:element name="SharedWithUsers" ma:index="12" nillable="true" ma:displayName="Compartilhado com"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Detalhes de Compartilhado Com" ma:internalName="SharedWithDetails" ma:readOnly="true">
      <xsd:simpleType>
        <xsd:restriction base="dms:Note">
          <xsd:maxLength value="255"/>
        </xsd:restriction>
      </xsd:simpleType>
    </xsd:element>
    <xsd:element name="TaxCatchAll" ma:index="17" nillable="true" ma:displayName="Taxonomy Catch All Column" ma:hidden="true" ma:list="{ede2100d-a632-4c49-aa67-7164432d07d3}" ma:internalName="TaxCatchAll" ma:showField="CatchAllData" ma:web="f16d092d-1424-4908-8336-7a92cebe73a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03615c1-276c-4180-98cc-4a8d624f51a4">
      <Terms xmlns="http://schemas.microsoft.com/office/infopath/2007/PartnerControls"/>
    </lcf76f155ced4ddcb4097134ff3c332f>
    <TaxCatchAll xmlns="f16d092d-1424-4908-8336-7a92cebe73a8" xsi:nil="true"/>
  </documentManagement>
</p:properties>
</file>

<file path=customXml/itemProps1.xml><?xml version="1.0" encoding="utf-8"?>
<ds:datastoreItem xmlns:ds="http://schemas.openxmlformats.org/officeDocument/2006/customXml" ds:itemID="{623F6E7E-03CF-4425-8568-6233645656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03615c1-276c-4180-98cc-4a8d624f51a4"/>
    <ds:schemaRef ds:uri="f16d092d-1424-4908-8336-7a92cebe73a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8BC9C1F-B219-4B47-A1E1-4F3DD23FD6D4}">
  <ds:schemaRefs>
    <ds:schemaRef ds:uri="http://schemas.microsoft.com/sharepoint/v3/contenttype/forms"/>
  </ds:schemaRefs>
</ds:datastoreItem>
</file>

<file path=customXml/itemProps3.xml><?xml version="1.0" encoding="utf-8"?>
<ds:datastoreItem xmlns:ds="http://schemas.openxmlformats.org/officeDocument/2006/customXml" ds:itemID="{8951DA5B-5371-4561-BF3A-D261867602AC}">
  <ds:schemaRefs>
    <ds:schemaRef ds:uri="http://schemas.microsoft.com/office/2006/metadata/properties"/>
    <ds:schemaRef ds:uri="http://schemas.microsoft.com/office/infopath/2007/PartnerControls"/>
    <ds:schemaRef ds:uri="b03615c1-276c-4180-98cc-4a8d624f51a4"/>
    <ds:schemaRef ds:uri="f16d092d-1424-4908-8336-7a92cebe73a8"/>
  </ds:schemaRefs>
</ds:datastoreItem>
</file>

<file path=docProps/app.xml><?xml version="1.0" encoding="utf-8"?>
<Properties xmlns="http://schemas.openxmlformats.org/officeDocument/2006/extended-properties" xmlns:vt="http://schemas.openxmlformats.org/officeDocument/2006/docPropsVTypes">
  <TotalTime>1746</TotalTime>
  <Words>2080</Words>
  <Application>Microsoft Office PowerPoint</Application>
  <PresentationFormat>Widescreen</PresentationFormat>
  <Paragraphs>152</Paragraphs>
  <Slides>20</Slides>
  <Notes>0</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20</vt:i4>
      </vt:variant>
    </vt:vector>
  </HeadingPairs>
  <TitlesOfParts>
    <vt:vector size="28" baseType="lpstr">
      <vt:lpstr>Aptos</vt:lpstr>
      <vt:lpstr>Arial</vt:lpstr>
      <vt:lpstr>Calibri</vt:lpstr>
      <vt:lpstr>Calibri Light</vt:lpstr>
      <vt:lpstr>Cambria</vt:lpstr>
      <vt:lpstr>Times New Roman</vt:lpstr>
      <vt:lpstr>Wingdings</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Isaque Lopes Pinheiro</dc:creator>
  <cp:lastModifiedBy>Carla Correa Tavares dos Reis</cp:lastModifiedBy>
  <cp:revision>90</cp:revision>
  <dcterms:created xsi:type="dcterms:W3CDTF">2017-08-18T19:40:43Z</dcterms:created>
  <dcterms:modified xsi:type="dcterms:W3CDTF">2024-06-18T03:12:34Z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0x0101002249846024720046BD2E712524C1F2DB</vt:lpwstr>
  </property>
</Properties>
</file>