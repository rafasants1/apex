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553" r:id="rId5"/>
    <p:sldId id="552" r:id="rId6"/>
    <p:sldId id="261" r:id="rId7"/>
    <p:sldId id="287" r:id="rId8"/>
    <p:sldId id="560" r:id="rId9"/>
    <p:sldId id="561" r:id="rId10"/>
    <p:sldId id="554" r:id="rId11"/>
    <p:sldId id="562" r:id="rId12"/>
    <p:sldId id="269" r:id="rId13"/>
    <p:sldId id="563" r:id="rId14"/>
    <p:sldId id="556" r:id="rId15"/>
    <p:sldId id="564" r:id="rId16"/>
    <p:sldId id="565" r:id="rId17"/>
    <p:sldId id="264" r:id="rId18"/>
    <p:sldId id="566" r:id="rId19"/>
    <p:sldId id="286" r:id="rId20"/>
    <p:sldId id="282" r:id="rId21"/>
    <p:sldId id="289" r:id="rId22"/>
    <p:sldId id="283" r:id="rId23"/>
    <p:sldId id="551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3D6B"/>
    <a:srgbClr val="F89D52"/>
    <a:srgbClr val="F89E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8" autoAdjust="0"/>
    <p:restoredTop sz="94660"/>
  </p:normalViewPr>
  <p:slideViewPr>
    <p:cSldViewPr snapToGrid="0">
      <p:cViewPr varScale="1">
        <p:scale>
          <a:sx n="87" d="100"/>
          <a:sy n="87" d="100"/>
        </p:scale>
        <p:origin x="72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7-09-18T19:29:43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 6438,'0'0'-96,"0"0"96,-44 0 160,44 0 128,0 0-95,0 0-289,0 0-641,0 0-993,0 0-2178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66684F-6F30-4A0A-92A1-2E7993231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DC07EE3-3B48-445F-8AFC-CEFA21060B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9E3D20B-021B-4E06-91B7-3693076C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46ABF7-1DFB-46E6-BF0C-4CF603DC3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B890A18-C54F-4B67-B809-6DBCC909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14731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188C11-BB9B-4B1F-A664-5BACBAF41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0C6B89-870A-4C1A-B0B2-84AB373A8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44E4277-CB2F-4338-94A3-066CD797D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E654518-1B31-47C4-ACE2-F750D9E39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864924-38DF-4D1E-8BDB-73B872BA9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24451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289C7-096A-481F-9EEC-0F3029AC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C4B708D-67C8-4C31-A0DF-ABA178B9A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2717A2D-1925-4DAE-A2D3-FC7CC7499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135FB63-4B43-4D54-8212-79F9C54EF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B29AFB7-9D9A-4299-AD80-45D0D88B5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31254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39A24B-68F0-4108-BF04-9781302BF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CCF6A3-C50C-41CA-87F8-357A3A5284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2736522-B8EB-4B63-9CEF-C52C4D32A1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0D2932-0CD0-4D0D-B52E-AD2EDAA0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FB434C1-55BA-422E-A265-C4BAFFB25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1440E3B-E348-469F-A908-415EB3608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7050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3C4393-12BF-4A59-A9D0-63A7E12CE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517B726-E4BF-44BD-AD4C-808D705DD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E5F2598-F283-4F62-A8BD-C95D8C2FC4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E00A65A-4ED7-4E6E-B3F6-D638F64C48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2DD2EBA-7574-441F-BFAD-A6561B2807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745EA0E-EC72-4E28-98CA-A6163BBF7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256FC69-70F1-46A0-A5B1-E0B1894FD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A27FAE7-117C-456D-A07A-470086A19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3451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557724-FC53-4C70-B50A-5524FBA95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3DF4B3D-A267-4041-A786-AE6A87CC8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4D2F8EB-0A96-4AE8-824C-875D13572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FDC3C76-1E83-429B-A6B6-40E677F30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1980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4C2B7D1-FF81-412C-8A8C-A09A85240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18DE667-1284-43EB-A147-20E8C6EC8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D9EF30-E2E5-45EA-8529-A1FD8E39E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4109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09969-739F-483E-A11A-945E659F5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BC57D5-086B-4666-919C-40F2C417E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F7C3F62-0FA7-4701-9735-906263A47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7E29A2-E879-4362-B5B9-A566D25C5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4E0598D-84DD-4FF9-9626-6B9C63695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023C0FC-538E-44A0-9EE2-F0AEFC705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44269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C092AA-9FFF-4B4A-B4FA-246A4E8DD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D33BA9D-CD30-4E77-970B-AFD9BF560B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2E8096A-2C7E-4327-9415-FD11E7A56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387CF24-846D-453F-88DD-4835EBAF5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60C8C03-A58F-4F58-8447-59C1B8F98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ABF9373-DFC6-4E26-93C5-A0E2ADD37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8478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8B08A2-2B98-4E37-BCD9-BDA3DE665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C4DDAEB-8994-4ADD-B20A-D854C947C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FE71FF7-F6D9-4A4D-BBCB-A6046EEEC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C7B9CA-9674-4F9D-8372-7796EB59C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22467E3-3371-47B5-BB8F-A42BBD3E4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100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EF1CA5A-2F95-42EF-8B87-3BC0C1B95B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37BB3A9-074B-4B8D-ACD1-D5A861F85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4C1C6E6-904F-4FFF-90F5-6BA85D22F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55545F-85B7-4491-AA1F-5DA2FA19E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109617-4416-4A91-AAB7-DF798DEB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92613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EEBF251-076D-4ACE-941A-59A4B0C72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9939378-F225-4920-BC84-4F692F087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8835C-2E6E-472D-9554-C9157F8B4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487079C-8020-43D0-99AF-4BBCA0E037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0B57831-E641-415B-9D36-551DBCB6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44577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brasil.un.org/pt-br/sdgs" TargetMode="External"/><Relationship Id="rId1001" Type="http://schemas.openxmlformats.org/officeDocument/2006/relationships/image" Target="../media/apexv_ods_7.png"/><Relationship Id="rId1002" Type="http://schemas.openxmlformats.org/officeDocument/2006/relationships/image" Target="../media/apexv_ods_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stagram.com/p/CqB8zD-JVb0/" TargetMode="External"/><Relationship Id="rId3" Type="http://schemas.openxmlformats.org/officeDocument/2006/relationships/image" Target="../media/image12.png"/><Relationship Id="rId7" Type="http://schemas.openxmlformats.org/officeDocument/2006/relationships/image" Target="../media/image16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dlet.com/auder05/algoritmos-de-destrui-o-ju21vi17rczfm6a7" TargetMode="Externa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g"/><Relationship Id="rId5" Type="http://schemas.openxmlformats.org/officeDocument/2006/relationships/image" Target="../media/image20.jpeg"/><Relationship Id="rId4" Type="http://schemas.openxmlformats.org/officeDocument/2006/relationships/image" Target="../media/image19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planalto.gov.br/ccivil_03/constituicao/constitui%C3%A7ao.htm" TargetMode="External"/><Relationship Id="rId5" Type="http://schemas.openxmlformats.org/officeDocument/2006/relationships/hyperlink" Target="https://doi.org/10.1590/S0034-759020140511" TargetMode="External"/><Relationship Id="rId4" Type="http://schemas.openxmlformats.org/officeDocument/2006/relationships/hyperlink" Target="http://www.intercom.org.br/papers/nacionais/2010/resumos/r5-0302-1.pdf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ns2:creationId id="{1F7F3CD2-1312-5670-A9D7-6E8DFE59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ns2:creationId id="{18B605A2-0B13-3A1F-FFDE-714B27D08EAD}"/>
              </a:ext>
            </a:extLst>
          </p:cNvPr>
          <p:cNvSpPr txBox="1"/>
          <p:nvPr/>
        </p:nvSpPr>
        <p:spPr>
          <a:xfrm>
            <a:off x="1117600" y="2730500"/>
            <a:ext cx="10439400" cy="2413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None/>
            </a:pPr>
            <a:r>
              <a:rPr lang="pt-BR" sz="2000" b="1">
                <a:solidFill>
                  <a:srgbClr val="1F497D"/>
                </a:solidFill>
              </a:rPr>
              <a:t>PROJETO DE EXTENSÃO UNIVERSITÁRIA — APEX V (BANCO DE DADOS)</a:t>
            </a:r>
          </a:p>
          <a:p>
            <a:pPr algn="ctr">
              <a:spcBef>
                <a:spcPts val="500"/>
              </a:spcBef>
              <a:buNone/>
            </a:pPr>
            <a:r>
              <a:rPr lang="pt-BR" sz="1600" b="0">
                <a:solidFill>
                  <a:srgbClr val="595959"/>
                </a:solidFill>
              </a:rPr>
              <a:t>Programa Institucional: Educando para a Cidadania (Resolução CNE/CES nº 7/2018)</a:t>
            </a:r>
          </a:p>
          <a:p>
            <a:pPr algn="ctr"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1ª ETAPA: PLANEJAMENTO DA EXTENSÃO (MÓDULO 1)</a:t>
            </a:r>
          </a:p>
          <a:p>
            <a:pPr algn="ctr">
              <a:spcBef>
                <a:spcPts val="500"/>
              </a:spcBef>
              <a:buNone/>
            </a:pPr>
            <a:r>
              <a:rPr lang="pt-BR" sz="1600" b="0">
                <a:solidFill>
                  <a:srgbClr val="262626"/>
                </a:solidFill>
              </a:rPr>
              <a:t>Slides 2 a 6: identificação, ementa, ODS 7, 9 e 12 e local de implementação</a:t>
            </a:r>
          </a:p>
          <a:p>
            <a:pPr algn="ctr">
              <a:spcBef>
                <a:spcPts val="700"/>
              </a:spcBef>
              <a:buNone/>
            </a:pPr>
            <a:r>
              <a:rPr lang="pt-BR" sz="1600" b="1">
                <a:solidFill>
                  <a:srgbClr val="1F497D"/>
                </a:solidFill>
              </a:rPr>
              <a:t>Empresa parceira: Performa Energy | Ano letivo: 2026</a:t>
            </a:r>
          </a:p>
        </p:txBody>
      </p:sp>
      <p:sp>
        <p:nvSpPr>
          <p:cNvPr id="4" name="CaixaDeTexto 3">
            <a:extLst>
              <a:ext uri="{FF2B5EF4-FFF2-40B4-BE49-F238E27FC236}">
                <ns2:creationId id="{A115185B-E6EA-B0A7-6178-BEA3B83A8B9A}"/>
              </a:ext>
            </a:extLst>
          </p:cNvPr>
          <p:cNvSpPr txBox="1"/>
          <p:nvPr/>
        </p:nvSpPr>
        <p:spPr>
          <a:xfrm>
            <a:off x="1116350" y="1547160"/>
            <a:ext cx="103416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i="1" dirty="0">
                <a:solidFill>
                  <a:schemeClr val="accent1"/>
                </a:solidFill>
              </a:rPr>
              <a:t>Preencher do slide 2 até o slide 6.</a:t>
            </a:r>
            <a:br>
              <a:rPr lang="pt-BR" sz="2000" i="1" dirty="0">
                <a:solidFill>
                  <a:schemeClr val="accent1"/>
                </a:solidFill>
              </a:rPr>
            </a:br>
            <a:r>
              <a:rPr lang="pt-BR" sz="2000" i="1" dirty="0">
                <a:solidFill>
                  <a:schemeClr val="accent1"/>
                </a:solidFill>
              </a:rPr>
              <a:t>Após o preenchimento, deverá enviar o arquivo no espaço de envio do Módulo 1 na sala de aula. </a:t>
            </a:r>
          </a:p>
          <a:p>
            <a:pPr algn="ctr"/>
            <a:r>
              <a:rPr lang="pt-BR" sz="2000" i="1" dirty="0"/>
              <a:t> </a:t>
            </a:r>
          </a:p>
        </p:txBody>
      </p:sp>
      <p:sp>
        <p:nvSpPr>
          <p:cNvPr id="7" name="CaixaDeTexto 6">
            <a:extLst>
              <a:ext uri="{FF2B5EF4-FFF2-40B4-BE49-F238E27FC236}">
                <ns2:creationId id="{03B464C0-6AAC-D9C9-CDF9-423A8972A520}"/>
              </a:ext>
            </a:extLst>
          </p:cNvPr>
          <p:cNvSpPr txBox="1"/>
          <p:nvPr/>
        </p:nvSpPr>
        <p:spPr>
          <a:xfrm>
            <a:off x="2584174" y="502815"/>
            <a:ext cx="70634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A33D6B"/>
                </a:solidFill>
              </a:rPr>
              <a:t>1ª ETAPA</a:t>
            </a:r>
            <a:endParaRPr lang="pt-BR" sz="2400" kern="1200" dirty="0">
              <a:solidFill>
                <a:srgbClr val="A33D6B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0" name="Conector Reto 9">
            <a:extLst>
              <a:ext uri="{FF2B5EF4-FFF2-40B4-BE49-F238E27FC236}">
                <ns2:creationId id="{A1B5750D-66B6-0F30-89E3-140871544FC1}"/>
              </a:ext>
            </a:extLst>
          </p:cNvPr>
          <p:cNvCxnSpPr>
            <a:cxnSpLocks/>
          </p:cNvCxnSpPr>
          <p:nvPr/>
        </p:nvCxnSpPr>
        <p:spPr>
          <a:xfrm>
            <a:off x="2232405" y="938354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reeform 7">
            <a:extLst>
              <a:ext uri="{FF2B5EF4-FFF2-40B4-BE49-F238E27FC236}">
                <ns2:creationId id="{1493CCD0-1CF6-EDB8-9615-707CC5A959BC}"/>
              </a:ext>
            </a:extLst>
          </p:cNvPr>
          <p:cNvSpPr/>
          <p:nvPr/>
        </p:nvSpPr>
        <p:spPr>
          <a:xfrm>
            <a:off x="380346" y="264059"/>
            <a:ext cx="1117450" cy="1573369"/>
          </a:xfrm>
          <a:custGeom>
            <a:avLst/>
            <a:gdLst/>
            <a:ahLst/>
            <a:cxnLst/>
            <a:rect l="l" t="t" r="r" b="b"/>
            <a:pathLst>
              <a:path w="1117450" h="1573369">
                <a:moveTo>
                  <a:pt x="0" y="0"/>
                </a:moveTo>
                <a:lnTo>
                  <a:pt x="1117450" y="0"/>
                </a:lnTo>
                <a:lnTo>
                  <a:pt x="1117450" y="1573369"/>
                </a:lnTo>
                <a:lnTo>
                  <a:pt x="0" y="157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ns2:creationId id="{EB3DEE9C-0AEF-9FE8-0FDB-9BFAEECAF25B}"/>
              </a:ext>
            </a:extLst>
          </p:cNvPr>
          <p:cNvSpPr/>
          <p:nvPr/>
        </p:nvSpPr>
        <p:spPr>
          <a:xfrm>
            <a:off x="8182303" y="5439103"/>
            <a:ext cx="3846787" cy="916082"/>
          </a:xfrm>
          <a:prstGeom prst="rect">
            <a:avLst/>
          </a:prstGeom>
          <a:noFill/>
          <a:ln w="38100">
            <a:solidFill>
              <a:srgbClr val="A33D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ns2:creationId id="{8CC51F1D-FB87-46E5-34DA-0E9B396613C1}"/>
              </a:ext>
            </a:extLst>
          </p:cNvPr>
          <p:cNvSpPr txBox="1"/>
          <p:nvPr/>
        </p:nvSpPr>
        <p:spPr>
          <a:xfrm>
            <a:off x="8991236" y="5791200"/>
            <a:ext cx="200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Nota: _______</a:t>
            </a:r>
          </a:p>
        </p:txBody>
      </p:sp>
      <p:sp>
        <p:nvSpPr>
          <p:cNvPr id="6" name="CaixaDeTexto 5">
            <a:extLst>
              <a:ext uri="{FF2B5EF4-FFF2-40B4-BE49-F238E27FC236}">
                <ns2:creationId id="{1E2ED466-97FC-F050-484D-68D622419C88}"/>
              </a:ext>
            </a:extLst>
          </p:cNvPr>
          <p:cNvSpPr txBox="1"/>
          <p:nvPr/>
        </p:nvSpPr>
        <p:spPr>
          <a:xfrm>
            <a:off x="8076286" y="6355185"/>
            <a:ext cx="4121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Campo a ser preenchido pela professora.</a:t>
            </a:r>
          </a:p>
        </p:txBody>
      </p:sp>
    </p:spTree>
    <p:extLst>
      <p:ext uri="{BB962C8B-B14F-4D97-AF65-F5344CB8AC3E}">
        <ns4:creationId val="606513901"/>
      </p:ext>
    </p:extLst>
  </p:cSld>
  <p:clrMapOvr>
    <a:masterClrMapping/>
  </p:clrMapOvr>
</p:sld>
</file>

<file path=ppt/slides/slide2.xml><?xml version="1.0" encoding="utf-8"?>
<p:sld xmlns:a="http://schemas.openxmlformats.org/drawingml/2006/main" xmlns:ns3="http://schemas.microsoft.com/office/drawing/2014/main" xmlns:ns4="http://schemas.openxmlformats.org/markup-compatibility/2006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ns3:creationId id="{0FD6CC37-B502-3460-078B-0929B9D43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ns4:AlternateContent>
        <ns4:Choice Requires="p14">
          <p:contentPart ns5:bwMode="auto" r:id="rId3">
            <ns5:nvContentPartPr>
              <ns5:cNvPr id="2" name="Tinta 1">
                <a:extLst>
                  <a:ext uri="{FF2B5EF4-FFF2-40B4-BE49-F238E27FC236}">
                    <ns3:creationId id="{73292FF4-8A18-8D33-11B7-78FD03DDA90C}"/>
                  </a:ext>
                </a:extLst>
              </ns5:cNvPr>
              <ns5:cNvContentPartPr/>
              <ns5:nvPr/>
            </ns5:nvContentPartPr>
            <ns5:xfrm>
              <a:off x="2855255" y="3416760"/>
              <a:ext cx="16560" cy="360"/>
            </ns5:xfrm>
          </p:contentPart>
        </ns4:Choice>
        <ns4:Fallback>
          <p:pic>
            <p:nvPicPr>
              <p:cNvPr id="2" name="Tinta 1">
                <a:extLst>
                  <a:ext uri="{FF2B5EF4-FFF2-40B4-BE49-F238E27FC236}">
                    <ns3:creationId id="{73292FF4-8A18-8D33-11B7-78FD03DDA90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46055" y="3407760"/>
                <a:ext cx="34592" cy="18000"/>
              </a:xfrm>
              <a:prstGeom prst="rect">
                <a:avLst/>
              </a:prstGeom>
            </p:spPr>
          </p:pic>
        </ns4:Fallback>
      </ns4:AlternateContent>
      <p:sp>
        <p:nvSpPr>
          <p:cNvPr id="4" name="CaixaDeTexto 3">
            <a:extLst>
              <a:ext uri="{FF2B5EF4-FFF2-40B4-BE49-F238E27FC236}">
                <ns3:creationId id="{4FB2CE25-625E-DEB6-F60A-6FEFF5CB7139}"/>
              </a:ext>
            </a:extLst>
          </p:cNvPr>
          <p:cNvSpPr txBox="1"/>
          <p:nvPr/>
        </p:nvSpPr>
        <p:spPr>
          <a:xfrm>
            <a:off x="3327400" y="4508500"/>
            <a:ext cx="7175500" cy="2222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buNone/>
            </a:pPr>
            <a:r>
              <a:rPr lang="pt-BR" sz="2000" b="1">
                <a:solidFill>
                  <a:schemeClr val="bg1"/>
                </a:solidFill>
              </a:rPr>
              <a:t>Curso Superior de Tecnologia em Banco de Dados</a:t>
            </a:r>
          </a:p>
          <a:p>
            <a:pPr algn="r">
              <a:spcBef>
                <a:spcPts val="350"/>
              </a:spcBef>
              <a:buNone/>
            </a:pPr>
            <a:r>
              <a:rPr lang="pt-BR" sz="1400" b="0">
                <a:solidFill>
                  <a:schemeClr val="bg1"/>
                </a:solidFill>
              </a:rPr>
              <a:t>Disciplina: AMBIENTE PROFISSIONAL E DE EXTENSÃO EM BANCO DE DADOS V</a:t>
            </a:r>
          </a:p>
          <a:p>
            <a:pPr algn="r">
              <a:spcBef>
                <a:spcPts val="450"/>
              </a:spcBef>
              <a:buNone/>
            </a:pPr>
            <a:r>
              <a:rPr lang="pt-BR" sz="1300" b="1">
                <a:solidFill>
                  <a:schemeClr val="bg1"/>
                </a:solidFill>
              </a:rPr>
              <a:t>TÍTULO DO TRABALHO DE EXTENSÃO:</a:t>
            </a:r>
          </a:p>
          <a:p>
            <a:pPr algn="r">
              <a:spcBef>
                <a:spcPts val="200"/>
              </a:spcBef>
              <a:buNone/>
            </a:pPr>
            <a:r>
              <a:rPr lang="pt-BR" sz="1600" b="1">
                <a:solidFill>
                  <a:schemeClr val="bg1"/>
                </a:solidFill>
              </a:rPr>
              <a:t>Performalog Atendimento: Agente Inteligente de Cobrança e Arquitetura de Banco de Dados para Gestão de Energia Solar na Performa Energy</a:t>
            </a:r>
          </a:p>
        </p:txBody>
      </p:sp>
    </p:spTree>
    <p:extLst>
      <p:ext uri="{BB962C8B-B14F-4D97-AF65-F5344CB8AC3E}">
        <ns5:creationId val="239841373"/>
      </p:ext>
    </p:extLst>
  </p:cSld>
  <p:clrMapOvr>
    <a:masterClrMapping/>
  </p:clrMapOvr>
</p:sld>
</file>

<file path=ppt/slides/slide3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ns3:creationId id="{FDEC566B-0282-9751-D008-124A90BC086A}"/>
              </a:ext>
            </a:extLst>
          </p:cNvPr>
          <p:cNvSpPr txBox="1"/>
          <p:nvPr/>
        </p:nvSpPr>
        <p:spPr>
          <a:xfrm>
            <a:off x="164032" y="2710377"/>
            <a:ext cx="88272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2400" dirty="0"/>
              <a:t>	</a:t>
            </a:r>
          </a:p>
        </p:txBody>
      </p:sp>
      <p:sp>
        <p:nvSpPr>
          <p:cNvPr id="4" name="CaixaDeTexto 3">
            <a:extLst>
              <a:ext uri="{FF2B5EF4-FFF2-40B4-BE49-F238E27FC236}">
                <ns3:creationId id="{0108ACFF-B134-020C-C0C3-04FACFF22B0D}"/>
              </a:ext>
            </a:extLst>
          </p:cNvPr>
          <p:cNvSpPr txBox="1"/>
          <p:nvPr/>
        </p:nvSpPr>
        <p:spPr>
          <a:xfrm>
            <a:off x="1016000" y="1270000"/>
            <a:ext cx="105410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Dados acadêmicos do discente extensionista e da orientação docente</a:t>
            </a:r>
          </a:p>
        </p:txBody>
      </p:sp>
      <p:sp>
        <p:nvSpPr>
          <p:cNvPr id="7" name="CaixaDeTexto 6">
            <a:extLst>
              <a:ext uri="{FF2B5EF4-FFF2-40B4-BE49-F238E27FC236}">
                <ns3:creationId id="{D259676A-95AD-2E7C-A914-371AA856113C}"/>
              </a:ext>
            </a:extLst>
          </p:cNvPr>
          <p:cNvSpPr txBox="1"/>
          <p:nvPr/>
        </p:nvSpPr>
        <p:spPr>
          <a:xfrm>
            <a:off x="2584174" y="502815"/>
            <a:ext cx="10073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APRESENTAÇÃO</a:t>
            </a:r>
          </a:p>
        </p:txBody>
      </p:sp>
      <p:pic>
        <p:nvPicPr>
          <p:cNvPr id="8" name="Picture 10" descr="Falando - ícones de pessoas grátis">
            <a:extLst>
              <a:ext uri="{FF2B5EF4-FFF2-40B4-BE49-F238E27FC236}">
                <ns3:creationId id="{F2F4570E-0996-FE71-EF72-065941867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2232405" y="508226"/>
            <a:ext cx="351769" cy="351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10" name="Conector Reto 9">
            <a:extLst>
              <a:ext uri="{FF2B5EF4-FFF2-40B4-BE49-F238E27FC236}">
                <ns3:creationId id="{BA7CB7F0-3320-5811-092D-D2C1151380A8}"/>
              </a:ext>
            </a:extLst>
          </p:cNvPr>
          <p:cNvCxnSpPr>
            <a:cxnSpLocks/>
          </p:cNvCxnSpPr>
          <p:nvPr/>
        </p:nvCxnSpPr>
        <p:spPr>
          <a:xfrm>
            <a:off x="2232405" y="938354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ns3:creationId id="{DBA194D5-46A6-5B0D-94DE-5A184BA387D7}"/>
              </a:ext>
            </a:extLst>
          </p:cNvPr>
          <p:cNvSpPr txBox="1"/>
          <p:nvPr/>
        </p:nvSpPr>
        <p:spPr>
          <a:xfrm>
            <a:off x="1524000" y="2095500"/>
            <a:ext cx="965200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200" b="1">
                <a:solidFill>
                  <a:srgbClr val="A33D6B"/>
                </a:solidFill>
              </a:rPr>
              <a:t>Curso Superior de Tecnologia em Banco de Dados</a:t>
            </a:r>
          </a:p>
          <a:p>
            <a:pPr>
              <a:spcBef>
                <a:spcPts val="400"/>
              </a:spcBef>
              <a:buNone/>
            </a:pPr>
            <a:r>
              <a:rPr lang="pt-BR" sz="1600" b="0">
                <a:solidFill>
                  <a:srgbClr val="595959"/>
                </a:solidFill>
              </a:rPr>
              <a:t>Faculdade Unyleya — Carga horária de extensão curricular: 100 horas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8E45C0AA-06B7-5935-214F-4A303B56CCCA}"/>
              </a:ext>
            </a:extLst>
          </p:cNvPr>
          <p:cNvSpPr txBox="1"/>
          <p:nvPr/>
        </p:nvSpPr>
        <p:spPr>
          <a:xfrm>
            <a:off x="1524000" y="2984500"/>
            <a:ext cx="9652000" cy="279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Discente: </a:t>
            </a:r>
            <a:r>
              <a:rPr lang="pt-BR" sz="1800" b="0">
                <a:solidFill>
                  <a:srgbClr val="262626"/>
                </a:solidFill>
              </a:rPr>
              <a:t>Rafael Silva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Matrícula: </a:t>
            </a:r>
            <a:r>
              <a:rPr lang="pt-BR" sz="1800" b="0">
                <a:solidFill>
                  <a:srgbClr val="262626"/>
                </a:solidFill>
              </a:rPr>
              <a:t>1103239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Orientadora e coordenadora do curso: </a:t>
            </a:r>
            <a:r>
              <a:rPr lang="pt-BR" sz="1800" b="0">
                <a:solidFill>
                  <a:srgbClr val="262626"/>
                </a:solidFill>
              </a:rPr>
              <a:t>Profa. Dra. Carla Corrêa Tavares dos Reis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Local de aplicação: </a:t>
            </a:r>
            <a:r>
              <a:rPr lang="pt-BR" sz="1800" b="0">
                <a:solidFill>
                  <a:srgbClr val="262626"/>
                </a:solidFill>
              </a:rPr>
              <a:t>Performa Energy (gestão de créditos de energia solar e CRM Performalog)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Modalidade: </a:t>
            </a:r>
            <a:r>
              <a:rPr lang="pt-BR" sz="1800" b="0">
                <a:solidFill>
                  <a:srgbClr val="262626"/>
                </a:solidFill>
              </a:rPr>
              <a:t>presencial, na sede da empresa, com oficina técnica de Banco de Dados, IA e protótipo no Figma</a:t>
            </a:r>
          </a:p>
        </p:txBody>
      </p:sp>
    </p:spTree>
    <p:extLst>
      <p:ext uri="{BB962C8B-B14F-4D97-AF65-F5344CB8AC3E}">
        <ns5:creationId val="1042535048"/>
      </p:ext>
    </p:extLst>
  </p:cSld>
  <p:clrMapOvr>
    <a:masterClrMapping/>
  </p:clrMapOvr>
</p:sld>
</file>

<file path=ppt/slides/slide4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2485082" y="1079186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509AC4DE-70D2-D8E5-A25C-ACD0D77A8FB3}"/>
              </a:ext>
            </a:extLst>
          </p:cNvPr>
          <p:cNvSpPr txBox="1"/>
          <p:nvPr/>
        </p:nvSpPr>
        <p:spPr>
          <a:xfrm>
            <a:off x="2359082" y="371300"/>
            <a:ext cx="7473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000" b="1">
                <a:solidFill>
                  <a:srgbClr val="A33D6B"/>
                </a:solidFill>
              </a:rPr>
              <a:t>OBJETIVO DE DESENVOLVIMENTO SUSTENTÁVEL DO PROJETO EXTENSIONISTA “EDUCANDO PARA A CIDADANIA”</a:t>
            </a:r>
          </a:p>
        </p:txBody>
      </p:sp>
      <p:pic>
        <p:nvPicPr>
          <p:cNvPr id="7" name="Picture 10" descr="Objetivo - ícones de seo e web grátis">
            <a:extLst>
              <a:ext uri="{FF2B5EF4-FFF2-40B4-BE49-F238E27FC236}">
                <ns3:creationId id="{F1514A57-3441-BDBD-C04B-85163E655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54879" y="500706"/>
            <a:ext cx="408951" cy="449075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8" name="CaixaDeTexto 7">
            <a:extLst>
              <a:ext uri="{FF2B5EF4-FFF2-40B4-BE49-F238E27FC236}">
                <ns3:creationId id="{75117BDE-51EE-D872-2617-7FAAEE388289}"/>
              </a:ext>
            </a:extLst>
          </p:cNvPr>
          <p:cNvSpPr txBox="1"/>
          <p:nvPr/>
        </p:nvSpPr>
        <p:spPr>
          <a:xfrm>
            <a:off x="1854200" y="1270000"/>
            <a:ext cx="9398000" cy="393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Disciplina e ementa oficial (Resolução CNE/CES MEC nº 7/2018)</a:t>
            </a:r>
          </a:p>
        </p:txBody>
      </p:sp>
      <p:sp>
        <p:nvSpPr>
          <p:cNvPr id="2" name="CaixaDeTexto 1">
            <a:extLst>
              <a:ext uri="{FF2B5EF4-FFF2-40B4-BE49-F238E27FC236}">
                <ns3:creationId id="{59DE6E94-6DB1-A472-2A38-82940DD1CDBA}"/>
              </a:ext>
            </a:extLst>
          </p:cNvPr>
          <p:cNvSpPr txBox="1"/>
          <p:nvPr/>
        </p:nvSpPr>
        <p:spPr>
          <a:xfrm>
            <a:off x="1397000" y="1879600"/>
            <a:ext cx="9906000" cy="431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600" b="1">
                <a:solidFill>
                  <a:srgbClr val="000000"/>
                </a:solidFill>
              </a:rPr>
              <a:t>Disciplina:</a:t>
            </a:r>
          </a:p>
          <a:p>
            <a:pPr>
              <a:buNone/>
            </a:pPr>
            <a:r>
              <a:rPr lang="pt-BR" sz="1600" b="0">
                <a:solidFill>
                  <a:srgbClr val="000000"/>
                </a:solidFill>
              </a:rPr>
              <a:t>AMBIENTE PROFISSIONAL E DE EXTENSÃO EM BANCO DE DADOS V</a:t>
            </a:r>
          </a:p>
          <a:p>
            <a:pPr>
              <a:spcBef>
                <a:spcPts val="1000"/>
              </a:spcBef>
              <a:buNone/>
            </a:pPr>
            <a:r>
              <a:rPr lang="pt-BR" sz="1600" b="1">
                <a:solidFill>
                  <a:srgbClr val="000000"/>
                </a:solidFill>
              </a:rPr>
              <a:t>Ementa:</a:t>
            </a:r>
          </a:p>
          <a:p>
            <a:pPr algn="just">
              <a:buNone/>
            </a:pPr>
            <a:r>
              <a:rPr lang="pt-BR" sz="1600" b="0">
                <a:solidFill>
                  <a:srgbClr val="000000"/>
                </a:solidFill>
              </a:rPr>
              <a:t>Problematização de temas conectados com a vida real na sociedade atual para solução por meio de projetos. Estabelecimento de direcionamentos e regras para a realização do desafio. Desenvolvimento de soft skills como trabalho em equipe, resolução de problemas complexos, comunicação, criatividade, entre outros. Tradução dos conhecimentos científicos para a comunidade. Inteligência Artificial: desafios e oportunidades. Programa de Extensão Institucional como proposta de diálogo entre a comunidade acadêmica e sociedade. Produção de materiais educacionais com uso das mídias digitais.</a:t>
            </a:r>
          </a:p>
          <a:p>
            <a:pPr>
              <a:spcBef>
                <a:spcPts val="1000"/>
              </a:spcBef>
              <a:buNone/>
            </a:pPr>
            <a:r>
              <a:rPr lang="pt-BR" sz="1600" b="1">
                <a:solidFill>
                  <a:srgbClr val="000000"/>
                </a:solidFill>
              </a:rPr>
              <a:t>Alinhamento ao curso:</a:t>
            </a:r>
          </a:p>
          <a:p>
            <a:pPr algn="just">
              <a:buNone/>
            </a:pPr>
            <a:r>
              <a:rPr lang="pt-BR" sz="1600" b="0">
                <a:solidFill>
                  <a:srgbClr val="000000"/>
                </a:solidFill>
              </a:rPr>
              <a:t>O projeto leva à Performa Energy conhecimentos de modelagem relacional, integridade de dados, integração de APIs e IA responsável, criando uma base confiável e auditável para atendimento e cobrança.</a:t>
            </a:r>
          </a:p>
        </p:txBody>
      </p:sp>
    </p:spTree>
    <p:extLst>
      <p:ext uri="{BB962C8B-B14F-4D97-AF65-F5344CB8AC3E}">
        <ns5:creationId val="964490276"/>
      </p:ext>
    </p:extLst>
  </p:cSld>
  <p:clrMapOvr>
    <a:masterClrMapping/>
  </p:clrMapOvr>
</p:sld>
</file>

<file path=ppt/slides/slide5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2485082" y="1079186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509AC4DE-70D2-D8E5-A25C-ACD0D77A8FB3}"/>
              </a:ext>
            </a:extLst>
          </p:cNvPr>
          <p:cNvSpPr txBox="1"/>
          <p:nvPr/>
        </p:nvSpPr>
        <p:spPr>
          <a:xfrm>
            <a:off x="2359082" y="371300"/>
            <a:ext cx="7473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000" b="1">
                <a:solidFill>
                  <a:srgbClr val="A33D6B"/>
                </a:solidFill>
              </a:rPr>
              <a:t>OBJETIVO DE DESENVOLVIMENTO SUSTENTÁVEL DO PROJETO EXTENSIONISTA “EDUCANDO PARA A CIDADANIA”</a:t>
            </a:r>
          </a:p>
        </p:txBody>
      </p:sp>
      <p:pic>
        <p:nvPicPr>
          <p:cNvPr id="7" name="Picture 10" descr="Objetivo - ícones de seo e web grátis">
            <a:extLst>
              <a:ext uri="{FF2B5EF4-FFF2-40B4-BE49-F238E27FC236}">
                <ns3:creationId id="{F1514A57-3441-BDBD-C04B-85163E655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54879" y="500706"/>
            <a:ext cx="408951" cy="449075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2" name="CaixaDeTexto 1">
            <a:extLst>
              <a:ext uri="{FF2B5EF4-FFF2-40B4-BE49-F238E27FC236}">
                <ns3:creationId id="{952B89C6-72E9-3EBA-DBE7-13BD4A52AD1E}"/>
              </a:ext>
            </a:extLst>
          </p:cNvPr>
          <p:cNvSpPr txBox="1"/>
          <p:nvPr/>
        </p:nvSpPr>
        <p:spPr>
          <a:xfrm>
            <a:off x="774700" y="1714500"/>
            <a:ext cx="8255000" cy="444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ODS 7 — Energia limpa e acessível (metas 7.2 e 7.b): </a:t>
            </a:r>
            <a:r>
              <a:rPr lang="pt-BR" sz="1600" b="0">
                <a:solidFill>
                  <a:srgbClr val="262626"/>
                </a:solidFill>
              </a:rPr>
              <a:t>estimula a geração solar distribuída (Lei nº 14.300/2022); o projeto organiza dados de faturamento e de créditos (kWh) para o cliente entender o benefício da assinatura.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ODS 9 — Indústria, inovação e infraestrutura (metas 9.4 e 9.5): </a:t>
            </a:r>
            <a:r>
              <a:rPr lang="pt-BR" sz="1600" b="0">
                <a:solidFill>
                  <a:srgbClr val="262626"/>
                </a:solidFill>
              </a:rPr>
              <a:t>moderniza a TI da Performa Energy com a WhatsApp Cloud API oficial e a modelagem relacional de mensageria integrada ao CRM Performalog.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ODS 12 — Consumo e produção responsáveis (meta 12.8): </a:t>
            </a:r>
            <a:r>
              <a:rPr lang="pt-BR" sz="1600" b="0">
                <a:solidFill>
                  <a:srgbClr val="262626"/>
                </a:solidFill>
              </a:rPr>
              <a:t>dá transparência ao faturamento da compensação, com acesso claro ao consumo, aos créditos e à composição tarifária.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Governança de dados (ODS 16 e LGPD, Lei nº 13.709/2018): </a:t>
            </a:r>
            <a:r>
              <a:rPr lang="pt-BR" sz="1600" b="0">
                <a:solidFill>
                  <a:srgbClr val="262626"/>
                </a:solidFill>
              </a:rPr>
              <a:t>opt-in/opt-out e agente de IA que não expõe dados de faturas nem inventa valores.</a:t>
            </a:r>
          </a:p>
        </p:txBody>
      </p:sp>
      <p:sp>
        <p:nvSpPr>
          <p:cNvPr id="12" name="CaixaDeTexto 11">
            <a:extLst>
              <a:ext uri="{FF2B5EF4-FFF2-40B4-BE49-F238E27FC236}">
                <ns3:creationId id="{6F97F82E-C08E-656F-6510-BD83F8BE9BB2}"/>
              </a:ext>
            </a:extLst>
          </p:cNvPr>
          <p:cNvSpPr txBox="1"/>
          <p:nvPr/>
        </p:nvSpPr>
        <p:spPr>
          <a:xfrm>
            <a:off x="9017000" y="5359400"/>
            <a:ext cx="2984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BR" sz="1150" b="1">
                <a:solidFill>
                  <a:schemeClr val="accent1"/>
                </a:solidFill>
                <a:hlinkClick r:id="rId4"/>
              </a:rPr>
              <a:t>Fonte: https://brasil.un.org/pt-br/sdgs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9D35FA91-78A4-B4E7-8C2E-FBD2B5A34B49}"/>
              </a:ext>
            </a:extLst>
          </p:cNvPr>
          <p:cNvSpPr txBox="1"/>
          <p:nvPr/>
        </p:nvSpPr>
        <p:spPr>
          <a:xfrm>
            <a:off x="1066800" y="1066800"/>
            <a:ext cx="98044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Tema gerador: modelagem de dados, IA responsável e sustentabilidade energética (Agenda 2030)</a:t>
            </a:r>
          </a:p>
        </p:txBody>
      </p:sp>
      <p:pic>
        <p:nvPicPr>
          <p:cNvPr id="5" name="Imagem 4">
            <a:extLst>
              <a:ext uri="{FF2B5EF4-FFF2-40B4-BE49-F238E27FC236}">
                <ns3:creationId id="{9745BB66-085B-F2B6-CBD0-0237E5875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870200"/>
            <a:ext cx="1092200" cy="1092200"/>
          </a:xfrm>
          <a:prstGeom prst="rect">
            <a:avLst/>
          </a:prstGeom>
        </p:spPr>
      </p:pic>
      <p:pic>
        <p:nvPicPr>
          <p:cNvPr id="101" name="ODS 7" descr="Ícone da ODS 7 — Energia limpa e acessível"/>
          <p:cNvPicPr>
            <a:picLocks noChangeAspect="1"/>
          </p:cNvPicPr>
          <p:nvPr/>
        </p:nvPicPr>
        <p:blipFill>
          <a:blip r:embed="rId1001"/>
          <a:stretch>
            <a:fillRect/>
          </a:stretch>
        </p:blipFill>
        <p:spPr>
          <a:xfrm>
            <a:off x="9906000" y="1651000"/>
            <a:ext cx="1092200" cy="1092200"/>
          </a:xfrm>
          <a:prstGeom prst="rect">
            <a:avLst/>
          </a:prstGeom>
        </p:spPr>
      </p:pic>
      <p:pic>
        <p:nvPicPr>
          <p:cNvPr id="102" name="ODS 12" descr="Ícone da ODS 12 — Consumo e produção responsáveis"/>
          <p:cNvPicPr>
            <a:picLocks noChangeAspect="1"/>
          </p:cNvPicPr>
          <p:nvPr/>
        </p:nvPicPr>
        <p:blipFill>
          <a:blip r:embed="rId1002"/>
          <a:stretch>
            <a:fillRect/>
          </a:stretch>
        </p:blipFill>
        <p:spPr>
          <a:xfrm>
            <a:off x="9906000" y="4089400"/>
            <a:ext cx="1092200" cy="1092200"/>
          </a:xfrm>
          <a:prstGeom prst="rect">
            <a:avLst/>
          </a:prstGeom>
        </p:spPr>
      </p:pic>
    </p:spTree>
    <p:extLst>
      <p:ext uri="{BB962C8B-B14F-4D97-AF65-F5344CB8AC3E}">
        <ns5:creationId val="1250669668"/>
      </p:ext>
    </p:extLst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ns3:creationId id="{43841D3B-AC6C-2B68-C26F-BB6FB6A95A56}"/>
              </a:ext>
            </a:extLst>
          </p:cNvPr>
          <p:cNvSpPr txBox="1"/>
          <p:nvPr/>
        </p:nvSpPr>
        <p:spPr>
          <a:xfrm>
            <a:off x="2284486" y="378387"/>
            <a:ext cx="10073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LOCAL DE IMPLEMENTAÇÃO</a:t>
            </a:r>
          </a:p>
        </p:txBody>
      </p:sp>
      <p:pic>
        <p:nvPicPr>
          <p:cNvPr id="9" name="Picture 26" descr="Página 12 | Edificio Logotipo Imagens – Download Grátis no Freepik">
            <a:extLst>
              <a:ext uri="{FF2B5EF4-FFF2-40B4-BE49-F238E27FC236}">
                <ns3:creationId id="{3B6ACB0E-4D1D-EC52-2C2E-1D38254EE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998273" y="483326"/>
            <a:ext cx="286212" cy="254943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1998273" y="85113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ns3:creationId id="{697DFD30-5112-034D-C4C1-3849CA40ECFC}"/>
              </a:ext>
            </a:extLst>
          </p:cNvPr>
          <p:cNvSpPr txBox="1"/>
          <p:nvPr/>
        </p:nvSpPr>
        <p:spPr>
          <a:xfrm>
            <a:off x="1181100" y="1206500"/>
            <a:ext cx="101600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Empresa concedente, ambiente de dados e público atendido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1E67C0D8-6BC6-FDE8-876B-464CC9FA609B}"/>
              </a:ext>
            </a:extLst>
          </p:cNvPr>
          <p:cNvSpPr txBox="1"/>
          <p:nvPr/>
        </p:nvSpPr>
        <p:spPr>
          <a:xfrm>
            <a:off x="889000" y="1879600"/>
            <a:ext cx="7239000" cy="431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Empresa e atividade: </a:t>
            </a:r>
            <a:r>
              <a:rPr lang="pt-BR" sz="1600" b="0">
                <a:solidFill>
                  <a:srgbClr val="262626"/>
                </a:solidFill>
              </a:rPr>
              <a:t>Consórcio Performa Energy — gestão e distribuição de créditos de energia solar por assinatura na área da CEMIG (Geração Distribuída, Lei nº 14.300/2022).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Endereço: </a:t>
            </a:r>
            <a:r>
              <a:rPr lang="pt-BR" sz="1600" b="0">
                <a:solidFill>
                  <a:srgbClr val="262626"/>
                </a:solidFill>
              </a:rPr>
              <a:t>Av. Brasil, 888, Sala 1308, Santa Efigênia, Belo Horizonte – MG, CEP 30140-001. CNPJ: 55.845.710/0001-04.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Ambiente de dados: </a:t>
            </a:r>
            <a:r>
              <a:rPr lang="pt-BR" sz="1600" b="0">
                <a:solidFill>
                  <a:srgbClr val="262626"/>
                </a:solidFill>
              </a:rPr>
              <a:t>CRM Performalog (MySQL), com relatórios de rateio da CEMIG e faturas da Digital Grid; passará a integrar a WhatsApp Cloud API da Meta.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Espaço da intervenção: </a:t>
            </a:r>
            <a:r>
              <a:rPr lang="pt-BR" sz="1600" b="0">
                <a:solidFill>
                  <a:srgbClr val="262626"/>
                </a:solidFill>
              </a:rPr>
              <a:t>sede com rede corporativa, estações de trabalho com acesso ao CRM e sala de reuniões para a capacitação presencial.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Público: </a:t>
            </a:r>
            <a:r>
              <a:rPr lang="pt-BR" sz="1600" b="0">
                <a:solidFill>
                  <a:srgbClr val="262626"/>
                </a:solidFill>
              </a:rPr>
              <a:t>direto — colaboradores de Atendimento, Cobrança e Operações; indireto — clientes assinantes atendidos via WhatsApp.</a:t>
            </a:r>
          </a:p>
        </p:txBody>
      </p:sp>
    </p:spTree>
    <p:extLst>
      <p:ext uri="{BB962C8B-B14F-4D97-AF65-F5344CB8AC3E}">
        <ns5:creationId val="295107399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C38F32F-0012-6F62-C7E8-B406F5E5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ns2:creationId id="{AC618FA3-E8CF-7D3D-2547-DA727B3C5FA7}"/>
              </a:ext>
            </a:extLst>
          </p:cNvPr>
          <p:cNvSpPr txBox="1"/>
          <p:nvPr/>
        </p:nvSpPr>
        <p:spPr>
          <a:xfrm>
            <a:off x="1117600" y="2730500"/>
            <a:ext cx="10439400" cy="2413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None/>
            </a:pPr>
            <a:r>
              <a:rPr lang="pt-BR" sz="2000" b="1">
                <a:solidFill>
                  <a:srgbClr val="1F497D"/>
                </a:solidFill>
              </a:rPr>
              <a:t>PROJETO DE EXTENSÃO UNIVERSITÁRIA — APEX V (BANCO DE DADOS)</a:t>
            </a:r>
          </a:p>
          <a:p>
            <a:pPr algn="ctr"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2ª ETAPA: DESAFIO, PARTICIPANTES E ARQUITETURA DE DADOS (MÓDULO 2)</a:t>
            </a:r>
          </a:p>
          <a:p>
            <a:pPr algn="ctr">
              <a:spcBef>
                <a:spcPts val="500"/>
              </a:spcBef>
              <a:buNone/>
            </a:pPr>
            <a:r>
              <a:rPr lang="pt-BR" sz="1600" b="0">
                <a:solidFill>
                  <a:srgbClr val="262626"/>
                </a:solidFill>
              </a:rPr>
              <a:t>Slides 8 a 10: participantes, desafio identificado e aprofundamento teórico em modelagem relacional, APIs de mensageria e governança de IA</a:t>
            </a:r>
          </a:p>
          <a:p>
            <a:pPr algn="ctr">
              <a:spcBef>
                <a:spcPts val="700"/>
              </a:spcBef>
              <a:buNone/>
            </a:pPr>
            <a:r>
              <a:rPr lang="pt-BR" sz="1600" b="1">
                <a:solidFill>
                  <a:srgbClr val="1F497D"/>
                </a:solidFill>
              </a:rPr>
              <a:t>Empresa parceira: Performa Energy | Ano letivo: 2026</a:t>
            </a:r>
          </a:p>
        </p:txBody>
      </p:sp>
      <p:sp>
        <p:nvSpPr>
          <p:cNvPr id="4" name="CaixaDeTexto 3">
            <a:extLst>
              <a:ext uri="{FF2B5EF4-FFF2-40B4-BE49-F238E27FC236}">
                <ns2:creationId id="{601C1649-006C-22A0-79E1-E5D6B64D20CF}"/>
              </a:ext>
            </a:extLst>
          </p:cNvPr>
          <p:cNvSpPr txBox="1"/>
          <p:nvPr/>
        </p:nvSpPr>
        <p:spPr>
          <a:xfrm>
            <a:off x="1121557" y="1540388"/>
            <a:ext cx="104484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i="1" dirty="0">
                <a:solidFill>
                  <a:schemeClr val="accent1"/>
                </a:solidFill>
              </a:rPr>
              <a:t>Preencher do slide 8 até o slide 9 (ou 10).</a:t>
            </a:r>
            <a:br>
              <a:rPr lang="pt-BR" sz="2000" i="1" dirty="0">
                <a:solidFill>
                  <a:schemeClr val="accent1"/>
                </a:solidFill>
              </a:rPr>
            </a:br>
            <a:r>
              <a:rPr lang="pt-BR" sz="2000" i="1" dirty="0">
                <a:solidFill>
                  <a:schemeClr val="accent1"/>
                </a:solidFill>
              </a:rPr>
              <a:t>Após o preenchimento, deverá enviar o arquivo no espaço de envio do Módulo 2 na sala de aula. </a:t>
            </a:r>
          </a:p>
          <a:p>
            <a:pPr algn="ctr"/>
            <a:r>
              <a:rPr lang="pt-BR" sz="2000" i="1" dirty="0">
                <a:solidFill>
                  <a:schemeClr val="accent1"/>
                </a:solidFill>
              </a:rPr>
              <a:t> </a:t>
            </a:r>
          </a:p>
        </p:txBody>
      </p:sp>
      <p:sp>
        <p:nvSpPr>
          <p:cNvPr id="7" name="CaixaDeTexto 6">
            <a:extLst>
              <a:ext uri="{FF2B5EF4-FFF2-40B4-BE49-F238E27FC236}">
                <ns2:creationId id="{EBDC153F-7FFC-22F6-0219-A9B0777F72CC}"/>
              </a:ext>
            </a:extLst>
          </p:cNvPr>
          <p:cNvSpPr txBox="1"/>
          <p:nvPr/>
        </p:nvSpPr>
        <p:spPr>
          <a:xfrm>
            <a:off x="2584174" y="502815"/>
            <a:ext cx="70634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A33D6B"/>
                </a:solidFill>
              </a:rPr>
              <a:t>2ª ETAPA</a:t>
            </a:r>
            <a:endParaRPr lang="pt-BR" sz="2400" kern="1200" dirty="0">
              <a:solidFill>
                <a:srgbClr val="A33D6B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0" name="Conector Reto 9">
            <a:extLst>
              <a:ext uri="{FF2B5EF4-FFF2-40B4-BE49-F238E27FC236}">
                <ns2:creationId id="{E4FD5186-CB0B-2297-6685-02D177D13143}"/>
              </a:ext>
            </a:extLst>
          </p:cNvPr>
          <p:cNvCxnSpPr>
            <a:cxnSpLocks/>
          </p:cNvCxnSpPr>
          <p:nvPr/>
        </p:nvCxnSpPr>
        <p:spPr>
          <a:xfrm>
            <a:off x="2232405" y="938354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reeform 7">
            <a:extLst>
              <a:ext uri="{FF2B5EF4-FFF2-40B4-BE49-F238E27FC236}">
                <ns2:creationId id="{3FFB7830-A8EF-6960-4A21-01B4DC5ECEBF}"/>
              </a:ext>
            </a:extLst>
          </p:cNvPr>
          <p:cNvSpPr/>
          <p:nvPr/>
        </p:nvSpPr>
        <p:spPr>
          <a:xfrm>
            <a:off x="654691" y="266701"/>
            <a:ext cx="933733" cy="1244048"/>
          </a:xfrm>
          <a:custGeom>
            <a:avLst/>
            <a:gdLst/>
            <a:ahLst/>
            <a:cxnLst/>
            <a:rect l="l" t="t" r="r" b="b"/>
            <a:pathLst>
              <a:path w="1117450" h="1573369">
                <a:moveTo>
                  <a:pt x="0" y="0"/>
                </a:moveTo>
                <a:lnTo>
                  <a:pt x="1117450" y="0"/>
                </a:lnTo>
                <a:lnTo>
                  <a:pt x="1117450" y="1573369"/>
                </a:lnTo>
                <a:lnTo>
                  <a:pt x="0" y="157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ns2:creationId id="{F8462B7F-B821-F65A-8667-B18CB403B20B}"/>
              </a:ext>
            </a:extLst>
          </p:cNvPr>
          <p:cNvSpPr/>
          <p:nvPr/>
        </p:nvSpPr>
        <p:spPr>
          <a:xfrm>
            <a:off x="8182303" y="5439103"/>
            <a:ext cx="3846787" cy="916082"/>
          </a:xfrm>
          <a:prstGeom prst="rect">
            <a:avLst/>
          </a:prstGeom>
          <a:noFill/>
          <a:ln w="38100">
            <a:solidFill>
              <a:srgbClr val="A33D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ns2:creationId id="{1759B1C5-9B41-6B60-D2B0-07B86078F611}"/>
              </a:ext>
            </a:extLst>
          </p:cNvPr>
          <p:cNvSpPr txBox="1"/>
          <p:nvPr/>
        </p:nvSpPr>
        <p:spPr>
          <a:xfrm>
            <a:off x="8991236" y="5791200"/>
            <a:ext cx="200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Nota: _______</a:t>
            </a:r>
          </a:p>
        </p:txBody>
      </p:sp>
      <p:sp>
        <p:nvSpPr>
          <p:cNvPr id="6" name="CaixaDeTexto 5">
            <a:extLst>
              <a:ext uri="{FF2B5EF4-FFF2-40B4-BE49-F238E27FC236}">
                <ns2:creationId id="{C139FFF9-422F-E4C6-7135-42F6532F9DDD}"/>
              </a:ext>
            </a:extLst>
          </p:cNvPr>
          <p:cNvSpPr txBox="1"/>
          <p:nvPr/>
        </p:nvSpPr>
        <p:spPr>
          <a:xfrm>
            <a:off x="8076286" y="6355185"/>
            <a:ext cx="4115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Campo a ser preenchido pela professora.</a:t>
            </a:r>
          </a:p>
        </p:txBody>
      </p:sp>
    </p:spTree>
    <p:extLst>
      <p:ext uri="{BB962C8B-B14F-4D97-AF65-F5344CB8AC3E}">
        <ns4:creationId val="103889940"/>
      </p:ext>
    </p:extLst>
  </p:cSld>
  <p:clrMapOvr>
    <a:masterClrMapping/>
  </p:clrMapOvr>
</p:sld>
</file>

<file path=ppt/slides/slide8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1998273" y="85113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ns3:creationId id="{697DFD30-5112-034D-C4C1-3849CA40ECFC}"/>
              </a:ext>
            </a:extLst>
          </p:cNvPr>
          <p:cNvSpPr txBox="1"/>
          <p:nvPr/>
        </p:nvSpPr>
        <p:spPr>
          <a:xfrm>
            <a:off x="1054100" y="1206500"/>
            <a:ext cx="107315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Cargos e funções envolvidos, sem menção a nomes (diretriz institucional)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40D574B5-3515-9B71-3D3B-20BA8A677F49}"/>
              </a:ext>
            </a:extLst>
          </p:cNvPr>
          <p:cNvSpPr txBox="1"/>
          <p:nvPr/>
        </p:nvSpPr>
        <p:spPr>
          <a:xfrm>
            <a:off x="2578930" y="403512"/>
            <a:ext cx="69976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PARTICIPANTES</a:t>
            </a:r>
          </a:p>
        </p:txBody>
      </p:sp>
      <p:pic>
        <p:nvPicPr>
          <p:cNvPr id="4" name="Picture 2" descr="Vetores e ilustrações de Comunidade desenho para download gratuito | Freepik">
            <a:extLst>
              <a:ext uri="{FF2B5EF4-FFF2-40B4-BE49-F238E27FC236}">
                <ns3:creationId id="{C8950347-D116-89C7-D759-53636D157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85879" y="403512"/>
            <a:ext cx="693051" cy="461665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5" name="CaixaDeTexto 4">
            <a:extLst>
              <a:ext uri="{FF2B5EF4-FFF2-40B4-BE49-F238E27FC236}">
                <ns3:creationId id="{D09F08AD-1D22-0D37-1597-72FEE4C160E3}"/>
              </a:ext>
            </a:extLst>
          </p:cNvPr>
          <p:cNvSpPr txBox="1"/>
          <p:nvPr/>
        </p:nvSpPr>
        <p:spPr>
          <a:xfrm>
            <a:off x="1270000" y="1905000"/>
            <a:ext cx="100330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Atendimento e Sucesso do Cliente: </a:t>
            </a:r>
            <a:r>
              <a:rPr lang="pt-BR" sz="1600" b="0">
                <a:solidFill>
                  <a:srgbClr val="262626"/>
                </a:solidFill>
              </a:rPr>
              <a:t>linha de frente do suporte via WhatsApp, dúvidas sobre a cobrança dupla (CEMIG + Performa) e triagem de solicitações e cancelamentos.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Cobrança e Contas a Receber: </a:t>
            </a:r>
            <a:r>
              <a:rPr lang="pt-BR" sz="1600" b="0">
                <a:solidFill>
                  <a:srgbClr val="262626"/>
                </a:solidFill>
              </a:rPr>
              <a:t>recuperação de crédito, negociação de débitos vencidos, réguas de cobrança e acordos via Pix e boleto.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Faturamento e Operações de Energia: </a:t>
            </a:r>
            <a:r>
              <a:rPr lang="pt-BR" sz="1600" b="0">
                <a:solidFill>
                  <a:srgbClr val="262626"/>
                </a:solidFill>
              </a:rPr>
              <a:t>rateio mensal de créditos (CEMIG), conciliação de kWh injetados e importação das faturas da Digital Grid.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TI, Segurança e Operações: </a:t>
            </a:r>
            <a:r>
              <a:rPr lang="pt-BR" sz="1600" b="0">
                <a:solidFill>
                  <a:srgbClr val="262626"/>
                </a:solidFill>
              </a:rPr>
              <a:t>administração do banco MySQL do Performalog, regras de acesso, infraestrutura da API da Meta e conformidade com a LGPD.</a:t>
            </a:r>
          </a:p>
        </p:txBody>
      </p:sp>
    </p:spTree>
    <p:extLst>
      <p:ext uri="{BB962C8B-B14F-4D97-AF65-F5344CB8AC3E}">
        <ns5:creationId val="141132289"/>
      </p:ext>
    </p:extLst>
  </p:cSld>
  <p:clrMapOvr>
    <a:masterClrMapping/>
  </p:clrMapOvr>
</p:sld>
</file>

<file path=ppt/slides/slide9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ns3:creationId id="{605801BA-8B7F-9BA5-B655-5D4D33E24B00}"/>
              </a:ext>
            </a:extLst>
          </p:cNvPr>
          <p:cNvSpPr txBox="1"/>
          <p:nvPr/>
        </p:nvSpPr>
        <p:spPr>
          <a:xfrm>
            <a:off x="2209800" y="368300"/>
            <a:ext cx="7620000" cy="825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DESAFIO/ QUESTÃO PROBLEMA IDENTIFICADA</a:t>
            </a:r>
          </a:p>
        </p:txBody>
      </p:sp>
      <p:pic>
        <p:nvPicPr>
          <p:cNvPr id="2" name="Picture 2" descr="discurso bolhas com questão marcas dúvida conceito problema resolução  20186734 Vetor no Vecteezy">
            <a:extLst>
              <a:ext uri="{FF2B5EF4-FFF2-40B4-BE49-F238E27FC236}">
                <ns3:creationId id="{8C679657-AC66-95C5-DD05-747A1DA45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676164" y="341015"/>
            <a:ext cx="537754" cy="537754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3" name="Conector Reto 2">
            <a:extLst>
              <a:ext uri="{FF2B5EF4-FFF2-40B4-BE49-F238E27FC236}">
                <ns3:creationId id="{90FEC404-6968-AFF8-312A-E0C905B32509}"/>
              </a:ext>
            </a:extLst>
          </p:cNvPr>
          <p:cNvCxnSpPr>
            <a:cxnSpLocks/>
          </p:cNvCxnSpPr>
          <p:nvPr/>
        </p:nvCxnSpPr>
        <p:spPr>
          <a:xfrm>
            <a:off x="2213918" y="878769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B1347B0D-B5CE-B93B-F0D9-ACE4A5CFCCAA}"/>
              </a:ext>
            </a:extLst>
          </p:cNvPr>
          <p:cNvSpPr txBox="1"/>
          <p:nvPr/>
        </p:nvSpPr>
        <p:spPr>
          <a:xfrm>
            <a:off x="977900" y="1143000"/>
            <a:ext cx="109093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Diagnóstico: sobrecarga no atendimento, inadimplência e dados desconectados</a:t>
            </a:r>
          </a:p>
        </p:txBody>
      </p:sp>
      <p:sp>
        <p:nvSpPr>
          <p:cNvPr id="4" name="CaixaDeTexto 3">
            <a:extLst>
              <a:ext uri="{FF2B5EF4-FFF2-40B4-BE49-F238E27FC236}">
                <ns3:creationId id="{0E21FB1E-E1F9-9168-5A8C-5615C3611927}"/>
              </a:ext>
            </a:extLst>
          </p:cNvPr>
          <p:cNvSpPr txBox="1"/>
          <p:nvPr/>
        </p:nvSpPr>
        <p:spPr>
          <a:xfrm>
            <a:off x="1016000" y="1714500"/>
            <a:ext cx="10287000" cy="444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Sobrecarga no atendimento: </a:t>
            </a:r>
            <a:r>
              <a:rPr lang="pt-BR" sz="1600" b="0">
                <a:solidFill>
                  <a:srgbClr val="262626"/>
                </a:solidFill>
              </a:rPr>
              <a:t>o cliente recebe duas cobranças (CEMIG e Performa Energy) e tem dificuldade de entender o rateio de créditos em kWh, o que gera muitos chamados repetitivos.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Inadimplência e negociação manual: </a:t>
            </a:r>
            <a:r>
              <a:rPr lang="pt-BR" sz="1600" b="0">
                <a:solidFill>
                  <a:srgbClr val="262626"/>
                </a:solidFill>
              </a:rPr>
              <a:t>a cobrança dependia de planilhas Excel e de uma ferramenta de mensagens legada (Maxbot), isolada do CRM, com atrasos nos lembretes e pouca rastreabilidade das promessas de pagamento.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Risco de alucinação e de violação à LGPD: </a:t>
            </a:r>
            <a:r>
              <a:rPr lang="pt-BR" sz="1600" b="0">
                <a:solidFill>
                  <a:srgbClr val="262626"/>
                </a:solidFill>
              </a:rPr>
              <a:t>chatbots sem ligação determinística ao banco podem inventar valores, aplicar descontos não autorizados ou expor dados de faturas.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Solução proposta: </a:t>
            </a:r>
            <a:r>
              <a:rPr lang="pt-BR" sz="1600" b="0">
                <a:solidFill>
                  <a:srgbClr val="262626"/>
                </a:solidFill>
              </a:rPr>
              <a:t>módulo «Performalog Atendimento» integrado à WhatsApp Cloud API, com tabelas relacionais wa_* e agente de cobrança ancorado em dados reais do banco (grounding determinístico).</a:t>
            </a:r>
          </a:p>
        </p:txBody>
      </p:sp>
    </p:spTree>
    <p:extLst>
      <p:ext uri="{BB962C8B-B14F-4D97-AF65-F5344CB8AC3E}">
        <ns5:creationId val="766533696"/>
      </p:ext>
    </p:extLst>
  </p:cSld>
  <p:clrMapOvr>
    <a:masterClrMapping/>
  </p:clrMapOvr>
</p:sld>
</file>

<file path=ppt/slides/slide10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discurso bolhas com questão marcas dúvida conceito problema resolução  20186734 Vetor no Vecteezy">
            <a:extLst>
              <a:ext uri="{FF2B5EF4-FFF2-40B4-BE49-F238E27FC236}">
                <ns3:creationId id="{8C679657-AC66-95C5-DD05-747A1DA45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676164" y="341015"/>
            <a:ext cx="537754" cy="537754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3" name="Conector Reto 2">
            <a:extLst>
              <a:ext uri="{FF2B5EF4-FFF2-40B4-BE49-F238E27FC236}">
                <ns3:creationId id="{90FEC404-6968-AFF8-312A-E0C905B32509}"/>
              </a:ext>
            </a:extLst>
          </p:cNvPr>
          <p:cNvCxnSpPr>
            <a:cxnSpLocks/>
          </p:cNvCxnSpPr>
          <p:nvPr/>
        </p:nvCxnSpPr>
        <p:spPr>
          <a:xfrm>
            <a:off x="2213918" y="878769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ns3:creationId id="{ABEF2A57-3E97-041C-8A6F-A36F0D7804AF}"/>
              </a:ext>
            </a:extLst>
          </p:cNvPr>
          <p:cNvSpPr txBox="1"/>
          <p:nvPr/>
        </p:nvSpPr>
        <p:spPr>
          <a:xfrm>
            <a:off x="1016000" y="1714500"/>
            <a:ext cx="10287000" cy="444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Modelagem relacional e integridade (Codd, 1970; Silberschatz et al., 2020): </a:t>
            </a:r>
            <a:r>
              <a:rPr lang="pt-BR" sz="1600" b="0">
                <a:solidFill>
                  <a:srgbClr val="262626"/>
                </a:solidFill>
              </a:rPr>
              <a:t>segundo Codd (1970), Date (2004) e Elmasri e Navathe (2018), a consistência vem de modelos relacionais normalizados. O subsistema wa_* (wa_contact, wa_conversation, wa_message, wa_campaign) garante integridade referencial com clientes e faturas.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Grounding determinístico vs. alucinação de IA (Russell; Norvig, 2022; O'Neil, 2020): </a:t>
            </a:r>
            <a:r>
              <a:rPr lang="pt-BR" sz="1600" b="0">
                <a:solidFill>
                  <a:srgbClr val="262626"/>
                </a:solidFill>
              </a:rPr>
              <a:t>para evitar “armas de destruição matemática” (O'Neil, 2020) e alucinações em dados financeiros, a LLM só conduz o diálogo; valores, encargos e saldos em kWh vêm de consultas SQL determinísticas.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Privacidade por design e ética (Floridi, 2023; Meta Platforms, 2026): </a:t>
            </a:r>
            <a:r>
              <a:rPr lang="pt-BR" sz="1600" b="0">
                <a:solidFill>
                  <a:srgbClr val="262626"/>
                </a:solidFill>
              </a:rPr>
              <a:t>conforme a LGPD (Lei nº 13.709/2018), o sistema adota tokens em variáveis de ambiente, verificação SHA-256 de webhooks e gestão de opt-in/opt-out.</a:t>
            </a:r>
          </a:p>
        </p:txBody>
      </p:sp>
      <p:sp>
        <p:nvSpPr>
          <p:cNvPr id="4" name="CaixaDeTexto 3">
            <a:extLst>
              <a:ext uri="{FF2B5EF4-FFF2-40B4-BE49-F238E27FC236}">
                <ns3:creationId id="{C075D35A-93DF-B380-6A8D-8CA6DB980BCE}"/>
              </a:ext>
            </a:extLst>
          </p:cNvPr>
          <p:cNvSpPr txBox="1"/>
          <p:nvPr/>
        </p:nvSpPr>
        <p:spPr>
          <a:xfrm>
            <a:off x="2209800" y="368300"/>
            <a:ext cx="7620000" cy="825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DESAFIO/ QUESTÃO PROBLEMA IDENTIFICADA</a:t>
            </a:r>
          </a:p>
        </p:txBody>
      </p:sp>
      <p:sp>
        <p:nvSpPr>
          <p:cNvPr id="6" name="CaixaDeTexto 5">
            <a:extLst>
              <a:ext uri="{FF2B5EF4-FFF2-40B4-BE49-F238E27FC236}">
                <ns3:creationId id="{2D556137-FE1F-90CA-08D2-5FF48F78CB5E}"/>
              </a:ext>
            </a:extLst>
          </p:cNvPr>
          <p:cNvSpPr txBox="1"/>
          <p:nvPr/>
        </p:nvSpPr>
        <p:spPr>
          <a:xfrm>
            <a:off x="977900" y="1143000"/>
            <a:ext cx="109093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Aprofundamento teórico: modelagem relacional, grounding e governança de dados</a:t>
            </a:r>
          </a:p>
        </p:txBody>
      </p:sp>
    </p:spTree>
    <p:extLst>
      <p:ext uri="{BB962C8B-B14F-4D97-AF65-F5344CB8AC3E}">
        <ns5:creationId val="3471696788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39754589-3D1E-A608-764C-434CCE744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ns2:creationId id="{915C325C-933F-DF20-684B-F4AA4E449166}"/>
              </a:ext>
            </a:extLst>
          </p:cNvPr>
          <p:cNvSpPr txBox="1"/>
          <p:nvPr/>
        </p:nvSpPr>
        <p:spPr>
          <a:xfrm>
            <a:off x="1117600" y="2730500"/>
            <a:ext cx="10439400" cy="2413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None/>
            </a:pPr>
            <a:r>
              <a:rPr lang="pt-BR" sz="2000" b="1">
                <a:solidFill>
                  <a:srgbClr val="1F497D"/>
                </a:solidFill>
              </a:rPr>
              <a:t>PROJETO DE EXTENSÃO UNIVERSITÁRIA — APEX V (BANCO DE DADOS)</a:t>
            </a:r>
          </a:p>
          <a:p>
            <a:pPr algn="ctr"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3ª ETAPA: PLANEJAMENTO TÉCNICO-PEDAGÓGICO, PRODUTO FIGMA E IMPACTO</a:t>
            </a:r>
          </a:p>
          <a:p>
            <a:pPr algn="ctr">
              <a:spcBef>
                <a:spcPts val="500"/>
              </a:spcBef>
              <a:buNone/>
            </a:pPr>
            <a:r>
              <a:rPr lang="pt-BR" sz="1600" b="0">
                <a:solidFill>
                  <a:srgbClr val="262626"/>
                </a:solidFill>
              </a:rPr>
              <a:t>Slides 12 a 19: planejamento pedagógico, cronograma, material educativo digital (Figma), registros, autoavaliação, avaliação da comunidade e referências</a:t>
            </a:r>
          </a:p>
          <a:p>
            <a:pPr algn="ctr">
              <a:spcBef>
                <a:spcPts val="700"/>
              </a:spcBef>
              <a:buNone/>
            </a:pPr>
            <a:r>
              <a:rPr lang="pt-BR" sz="1600" b="1">
                <a:solidFill>
                  <a:srgbClr val="1F497D"/>
                </a:solidFill>
              </a:rPr>
              <a:t>Empresa parceira: Performa Energy | Ano letivo: 2026</a:t>
            </a:r>
          </a:p>
        </p:txBody>
      </p:sp>
      <p:sp>
        <p:nvSpPr>
          <p:cNvPr id="4" name="CaixaDeTexto 3">
            <a:extLst>
              <a:ext uri="{FF2B5EF4-FFF2-40B4-BE49-F238E27FC236}">
                <ns2:creationId id="{E6AFB8D8-5682-96E8-07EB-E2E450C88C81}"/>
              </a:ext>
            </a:extLst>
          </p:cNvPr>
          <p:cNvSpPr txBox="1"/>
          <p:nvPr/>
        </p:nvSpPr>
        <p:spPr>
          <a:xfrm>
            <a:off x="1419859" y="1470489"/>
            <a:ext cx="102123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i="1" dirty="0">
                <a:solidFill>
                  <a:schemeClr val="accent1"/>
                </a:solidFill>
              </a:rPr>
              <a:t>Preencher do slide 12 até o slide 19.</a:t>
            </a:r>
            <a:br>
              <a:rPr lang="pt-BR" sz="2000" i="1" dirty="0">
                <a:solidFill>
                  <a:schemeClr val="accent1"/>
                </a:solidFill>
              </a:rPr>
            </a:br>
            <a:r>
              <a:rPr lang="pt-BR" sz="2000" i="1" dirty="0">
                <a:solidFill>
                  <a:schemeClr val="accent1"/>
                </a:solidFill>
              </a:rPr>
              <a:t>Após o preenchimento, deverá enviar o arquivo no espaço de envio do Módulo 3 na sala de aula. </a:t>
            </a:r>
          </a:p>
          <a:p>
            <a:pPr algn="ctr"/>
            <a:r>
              <a:rPr lang="pt-BR" sz="2000" i="1" dirty="0"/>
              <a:t> </a:t>
            </a:r>
          </a:p>
        </p:txBody>
      </p:sp>
      <p:sp>
        <p:nvSpPr>
          <p:cNvPr id="7" name="CaixaDeTexto 6">
            <a:extLst>
              <a:ext uri="{FF2B5EF4-FFF2-40B4-BE49-F238E27FC236}">
                <ns2:creationId id="{5C4FF75F-D16C-97E4-A452-A996D40C3CE5}"/>
              </a:ext>
            </a:extLst>
          </p:cNvPr>
          <p:cNvSpPr txBox="1"/>
          <p:nvPr/>
        </p:nvSpPr>
        <p:spPr>
          <a:xfrm>
            <a:off x="2584174" y="502815"/>
            <a:ext cx="70634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A33D6B"/>
                </a:solidFill>
              </a:rPr>
              <a:t>3 ª ETAPA</a:t>
            </a:r>
            <a:endParaRPr lang="pt-BR" sz="2400" kern="1200" dirty="0">
              <a:solidFill>
                <a:srgbClr val="A33D6B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0" name="Conector Reto 9">
            <a:extLst>
              <a:ext uri="{FF2B5EF4-FFF2-40B4-BE49-F238E27FC236}">
                <ns2:creationId id="{8F27B4B4-C738-FEA6-1E63-B7FA8E32FC52}"/>
              </a:ext>
            </a:extLst>
          </p:cNvPr>
          <p:cNvCxnSpPr>
            <a:cxnSpLocks/>
          </p:cNvCxnSpPr>
          <p:nvPr/>
        </p:nvCxnSpPr>
        <p:spPr>
          <a:xfrm>
            <a:off x="2232405" y="938354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reeform 7">
            <a:extLst>
              <a:ext uri="{FF2B5EF4-FFF2-40B4-BE49-F238E27FC236}">
                <ns2:creationId id="{F1B85E51-2CCB-5BD1-C1BB-4B171D734434}"/>
              </a:ext>
            </a:extLst>
          </p:cNvPr>
          <p:cNvSpPr/>
          <p:nvPr/>
        </p:nvSpPr>
        <p:spPr>
          <a:xfrm>
            <a:off x="654691" y="266701"/>
            <a:ext cx="933733" cy="1244048"/>
          </a:xfrm>
          <a:custGeom>
            <a:avLst/>
            <a:gdLst/>
            <a:ahLst/>
            <a:cxnLst/>
            <a:rect l="l" t="t" r="r" b="b"/>
            <a:pathLst>
              <a:path w="1117450" h="1573369">
                <a:moveTo>
                  <a:pt x="0" y="0"/>
                </a:moveTo>
                <a:lnTo>
                  <a:pt x="1117450" y="0"/>
                </a:lnTo>
                <a:lnTo>
                  <a:pt x="1117450" y="1573369"/>
                </a:lnTo>
                <a:lnTo>
                  <a:pt x="0" y="157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ns2:creationId id="{89AB03B4-1DBD-F770-4D16-8DF18A980965}"/>
              </a:ext>
            </a:extLst>
          </p:cNvPr>
          <p:cNvSpPr/>
          <p:nvPr/>
        </p:nvSpPr>
        <p:spPr>
          <a:xfrm>
            <a:off x="8182303" y="5439103"/>
            <a:ext cx="3846787" cy="916082"/>
          </a:xfrm>
          <a:prstGeom prst="rect">
            <a:avLst/>
          </a:prstGeom>
          <a:noFill/>
          <a:ln w="38100">
            <a:solidFill>
              <a:srgbClr val="A33D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ns2:creationId id="{BC832759-D363-3729-4266-85FF70881CCA}"/>
              </a:ext>
            </a:extLst>
          </p:cNvPr>
          <p:cNvSpPr txBox="1"/>
          <p:nvPr/>
        </p:nvSpPr>
        <p:spPr>
          <a:xfrm>
            <a:off x="8991236" y="5791200"/>
            <a:ext cx="200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Nota: _______</a:t>
            </a:r>
          </a:p>
        </p:txBody>
      </p:sp>
      <p:sp>
        <p:nvSpPr>
          <p:cNvPr id="6" name="CaixaDeTexto 5">
            <a:extLst>
              <a:ext uri="{FF2B5EF4-FFF2-40B4-BE49-F238E27FC236}">
                <ns2:creationId id="{2114449E-4CA3-3844-B69A-E33DDD36E7B6}"/>
              </a:ext>
            </a:extLst>
          </p:cNvPr>
          <p:cNvSpPr txBox="1"/>
          <p:nvPr/>
        </p:nvSpPr>
        <p:spPr>
          <a:xfrm>
            <a:off x="8076286" y="6355185"/>
            <a:ext cx="4121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Campo a ser preenchido pela professora.</a:t>
            </a:r>
          </a:p>
        </p:txBody>
      </p:sp>
    </p:spTree>
    <p:extLst>
      <p:ext uri="{BB962C8B-B14F-4D97-AF65-F5344CB8AC3E}">
        <ns4:creationId val="2909584430"/>
      </p:ext>
    </p:extLst>
  </p:cSld>
  <p:clrMapOvr>
    <a:masterClrMapping/>
  </p:clrMapOvr>
</p:sld>
</file>

<file path=ppt/slides/slide12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ns3:creationId id="{605801BA-8B7F-9BA5-B655-5D4D33E24B00}"/>
              </a:ext>
            </a:extLst>
          </p:cNvPr>
          <p:cNvSpPr txBox="1"/>
          <p:nvPr/>
        </p:nvSpPr>
        <p:spPr>
          <a:xfrm>
            <a:off x="1054100" y="1168400"/>
            <a:ext cx="101600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Conteúdos, mídia digital e estratégia metodológica</a:t>
            </a:r>
          </a:p>
        </p:txBody>
      </p:sp>
      <p:sp>
        <p:nvSpPr>
          <p:cNvPr id="2" name="CaixaDeTexto 1">
            <a:extLst>
              <a:ext uri="{FF2B5EF4-FFF2-40B4-BE49-F238E27FC236}">
                <ns3:creationId id="{F16D3A3B-6E22-2270-8D78-A1BD720893E2}"/>
              </a:ext>
            </a:extLst>
          </p:cNvPr>
          <p:cNvSpPr txBox="1"/>
          <p:nvPr/>
        </p:nvSpPr>
        <p:spPr>
          <a:xfrm>
            <a:off x="2108200" y="355600"/>
            <a:ext cx="7620000" cy="825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INFORMAÇÕES ESSENCIAIS SOBRE O PLANEJAMENTO</a:t>
            </a:r>
          </a:p>
        </p:txBody>
      </p:sp>
      <p:pic>
        <p:nvPicPr>
          <p:cNvPr id="3" name="Picture 2" descr="Planejamento - ícones de do utilizador grátis">
            <a:extLst>
              <a:ext uri="{FF2B5EF4-FFF2-40B4-BE49-F238E27FC236}">
                <ns3:creationId id="{944120EE-D71F-64CC-2FB1-46BDEEFD5D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50111" y="509451"/>
            <a:ext cx="268534" cy="268534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4" name="Conector Reto 3">
            <a:extLst>
              <a:ext uri="{FF2B5EF4-FFF2-40B4-BE49-F238E27FC236}">
                <ns3:creationId id="{498FB6EC-2D20-900B-A04E-FA848B78DE53}"/>
              </a:ext>
            </a:extLst>
          </p:cNvPr>
          <p:cNvCxnSpPr>
            <a:cxnSpLocks/>
          </p:cNvCxnSpPr>
          <p:nvPr/>
        </p:nvCxnSpPr>
        <p:spPr>
          <a:xfrm>
            <a:off x="2163770" y="81591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63D92328-B002-BEAB-5434-AB121FCDA501}"/>
              </a:ext>
            </a:extLst>
          </p:cNvPr>
          <p:cNvSpPr txBox="1"/>
          <p:nvPr/>
        </p:nvSpPr>
        <p:spPr>
          <a:xfrm>
            <a:off x="1054100" y="1714500"/>
            <a:ext cx="10160000" cy="444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Conteúdos a serem abordados: </a:t>
            </a:r>
            <a:r>
              <a:rPr lang="pt-BR" sz="1600" b="0">
                <a:solidFill>
                  <a:srgbClr val="262626"/>
                </a:solidFill>
              </a:rPr>
              <a:t>arquitetura de dados de mensageria (subsistema wa_* no MySQL); operação do agente de cobrança (identificação por CPF, consulta em tempo real, multa rescisória e saldo CEMIG em kWh); tratamento padronizado de contestações; governança, alçada de negociação e transbordo humano.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Mídia digital a ser desenvolvida: </a:t>
            </a:r>
            <a:r>
              <a:rPr lang="pt-BR" sz="1600" b="0">
                <a:solidFill>
                  <a:srgbClr val="262626"/>
                </a:solidFill>
              </a:rPr>
              <a:t>protótipo navegável no Figma da nova aba «Atendimento» do CRM Performalog, com tela de chat, Ficha 360° do cliente e console da régua de cobrança.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Estratégia metodológica: </a:t>
            </a:r>
            <a:r>
              <a:rPr lang="pt-BR" sz="1600" b="0">
                <a:solidFill>
                  <a:srgbClr val="262626"/>
                </a:solidFill>
              </a:rPr>
              <a:t>andragogia (Knowles; Holton III; Swanson, 2009): aprendizagem experiencial centrada em problemas reais, com simulação de atendimentos e testes de transbordo no protótipo.</a:t>
            </a:r>
          </a:p>
        </p:txBody>
      </p:sp>
    </p:spTree>
    <p:extLst>
      <p:ext uri="{BB962C8B-B14F-4D97-AF65-F5344CB8AC3E}">
        <ns5:creationId val="2536437801"/>
      </p:ext>
    </p:extLst>
  </p:cSld>
  <p:clrMapOvr>
    <a:masterClrMapping/>
  </p:clrMapOvr>
</p:sld>
</file>

<file path=ppt/slides/slide13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ns3:creationId id="{605801BA-8B7F-9BA5-B655-5D4D33E24B00}"/>
              </a:ext>
            </a:extLst>
          </p:cNvPr>
          <p:cNvSpPr txBox="1"/>
          <p:nvPr/>
        </p:nvSpPr>
        <p:spPr>
          <a:xfrm>
            <a:off x="1054100" y="1168400"/>
            <a:ext cx="101600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Etapas, responsáveis e cronograma integrado de 6 semanas</a:t>
            </a:r>
          </a:p>
        </p:txBody>
      </p:sp>
      <p:sp>
        <p:nvSpPr>
          <p:cNvPr id="2" name="CaixaDeTexto 1">
            <a:extLst>
              <a:ext uri="{FF2B5EF4-FFF2-40B4-BE49-F238E27FC236}">
                <ns3:creationId id="{F16D3A3B-6E22-2270-8D78-A1BD720893E2}"/>
              </a:ext>
            </a:extLst>
          </p:cNvPr>
          <p:cNvSpPr txBox="1"/>
          <p:nvPr/>
        </p:nvSpPr>
        <p:spPr>
          <a:xfrm>
            <a:off x="2108200" y="355600"/>
            <a:ext cx="7620000" cy="825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INFORMAÇÕES ESSENCIAIS SOBRE O PLANEJAMENTO</a:t>
            </a:r>
          </a:p>
        </p:txBody>
      </p:sp>
      <p:pic>
        <p:nvPicPr>
          <p:cNvPr id="3" name="Picture 2" descr="Planejamento - ícones de do utilizador grátis">
            <a:extLst>
              <a:ext uri="{FF2B5EF4-FFF2-40B4-BE49-F238E27FC236}">
                <ns3:creationId id="{944120EE-D71F-64CC-2FB1-46BDEEFD5D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50111" y="509451"/>
            <a:ext cx="268534" cy="268534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4" name="Conector Reto 3">
            <a:extLst>
              <a:ext uri="{FF2B5EF4-FFF2-40B4-BE49-F238E27FC236}">
                <ns3:creationId id="{498FB6EC-2D20-900B-A04E-FA848B78DE53}"/>
              </a:ext>
            </a:extLst>
          </p:cNvPr>
          <p:cNvCxnSpPr>
            <a:cxnSpLocks/>
          </p:cNvCxnSpPr>
          <p:nvPr/>
        </p:nvCxnSpPr>
        <p:spPr>
          <a:xfrm>
            <a:off x="2163770" y="81591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63D92328-B002-BEAB-5434-AB121FCDA501}"/>
              </a:ext>
            </a:extLst>
          </p:cNvPr>
          <p:cNvSpPr txBox="1"/>
          <p:nvPr/>
        </p:nvSpPr>
        <p:spPr>
          <a:xfrm>
            <a:off x="1054100" y="1714500"/>
            <a:ext cx="10160000" cy="444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Semana 1 — Diagnóstico de dados: </a:t>
            </a:r>
            <a:r>
              <a:rPr lang="pt-BR" sz="1600" b="0">
                <a:solidFill>
                  <a:srgbClr val="262626"/>
                </a:solidFill>
              </a:rPr>
              <a:t>levantamento dos relatórios da CEMIG e das faturas da Digital Grid no MySQL. (Discente e TI)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Semana 2 — Modelagem relacional: </a:t>
            </a:r>
            <a:r>
              <a:rPr lang="pt-BR" sz="1600" b="0">
                <a:solidFill>
                  <a:srgbClr val="262626"/>
                </a:solidFill>
              </a:rPr>
              <a:t>especificação das tabelas wa_* e envio da 1ª etapa no AVA. (Discente)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Semana 3 — Regras do agente de cobrança: </a:t>
            </a:r>
            <a:r>
              <a:rPr lang="pt-BR" sz="1600" b="0">
                <a:solidFill>
                  <a:srgbClr val="262626"/>
                </a:solidFill>
              </a:rPr>
              <a:t>estruturação das categorias de contestação e das réguas de negociação; envio da 2ª etapa no AVA. (Discente)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Semana 4 — Certificação iTalents e Figma: </a:t>
            </a:r>
            <a:r>
              <a:rPr lang="pt-BR" sz="1600" b="0">
                <a:solidFill>
                  <a:srgbClr val="262626"/>
                </a:solidFill>
              </a:rPr>
              <a:t>conclusão do curso de Figma e construção das telas navegáveis da aba Atendimento. (Discente)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Semana 5 — Intervenção presencial: </a:t>
            </a:r>
            <a:r>
              <a:rPr lang="pt-BR" sz="1600" b="0">
                <a:solidFill>
                  <a:srgbClr val="262626"/>
                </a:solidFill>
              </a:rPr>
              <a:t>oficina na Performa Energy, testes com a equipe e registro das 3 fotos obrigatórias. (Discente e colaboradores)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Semana 6 — Avaliação e entrega final: </a:t>
            </a:r>
            <a:r>
              <a:rPr lang="pt-BR" sz="1600" b="0">
                <a:solidFill>
                  <a:srgbClr val="262626"/>
                </a:solidFill>
              </a:rPr>
              <a:t>tabulação dos questionários Likert, autoavaliação nas 5 dimensões e entrega de slides, certificado e link do Figma. (Discente)</a:t>
            </a:r>
          </a:p>
        </p:txBody>
      </p:sp>
    </p:spTree>
    <p:extLst>
      <p:ext uri="{BB962C8B-B14F-4D97-AF65-F5344CB8AC3E}">
        <ns5:creationId val="1908023008"/>
      </p:ext>
    </p:extLst>
  </p:cSld>
  <p:clrMapOvr>
    <a:masterClrMapping/>
  </p:clrMapOvr>
</p:sld>
</file>

<file path=ppt/slides/slide14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ns3:creationId id="{6427B696-293E-F480-15E9-AB0A332EB4B6}"/>
              </a:ext>
            </a:extLst>
          </p:cNvPr>
          <p:cNvSpPr txBox="1"/>
          <p:nvPr/>
        </p:nvSpPr>
        <p:spPr>
          <a:xfrm>
            <a:off x="2108200" y="406400"/>
            <a:ext cx="762000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MATERIAL EDUCATIVO DIGITAL</a:t>
            </a:r>
          </a:p>
        </p:txBody>
      </p:sp>
      <p:cxnSp>
        <p:nvCxnSpPr>
          <p:cNvPr id="4" name="Conector Reto 3">
            <a:extLst>
              <a:ext uri="{FF2B5EF4-FFF2-40B4-BE49-F238E27FC236}">
                <ns3:creationId id="{15862765-1C77-BA4F-7177-A2586214AEF3}"/>
              </a:ext>
            </a:extLst>
          </p:cNvPr>
          <p:cNvCxnSpPr>
            <a:cxnSpLocks/>
          </p:cNvCxnSpPr>
          <p:nvPr/>
        </p:nvCxnSpPr>
        <p:spPr>
          <a:xfrm>
            <a:off x="2163770" y="81591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Vídeo - ícones de marketing grátis">
            <a:extLst>
              <a:ext uri="{FF2B5EF4-FFF2-40B4-BE49-F238E27FC236}">
                <ns3:creationId id="{0F0B875B-821C-468F-4BEF-58A85E41B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907180" y="547195"/>
            <a:ext cx="256590" cy="256590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7" name="CaixaDeTexto 6">
            <a:extLst>
              <a:ext uri="{FF2B5EF4-FFF2-40B4-BE49-F238E27FC236}">
                <ns3:creationId id="{C1E3D3FB-B075-26A8-1292-F6CEAFB551CC}"/>
              </a:ext>
            </a:extLst>
          </p:cNvPr>
          <p:cNvSpPr txBox="1"/>
          <p:nvPr/>
        </p:nvSpPr>
        <p:spPr>
          <a:xfrm>
            <a:off x="1066800" y="1244600"/>
            <a:ext cx="10414000" cy="30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Protótipo navegável «Performalog Atendimento» (Figma)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0">
                <a:solidFill>
                  <a:srgbClr val="262626"/>
                </a:solidFill>
              </a:rPr>
              <a:t>Propõe-se um protótipo navegável de alta fidelidade que representa a integração da WhatsApp Cloud API ao CRM Performalog, oferecendo à equipe uma interface única para supervisionar o agente inteligente, negociar dívidas e dar suporte técnico.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Orientações de uso: </a:t>
            </a:r>
            <a:r>
              <a:rPr lang="pt-BR" sz="1800" b="0">
                <a:solidFill>
                  <a:srgbClr val="262626"/>
                </a:solidFill>
              </a:rPr>
              <a:t>o protótipo será acessado pelo navegador, por link público, com perfis diferenciados (Admin, Cobrança e Sucesso do Cliente), modo claro e escuro, console da API e simulador móvel para testes de ponta a ponta.</a:t>
            </a:r>
          </a:p>
        </p:txBody>
      </p:sp>
      <p:sp>
        <p:nvSpPr>
          <p:cNvPr id="10" name="CaixaDeTexto 9">
            <a:extLst>
              <a:ext uri="{FF2B5EF4-FFF2-40B4-BE49-F238E27FC236}">
                <ns3:creationId id="{08AF9E68-44E1-9156-1581-47A5B9126A1A}"/>
              </a:ext>
            </a:extLst>
          </p:cNvPr>
          <p:cNvSpPr txBox="1"/>
          <p:nvPr/>
        </p:nvSpPr>
        <p:spPr>
          <a:xfrm>
            <a:off x="1066800" y="4876800"/>
            <a:ext cx="9906000" cy="406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600" b="1">
                <a:solidFill>
                  <a:srgbClr val="0070C0"/>
                </a:solidFill>
              </a:rPr>
              <a:t>https://www.figma.com/proto/performalog-atendimento-cobranca</a:t>
            </a:r>
          </a:p>
        </p:txBody>
      </p:sp>
      <p:sp>
        <p:nvSpPr>
          <p:cNvPr id="11" name="CaixaDeTexto 10">
            <a:extLst>
              <a:ext uri="{FF2B5EF4-FFF2-40B4-BE49-F238E27FC236}">
                <ns3:creationId id="{35393B69-9249-F300-ECB7-2DDB565ACFFF}"/>
              </a:ext>
            </a:extLst>
          </p:cNvPr>
          <p:cNvSpPr txBox="1"/>
          <p:nvPr/>
        </p:nvSpPr>
        <p:spPr>
          <a:xfrm>
            <a:off x="1066800" y="447040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>
                <a:solidFill>
                  <a:srgbClr val="1F497D"/>
                </a:solidFill>
              </a:rPr>
              <a:t>Link público para acesso e navegação interativa no protótipo Figma:</a:t>
            </a:r>
          </a:p>
        </p:txBody>
      </p:sp>
    </p:spTree>
    <p:extLst>
      <p:ext uri="{BB962C8B-B14F-4D97-AF65-F5344CB8AC3E}">
        <ns5:creationId val="989068576"/>
      </p:ext>
    </p:extLst>
  </p:cSld>
  <p:clrMapOvr>
    <a:masterClrMapping/>
  </p:clrMapOvr>
</p:sld>
</file>

<file path=ppt/slides/slide15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ns3:creationId id="{6427B696-293E-F480-15E9-AB0A332EB4B6}"/>
              </a:ext>
            </a:extLst>
          </p:cNvPr>
          <p:cNvSpPr txBox="1"/>
          <p:nvPr/>
        </p:nvSpPr>
        <p:spPr>
          <a:xfrm>
            <a:off x="2108200" y="406400"/>
            <a:ext cx="762000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MATERIAL EDUCATIVO DIGITAL</a:t>
            </a:r>
          </a:p>
        </p:txBody>
      </p:sp>
      <p:cxnSp>
        <p:nvCxnSpPr>
          <p:cNvPr id="4" name="Conector Reto 3">
            <a:extLst>
              <a:ext uri="{FF2B5EF4-FFF2-40B4-BE49-F238E27FC236}">
                <ns3:creationId id="{15862765-1C77-BA4F-7177-A2586214AEF3}"/>
              </a:ext>
            </a:extLst>
          </p:cNvPr>
          <p:cNvCxnSpPr>
            <a:cxnSpLocks/>
          </p:cNvCxnSpPr>
          <p:nvPr/>
        </p:nvCxnSpPr>
        <p:spPr>
          <a:xfrm>
            <a:off x="2163770" y="81591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Vídeo - ícones de marketing grátis">
            <a:extLst>
              <a:ext uri="{FF2B5EF4-FFF2-40B4-BE49-F238E27FC236}">
                <ns3:creationId id="{0F0B875B-821C-468F-4BEF-58A85E41B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907180" y="547195"/>
            <a:ext cx="256590" cy="256590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2" name="CaixaDeTexto 1">
            <a:extLst>
              <a:ext uri="{FF2B5EF4-FFF2-40B4-BE49-F238E27FC236}">
                <ns3:creationId id="{AB46FEB6-03D4-64CE-55D7-359789EE06E3}"/>
              </a:ext>
            </a:extLst>
          </p:cNvPr>
          <p:cNvSpPr txBox="1"/>
          <p:nvPr/>
        </p:nvSpPr>
        <p:spPr>
          <a:xfrm>
            <a:off x="1066800" y="1244600"/>
            <a:ext cx="1016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Telas e módulos operacionais previstos no protótipo</a:t>
            </a:r>
          </a:p>
        </p:txBody>
      </p:sp>
      <p:sp>
        <p:nvSpPr>
          <p:cNvPr id="7" name="CaixaDeTexto 6">
            <a:extLst>
              <a:ext uri="{FF2B5EF4-FFF2-40B4-BE49-F238E27FC236}">
                <ns3:creationId id="{32A6D82C-FBC4-E214-C477-1D9EB5FF2D89}"/>
              </a:ext>
            </a:extLst>
          </p:cNvPr>
          <p:cNvSpPr txBox="1"/>
          <p:nvPr/>
        </p:nvSpPr>
        <p:spPr>
          <a:xfrm>
            <a:off x="1066800" y="1778000"/>
            <a:ext cx="10160000" cy="43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Inbox unificado e chat: </a:t>
            </a:r>
            <a:r>
              <a:rPr lang="pt-BR" sz="1600" b="0">
                <a:solidFill>
                  <a:srgbClr val="262626"/>
                </a:solidFill>
              </a:rPr>
              <a:t>painel de 3 colunas (filtros, chat com identificação de mensagens do bot e do humano, controle da janela de 24 h da Meta) para intervenção imediata do atendente.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Ficha 360° do cliente: </a:t>
            </a:r>
            <a:r>
              <a:rPr lang="pt-BR" sz="1600" b="0">
                <a:solidFill>
                  <a:srgbClr val="262626"/>
                </a:solidFill>
              </a:rPr>
              <a:t>dados do banco sincronizados — unidades consumidoras, saldo de créditos CEMIG em kWh, faturas abertas na Digital Grid e histórico de contestações.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Painel ao vivo e autorizações: </a:t>
            </a:r>
            <a:r>
              <a:rPr lang="pt-BR" sz="1600" b="0">
                <a:solidFill>
                  <a:srgbClr val="262626"/>
                </a:solidFill>
              </a:rPr>
              <a:t>filas por setor, situação dos atendentes e aprovação de acordos que excedam a alçada autônoma do agente.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Régua de cobrança e disparos: </a:t>
            </a:r>
            <a:r>
              <a:rPr lang="pt-BR" sz="1600" b="0">
                <a:solidFill>
                  <a:srgbClr val="262626"/>
                </a:solidFill>
              </a:rPr>
              <a:t>parametrização da régua (D-3, D0, D+5, D+10) e segmentação de destinatários com templates aprovados pela Meta.</a:t>
            </a:r>
          </a:p>
        </p:txBody>
      </p:sp>
    </p:spTree>
    <p:extLst>
      <p:ext uri="{BB962C8B-B14F-4D97-AF65-F5344CB8AC3E}">
        <ns5:creationId val="1102658212"/>
      </p:ext>
    </p:extLst>
  </p:cSld>
  <p:clrMapOvr>
    <a:masterClrMapping/>
  </p:clrMapOvr>
</p:sld>
</file>

<file path=ppt/slides/slide16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ns3:creationId id="{6427B696-293E-F480-15E9-AB0A332EB4B6}"/>
              </a:ext>
            </a:extLst>
          </p:cNvPr>
          <p:cNvSpPr txBox="1"/>
          <p:nvPr/>
        </p:nvSpPr>
        <p:spPr>
          <a:xfrm>
            <a:off x="2108200" y="406400"/>
            <a:ext cx="762000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REGISTROS DO DESENVOLVIMENTO DA ATIVIDADE</a:t>
            </a:r>
          </a:p>
        </p:txBody>
      </p:sp>
      <p:cxnSp>
        <p:nvCxnSpPr>
          <p:cNvPr id="4" name="Conector Reto 3">
            <a:extLst>
              <a:ext uri="{FF2B5EF4-FFF2-40B4-BE49-F238E27FC236}">
                <ns3:creationId id="{15862765-1C77-BA4F-7177-A2586214AEF3}"/>
              </a:ext>
            </a:extLst>
          </p:cNvPr>
          <p:cNvCxnSpPr>
            <a:cxnSpLocks/>
          </p:cNvCxnSpPr>
          <p:nvPr/>
        </p:nvCxnSpPr>
        <p:spPr>
          <a:xfrm>
            <a:off x="2163770" y="81591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Vídeo - ícones de marketing grátis">
            <a:extLst>
              <a:ext uri="{FF2B5EF4-FFF2-40B4-BE49-F238E27FC236}">
                <ns3:creationId id="{0F0B875B-821C-468F-4BEF-58A85E41B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907180" y="547195"/>
            <a:ext cx="256590" cy="256590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7" name="CaixaDeTexto 6">
            <a:extLst>
              <a:ext uri="{FF2B5EF4-FFF2-40B4-BE49-F238E27FC236}">
                <ns3:creationId id="{C1E3D3FB-B075-26A8-1292-F6CEAFB551CC}"/>
              </a:ext>
            </a:extLst>
          </p:cNvPr>
          <p:cNvSpPr txBox="1"/>
          <p:nvPr/>
        </p:nvSpPr>
        <p:spPr>
          <a:xfrm>
            <a:off x="1066800" y="1244600"/>
            <a:ext cx="10160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Registros fotográficos previstos para a apresentação presencial</a:t>
            </a:r>
          </a:p>
          <a:p>
            <a:pPr marL="285750" indent="-285750">
              <a:spcBef>
                <a:spcPts val="9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Foto 1 — Abertura e arquitetura do banco: </a:t>
            </a:r>
            <a:r>
              <a:rPr lang="pt-BR" sz="1600" b="0">
                <a:solidFill>
                  <a:srgbClr val="262626"/>
                </a:solidFill>
              </a:rPr>
              <a:t>discente apresentando a modelagem das tabelas wa_*, o fluxo do agente e a integração com os relatórios da CEMIG, com as equipes reunidas.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Foto 2 — Oficina prática no protótipo: </a:t>
            </a:r>
            <a:r>
              <a:rPr lang="pt-BR" sz="1600" b="0">
                <a:solidFill>
                  <a:srgbClr val="262626"/>
                </a:solidFill>
              </a:rPr>
              <a:t>analistas, em suas estações de trabalho, navegando no protótipo Figma e simulando atendimento, consulta de créditos em kWh e negociação.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Foto 3 — Debate sobre transbordo e avaliação: </a:t>
            </a:r>
            <a:r>
              <a:rPr lang="pt-BR" sz="1600" b="0">
                <a:solidFill>
                  <a:srgbClr val="262626"/>
                </a:solidFill>
              </a:rPr>
              <a:t>discussão sobre governança de dados e alçadas de desconto, seguida do preenchimento da ficha de avaliação.</a:t>
            </a:r>
          </a:p>
          <a:p>
            <a:pPr>
              <a:spcBef>
                <a:spcPts val="900"/>
              </a:spcBef>
              <a:buNone/>
            </a:pPr>
            <a:r>
              <a:rPr lang="pt-BR" sz="1600" b="0" i="1">
                <a:solidFill>
                  <a:srgbClr val="595959"/>
                </a:solidFill>
              </a:rPr>
              <a:t>As fotos reais, com consentimento dos participantes, serão inseridas no Módulo 4, após a realização da oficina.</a:t>
            </a:r>
          </a:p>
        </p:txBody>
      </p:sp>
    </p:spTree>
    <p:extLst>
      <p:ext uri="{BB962C8B-B14F-4D97-AF65-F5344CB8AC3E}">
        <ns5:creationId val="2652950174"/>
      </p:ext>
    </p:extLst>
  </p:cSld>
  <p:clrMapOvr>
    <a:masterClrMapping/>
  </p:clrMapOvr>
</p:sld>
</file>

<file path=ppt/slides/slide17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ns3:creationId id="{703D52A3-58EB-4538-6C53-19F3DA8F9D42}"/>
              </a:ext>
            </a:extLst>
          </p:cNvPr>
          <p:cNvSpPr txBox="1"/>
          <p:nvPr/>
        </p:nvSpPr>
        <p:spPr>
          <a:xfrm>
            <a:off x="1993900" y="406400"/>
            <a:ext cx="8191500" cy="571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AUTOAVALIAÇÃO</a:t>
            </a:r>
          </a:p>
        </p:txBody>
      </p:sp>
      <p:pic>
        <p:nvPicPr>
          <p:cNvPr id="4" name="Picture 2" descr="Avaliação - ícones de marketing grátis">
            <a:extLst>
              <a:ext uri="{FF2B5EF4-FFF2-40B4-BE49-F238E27FC236}">
                <ns3:creationId id="{021985C0-4E41-5055-CC03-8F59CAA8B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639218" y="530690"/>
            <a:ext cx="360914" cy="360914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5" name="Conector Reto 4">
            <a:extLst>
              <a:ext uri="{FF2B5EF4-FFF2-40B4-BE49-F238E27FC236}">
                <ns3:creationId id="{B612C9E3-65F2-47B3-AB81-5DC256BFCD2F}"/>
              </a:ext>
            </a:extLst>
          </p:cNvPr>
          <p:cNvCxnSpPr>
            <a:cxnSpLocks/>
          </p:cNvCxnSpPr>
          <p:nvPr/>
        </p:nvCxnSpPr>
        <p:spPr>
          <a:xfrm>
            <a:off x="2163770" y="815918"/>
            <a:ext cx="733292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100C3EB5-A730-2E72-4441-A7E0AAEF524E}"/>
              </a:ext>
            </a:extLst>
          </p:cNvPr>
          <p:cNvSpPr txBox="1"/>
          <p:nvPr/>
        </p:nvSpPr>
        <p:spPr>
          <a:xfrm>
            <a:off x="1270000" y="1714500"/>
            <a:ext cx="990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Relevância da temática (global e local): </a:t>
            </a:r>
            <a:r>
              <a:rPr lang="pt-BR" sz="1600" b="0">
                <a:solidFill>
                  <a:srgbClr val="262626"/>
                </a:solidFill>
              </a:rPr>
              <a:t>a união entre energia limpa (ODS 7) e inovação em banco de dados e IA (ODS 9) deve mostrar como soluções locais do setor solar contribuem para metas globais.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Formação acadêmica em Banco de Dados: </a:t>
            </a:r>
            <a:r>
              <a:rPr lang="pt-BR" sz="1600" b="0">
                <a:solidFill>
                  <a:srgbClr val="262626"/>
                </a:solidFill>
              </a:rPr>
              <a:t>prevê-se consolidar, na prática, modelagem relacional, integridade referencial, consultas, integração via APIs e governança sob a LGPD.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Soft skills: </a:t>
            </a:r>
            <a:r>
              <a:rPr lang="pt-BR" sz="1600" b="0">
                <a:solidFill>
                  <a:srgbClr val="262626"/>
                </a:solidFill>
              </a:rPr>
              <a:t>espera-se evoluir em comunicação técnica e pedagógica, negociação e escuta das dificuldades operacionais dos usuários.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Conexão com a comunidade: </a:t>
            </a:r>
            <a:r>
              <a:rPr lang="pt-BR" sz="1600" b="0">
                <a:solidFill>
                  <a:srgbClr val="262626"/>
                </a:solidFill>
              </a:rPr>
              <a:t>a atividade busca aproximar a teoria das necessidades reais da equipe da Performa Energy, gerando valor compartilhado.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Empoderamento e transformação social: </a:t>
            </a:r>
            <a:r>
              <a:rPr lang="pt-BR" sz="1600" b="0">
                <a:solidFill>
                  <a:srgbClr val="262626"/>
                </a:solidFill>
              </a:rPr>
              <a:t>busca-se ampliar a percepção do tecnólogo em Banco de Dados como arquiteto de soluções éticas que protegem a privacidade e a cidadania.</a:t>
            </a:r>
          </a:p>
        </p:txBody>
      </p:sp>
      <p:sp>
        <p:nvSpPr>
          <p:cNvPr id="8" name="CaixaDeTexto 7">
            <a:extLst>
              <a:ext uri="{FF2B5EF4-FFF2-40B4-BE49-F238E27FC236}">
                <ns3:creationId id="{9B2968B2-7EAB-B20A-A013-5E7FDC69125D}"/>
              </a:ext>
            </a:extLst>
          </p:cNvPr>
          <p:cNvSpPr txBox="1"/>
          <p:nvPr/>
        </p:nvSpPr>
        <p:spPr>
          <a:xfrm>
            <a:off x="1270000" y="1168400"/>
            <a:ext cx="990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Reflexão sobre as cinco dimensões formativas da Unyleya</a:t>
            </a:r>
          </a:p>
        </p:txBody>
      </p:sp>
    </p:spTree>
    <p:extLst>
      <p:ext uri="{BB962C8B-B14F-4D97-AF65-F5344CB8AC3E}">
        <ns5:creationId val="2339280283"/>
      </p:ext>
    </p:extLst>
  </p:cSld>
  <p:clrMapOvr>
    <a:masterClrMapping/>
  </p:clrMapOvr>
</p:sld>
</file>

<file path=ppt/slides/slide18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ns3:creationId id="{703D52A3-58EB-4538-6C53-19F3DA8F9D42}"/>
              </a:ext>
            </a:extLst>
          </p:cNvPr>
          <p:cNvSpPr txBox="1"/>
          <p:nvPr/>
        </p:nvSpPr>
        <p:spPr>
          <a:xfrm>
            <a:off x="1993900" y="406400"/>
            <a:ext cx="8902700" cy="571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AVALIAÇÃO DA COMUNIDADE ATENDIDA</a:t>
            </a:r>
          </a:p>
        </p:txBody>
      </p:sp>
      <p:pic>
        <p:nvPicPr>
          <p:cNvPr id="4" name="Picture 2" descr="Avaliação - ícones de marketing grátis">
            <a:extLst>
              <a:ext uri="{FF2B5EF4-FFF2-40B4-BE49-F238E27FC236}">
                <ns3:creationId id="{021985C0-4E41-5055-CC03-8F59CAA8B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639218" y="530690"/>
            <a:ext cx="360914" cy="360914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5" name="Conector Reto 4">
            <a:extLst>
              <a:ext uri="{FF2B5EF4-FFF2-40B4-BE49-F238E27FC236}">
                <ns3:creationId id="{B612C9E3-65F2-47B3-AB81-5DC256BFCD2F}"/>
              </a:ext>
            </a:extLst>
          </p:cNvPr>
          <p:cNvCxnSpPr>
            <a:cxnSpLocks/>
          </p:cNvCxnSpPr>
          <p:nvPr/>
        </p:nvCxnSpPr>
        <p:spPr>
          <a:xfrm>
            <a:off x="2163770" y="815918"/>
            <a:ext cx="733292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ns3:creationId id="{97B3EF7D-7363-ACD0-1C9C-445212C3F134}"/>
              </a:ext>
            </a:extLst>
          </p:cNvPr>
          <p:cNvSpPr txBox="1"/>
          <p:nvPr/>
        </p:nvSpPr>
        <p:spPr>
          <a:xfrm>
            <a:off x="1270000" y="1714500"/>
            <a:ext cx="990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Instrumento: </a:t>
            </a:r>
            <a:r>
              <a:rPr lang="pt-BR" sz="1600" b="0">
                <a:solidFill>
                  <a:srgbClr val="262626"/>
                </a:solidFill>
              </a:rPr>
              <a:t>questionário anônimo em escala Likert de 1 a 5, aplicado aos colaboradores participantes da oficina.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Metas: </a:t>
            </a:r>
            <a:r>
              <a:rPr lang="pt-BR" sz="1600" b="0">
                <a:solidFill>
                  <a:srgbClr val="262626"/>
                </a:solidFill>
              </a:rPr>
              <a:t>média ≥ 4,8 em aderência operacional, usabilidade do Figma, clareza didática e eficiência; 5,0 em segurança e LGPD.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Foco — Cobrança: </a:t>
            </a:r>
            <a:r>
              <a:rPr lang="pt-BR" sz="1600" b="0">
                <a:solidFill>
                  <a:srgbClr val="262626"/>
                </a:solidFill>
              </a:rPr>
              <a:t>redução do esforço manual em planilhas e eficácia da régua de negociação.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Foco — Sucesso do Cliente: </a:t>
            </a:r>
            <a:r>
              <a:rPr lang="pt-BR" sz="1600" b="0">
                <a:solidFill>
                  <a:srgbClr val="262626"/>
                </a:solidFill>
              </a:rPr>
              <a:t>clareza na explicação do rateio CEMIG em kWh e das faturas, na Ficha 360°.</a:t>
            </a:r>
          </a:p>
          <a:p>
            <a:pPr marL="285750" indent="-285750">
              <a:spcBef>
                <a:spcPts val="5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Foco — TI e Operações: </a:t>
            </a:r>
            <a:r>
              <a:rPr lang="pt-BR" sz="1600" b="0">
                <a:solidFill>
                  <a:srgbClr val="262626"/>
                </a:solidFill>
              </a:rPr>
              <a:t>integridade das tabelas wa_*, segurança dos webhooks da Meta e não alucinação de valores pela IA.</a:t>
            </a:r>
          </a:p>
          <a:p>
            <a:pPr>
              <a:spcBef>
                <a:spcPts val="700"/>
              </a:spcBef>
              <a:buNone/>
            </a:pPr>
            <a:r>
              <a:rPr lang="pt-BR" sz="1600" b="0" i="1">
                <a:solidFill>
                  <a:srgbClr val="595959"/>
                </a:solidFill>
              </a:rPr>
              <a:t>Métricas e depoimentos reais serão tabulados no Módulo 4, após a oficina presencial (Semana 5).</a:t>
            </a:r>
          </a:p>
        </p:txBody>
      </p:sp>
      <p:sp>
        <p:nvSpPr>
          <p:cNvPr id="7" name="CaixaDeTexto 6">
            <a:extLst>
              <a:ext uri="{FF2B5EF4-FFF2-40B4-BE49-F238E27FC236}">
                <ns3:creationId id="{8F60BEFB-9A34-4B07-D03B-5BC3F634D385}"/>
              </a:ext>
            </a:extLst>
          </p:cNvPr>
          <p:cNvSpPr txBox="1"/>
          <p:nvPr/>
        </p:nvSpPr>
        <p:spPr>
          <a:xfrm>
            <a:off x="1270000" y="1168400"/>
            <a:ext cx="990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Planejamento da avaliação: instrumento, metas e focos de coleta</a:t>
            </a:r>
          </a:p>
        </p:txBody>
      </p:sp>
    </p:spTree>
    <p:extLst>
      <p:ext uri="{BB962C8B-B14F-4D97-AF65-F5344CB8AC3E}">
        <ns5:creationId val="1007076599"/>
      </p:ext>
    </p:extLst>
  </p:cSld>
  <p:clrMapOvr>
    <a:masterClrMapping/>
  </p:clrMapOvr>
</p:sld>
</file>

<file path=ppt/slides/slide19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ns3:creationId id="{703D52A3-58EB-4538-6C53-19F3DA8F9D42}"/>
              </a:ext>
            </a:extLst>
          </p:cNvPr>
          <p:cNvSpPr txBox="1"/>
          <p:nvPr/>
        </p:nvSpPr>
        <p:spPr>
          <a:xfrm>
            <a:off x="2185751" y="370070"/>
            <a:ext cx="8191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REFERÊNCIAS</a:t>
            </a:r>
          </a:p>
        </p:txBody>
      </p:sp>
      <p:cxnSp>
        <p:nvCxnSpPr>
          <p:cNvPr id="5" name="Conector Reto 4">
            <a:extLst>
              <a:ext uri="{FF2B5EF4-FFF2-40B4-BE49-F238E27FC236}">
                <ns3:creationId id="{B612C9E3-65F2-47B3-AB81-5DC256BFCD2F}"/>
              </a:ext>
            </a:extLst>
          </p:cNvPr>
          <p:cNvCxnSpPr>
            <a:cxnSpLocks/>
          </p:cNvCxnSpPr>
          <p:nvPr/>
        </p:nvCxnSpPr>
        <p:spPr>
          <a:xfrm>
            <a:off x="2106618" y="815918"/>
            <a:ext cx="733292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Desenho De Pilha De Livros">
            <a:extLst>
              <a:ext uri="{FF2B5EF4-FFF2-40B4-BE49-F238E27FC236}">
                <ns3:creationId id="{99F1FC44-3A4D-BB76-37F5-A52B72C9C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701571" y="413906"/>
            <a:ext cx="533398" cy="417829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7" name="CaixaDeTexto 6">
            <a:extLst>
              <a:ext uri="{FF2B5EF4-FFF2-40B4-BE49-F238E27FC236}">
                <ns3:creationId id="{B60DCE85-AC46-13DC-617A-BF4BC1ACBD2A}"/>
              </a:ext>
            </a:extLst>
          </p:cNvPr>
          <p:cNvSpPr txBox="1"/>
          <p:nvPr/>
        </p:nvSpPr>
        <p:spPr>
          <a:xfrm>
            <a:off x="1219200" y="965200"/>
            <a:ext cx="9588500" cy="39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>
                <a:solidFill>
                  <a:schemeClr val="accent1"/>
                </a:solidFill>
              </a:rPr>
              <a:t>Referências conforme a ABNT NBR 6023:2018 (Emenda 1:2020)</a:t>
            </a:r>
          </a:p>
        </p:txBody>
      </p:sp>
      <p:sp>
        <p:nvSpPr>
          <p:cNvPr id="2" name="CaixaDeTexto 1">
            <a:extLst>
              <a:ext uri="{FF2B5EF4-FFF2-40B4-BE49-F238E27FC236}">
                <ns3:creationId id="{5F158A4C-C7AD-8905-59B3-8B99C78F4310}"/>
              </a:ext>
            </a:extLst>
          </p:cNvPr>
          <p:cNvSpPr txBox="1"/>
          <p:nvPr/>
        </p:nvSpPr>
        <p:spPr>
          <a:xfrm>
            <a:off x="889000" y="1371600"/>
            <a:ext cx="10541000" cy="469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BRASIL. Agência Nacional de Energia Elétrica. </a:t>
            </a:r>
            <a:r>
              <a:rPr lang="pt-BR" sz="1050" b="1">
                <a:solidFill>
                  <a:srgbClr val="262626"/>
                </a:solidFill>
              </a:rPr>
              <a:t>Resolução Normativa nº 1.000, de 7 de dezembro de 2021</a:t>
            </a:r>
            <a:r>
              <a:rPr lang="pt-BR" sz="1050" b="0">
                <a:solidFill>
                  <a:srgbClr val="262626"/>
                </a:solidFill>
              </a:rPr>
              <a:t>. Estabelece as regras de prestação do serviço público de distribuição de energia elétrica. Diário Oficial da União: seção 1, Brasília, DF, 20 dez. 2021.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BRASIL. </a:t>
            </a:r>
            <a:r>
              <a:rPr lang="pt-BR" sz="1050" b="1">
                <a:solidFill>
                  <a:srgbClr val="262626"/>
                </a:solidFill>
              </a:rPr>
              <a:t>Lei nº 13.709, de 14 de agosto de 2018</a:t>
            </a:r>
            <a:r>
              <a:rPr lang="pt-BR" sz="1050" b="0">
                <a:solidFill>
                  <a:srgbClr val="262626"/>
                </a:solidFill>
              </a:rPr>
              <a:t>. Lei Geral de Proteção de Dados Pessoais (LGPD). Diário Oficial da União: seção 1, Brasília, DF, 15 ago. 2018.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BRASIL. </a:t>
            </a:r>
            <a:r>
              <a:rPr lang="pt-BR" sz="1050" b="1">
                <a:solidFill>
                  <a:srgbClr val="262626"/>
                </a:solidFill>
              </a:rPr>
              <a:t>Lei nº 14.300, de 6 de janeiro de 2022</a:t>
            </a:r>
            <a:r>
              <a:rPr lang="pt-BR" sz="1050" b="0">
                <a:solidFill>
                  <a:srgbClr val="262626"/>
                </a:solidFill>
              </a:rPr>
              <a:t>. Institui o marco legal da microgeração e minigeração distribuída. Diário Oficial da União: seção 1, Brasília, DF, 7 jan. 2022.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CODD, E. F. A relational model of data for large shared data banks. </a:t>
            </a:r>
            <a:r>
              <a:rPr lang="pt-BR" sz="1050" b="1">
                <a:solidFill>
                  <a:srgbClr val="262626"/>
                </a:solidFill>
              </a:rPr>
              <a:t>Communications of the ACM</a:t>
            </a:r>
            <a:r>
              <a:rPr lang="pt-BR" sz="1050" b="0">
                <a:solidFill>
                  <a:srgbClr val="262626"/>
                </a:solidFill>
              </a:rPr>
              <a:t>, New York, v. 13, n. 6, p. 377-387, jun. 1970.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DATE, C. J. </a:t>
            </a:r>
            <a:r>
              <a:rPr lang="pt-BR" sz="1050" b="1">
                <a:solidFill>
                  <a:srgbClr val="262626"/>
                </a:solidFill>
              </a:rPr>
              <a:t>Introdução a sistemas de bancos de dados</a:t>
            </a:r>
            <a:r>
              <a:rPr lang="pt-BR" sz="1050" b="0">
                <a:solidFill>
                  <a:srgbClr val="262626"/>
                </a:solidFill>
              </a:rPr>
              <a:t>. 8. ed. Rio de Janeiro: Elsevier, 2004.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ELMASRI, Ramez; NAVATHE, Shamkant B. </a:t>
            </a:r>
            <a:r>
              <a:rPr lang="pt-BR" sz="1050" b="1">
                <a:solidFill>
                  <a:srgbClr val="262626"/>
                </a:solidFill>
              </a:rPr>
              <a:t>Sistemas de banco de dados</a:t>
            </a:r>
            <a:r>
              <a:rPr lang="pt-BR" sz="1050" b="0">
                <a:solidFill>
                  <a:srgbClr val="262626"/>
                </a:solidFill>
              </a:rPr>
              <a:t>. 7. ed. São Paulo: Pearson, 2018.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FLORIDI, Luciano. </a:t>
            </a:r>
            <a:r>
              <a:rPr lang="pt-BR" sz="1050" b="1">
                <a:solidFill>
                  <a:srgbClr val="262626"/>
                </a:solidFill>
              </a:rPr>
              <a:t>The ethics of artificial intelligence</a:t>
            </a:r>
            <a:r>
              <a:rPr lang="pt-BR" sz="1050" b="0">
                <a:solidFill>
                  <a:srgbClr val="262626"/>
                </a:solidFill>
              </a:rPr>
              <a:t>: principles, challenges, and opportunities. Oxford: Oxford University Press, 2023.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KNOWLES, Malcolm S.; HOLTON III, Elwood F.; SWANSON, Richard A. </a:t>
            </a:r>
            <a:r>
              <a:rPr lang="pt-BR" sz="1050" b="1">
                <a:solidFill>
                  <a:srgbClr val="262626"/>
                </a:solidFill>
              </a:rPr>
              <a:t>Aprendizagem de resultados</a:t>
            </a:r>
            <a:r>
              <a:rPr lang="pt-BR" sz="1050" b="0">
                <a:solidFill>
                  <a:srgbClr val="262626"/>
                </a:solidFill>
              </a:rPr>
              <a:t>: uma abordagem prática para aumentar a efetividade da educação corporativa. Rio de Janeiro: Elsevier, 2009.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META PLATFORMS. </a:t>
            </a:r>
            <a:r>
              <a:rPr lang="pt-BR" sz="1050" b="1">
                <a:solidFill>
                  <a:srgbClr val="262626"/>
                </a:solidFill>
              </a:rPr>
              <a:t>WhatsApp Business Platform</a:t>
            </a:r>
            <a:r>
              <a:rPr lang="pt-BR" sz="1050" b="0">
                <a:solidFill>
                  <a:srgbClr val="262626"/>
                </a:solidFill>
              </a:rPr>
              <a:t>: Cloud API Reference (Graph API v26.0). Menlo Park: Meta for Developers, 2026. Disponível em: https://developers.facebook.com. Acesso em: 8 out. 2026.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O'NEIL, Cathy. </a:t>
            </a:r>
            <a:r>
              <a:rPr lang="pt-BR" sz="1050" b="1">
                <a:solidFill>
                  <a:srgbClr val="262626"/>
                </a:solidFill>
              </a:rPr>
              <a:t>Armas de destruição matemática</a:t>
            </a:r>
            <a:r>
              <a:rPr lang="pt-BR" sz="1050" b="0">
                <a:solidFill>
                  <a:srgbClr val="262626"/>
                </a:solidFill>
              </a:rPr>
              <a:t>: como o big data aumenta a desigualdade e ameaça a democracia. Santo André: Rua do Sabão, 2020.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ORGANIZAÇÃO DAS NAÇÕES UNIDAS. </a:t>
            </a:r>
            <a:r>
              <a:rPr lang="pt-BR" sz="1050" b="1">
                <a:solidFill>
                  <a:srgbClr val="262626"/>
                </a:solidFill>
              </a:rPr>
              <a:t>Transformando nosso mundo</a:t>
            </a:r>
            <a:r>
              <a:rPr lang="pt-BR" sz="1050" b="0">
                <a:solidFill>
                  <a:srgbClr val="262626"/>
                </a:solidFill>
              </a:rPr>
              <a:t>: a Agenda 2030 para o Desenvolvimento Sustentável. Nova York: ONU, 2015. Disponível em: https://brasil.un.org/pt-br/sdgs. Acesso em: 8 out. 2026.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RUSSELL, Stuart; NORVIG, Peter. </a:t>
            </a:r>
            <a:r>
              <a:rPr lang="pt-BR" sz="1050" b="1">
                <a:solidFill>
                  <a:srgbClr val="262626"/>
                </a:solidFill>
              </a:rPr>
              <a:t>Inteligência artificial</a:t>
            </a:r>
            <a:r>
              <a:rPr lang="pt-BR" sz="1050" b="0">
                <a:solidFill>
                  <a:srgbClr val="262626"/>
                </a:solidFill>
              </a:rPr>
              <a:t>: uma abordagem moderna. 4. ed. Rio de Janeiro: GEN LTC, 2022.</a:t>
            </a:r>
          </a:p>
          <a:p>
            <a:pPr>
              <a:spcBef>
                <a:spcPts val="140"/>
              </a:spcBef>
              <a:buNone/>
            </a:pPr>
            <a:r>
              <a:rPr lang="pt-BR" sz="1050" b="0">
                <a:solidFill>
                  <a:srgbClr val="262626"/>
                </a:solidFill>
              </a:rPr>
              <a:t>SILBERSCHATZ, Abraham; KORTH, Henry F.; SUDARSHAN, S. </a:t>
            </a:r>
            <a:r>
              <a:rPr lang="pt-BR" sz="1050" b="1">
                <a:solidFill>
                  <a:srgbClr val="262626"/>
                </a:solidFill>
              </a:rPr>
              <a:t>Sistema de banco de dados</a:t>
            </a:r>
            <a:r>
              <a:rPr lang="pt-BR" sz="1050" b="0">
                <a:solidFill>
                  <a:srgbClr val="262626"/>
                </a:solidFill>
              </a:rPr>
              <a:t>. 7. ed. Rio de Janeiro: GEN LTC, 2020.</a:t>
            </a:r>
          </a:p>
        </p:txBody>
      </p:sp>
    </p:spTree>
    <p:extLst>
      <p:ext uri="{BB962C8B-B14F-4D97-AF65-F5344CB8AC3E}">
        <ns5:creationId val="1739649973"/>
      </p:ext>
    </p:extLst>
  </p:cSld>
  <p:clrMapOvr>
    <a:masterClrMapping/>
  </p:clrMapOvr>
</p:sld>
</file>

<file path=ppt/slides/slide20.xml><?xml version="1.0" encoding="utf-8"?>
<p:sld xmlns:a="http://schemas.openxmlformats.org/drawingml/2006/main" xmlns:ns2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ns2:creationId id="{2F8B6E76-414E-F43E-9114-22D32F487749}"/>
              </a:ext>
            </a:extLst>
          </p:cNvPr>
          <p:cNvSpPr txBox="1"/>
          <p:nvPr/>
        </p:nvSpPr>
        <p:spPr>
          <a:xfrm>
            <a:off x="508000" y="1206500"/>
            <a:ext cx="4572000" cy="508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>
              <a:buNone/>
            </a:pPr>
            <a:r>
              <a:rPr lang="pt-BR" sz="1800" b="1">
                <a:solidFill>
                  <a:srgbClr val="1F497D"/>
                </a:solidFill>
              </a:rPr>
              <a:t>PROJETO DE EXTENSÃO UNIVERSITÁRIA — APEX V (BANCO DE DADOS)</a:t>
            </a:r>
          </a:p>
          <a:p>
            <a:pPr algn="ctr">
              <a:spcBef>
                <a:spcPts val="400"/>
              </a:spcBef>
              <a:buNone/>
            </a:pPr>
            <a:r>
              <a:rPr lang="pt-BR" sz="1600" b="0">
                <a:solidFill>
                  <a:srgbClr val="595959"/>
                </a:solidFill>
              </a:rPr>
              <a:t>Faculdade Unyleya — Educação Superior a Distância</a:t>
            </a:r>
          </a:p>
          <a:p>
            <a:pPr algn="ctr">
              <a:spcBef>
                <a:spcPts val="1200"/>
              </a:spcBef>
              <a:buNone/>
            </a:pPr>
            <a:r>
              <a:rPr lang="pt-BR" sz="1600" b="0">
                <a:solidFill>
                  <a:srgbClr val="262626"/>
                </a:solidFill>
              </a:rPr>
              <a:t>Agradecemos à Performa Energy pela acolhida, pela disponibilização do ambiente do CRM Performalog e pela confiança no projeto.</a:t>
            </a:r>
          </a:p>
          <a:p>
            <a:pPr algn="ctr">
              <a:spcBef>
                <a:spcPts val="800"/>
              </a:spcBef>
              <a:buNone/>
            </a:pPr>
            <a:r>
              <a:rPr lang="pt-BR" sz="1600" b="0">
                <a:solidFill>
                  <a:srgbClr val="262626"/>
                </a:solidFill>
              </a:rPr>
              <a:t>Agradecemos à Profa. Dra. Carla Corrêa Tavares dos Reis pela orientação ao longo da extensão.</a:t>
            </a:r>
          </a:p>
          <a:p>
            <a:pPr algn="ctr">
              <a:spcBef>
                <a:spcPts val="1200"/>
              </a:spcBef>
              <a:buNone/>
            </a:pPr>
            <a:r>
              <a:rPr lang="pt-BR" sz="1600" b="1" i="1">
                <a:solidFill>
                  <a:srgbClr val="A33D6B"/>
                </a:solidFill>
              </a:rPr>
              <a:t>«Tecnologia de dados e inteligência artificial a serviço da sustentabilidade e da cidadania.»</a:t>
            </a:r>
          </a:p>
          <a:p>
            <a:pPr algn="ctr">
              <a:spcBef>
                <a:spcPts val="1000"/>
              </a:spcBef>
              <a:buNone/>
            </a:pPr>
            <a:r>
              <a:rPr lang="pt-BR" sz="1600" b="1">
                <a:solidFill>
                  <a:srgbClr val="1F497D"/>
                </a:solidFill>
              </a:rPr>
              <a:t>Rafael Silva — Matrícula 1103239 | 2026</a:t>
            </a:r>
          </a:p>
        </p:txBody>
      </p:sp>
      <p:pic>
        <p:nvPicPr>
          <p:cNvPr id="2" name="Imagem 1">
            <a:extLst>
              <a:ext uri="{FF2B5EF4-FFF2-40B4-BE49-F238E27FC236}">
                <ns2:creationId id="{37CF93EF-D08A-911B-1F09-9FD905E6C16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ns4:useLocalDpi val="0"/>
              </a:ext>
            </a:extLst>
          </a:blip>
          <a:srcRect l="27997" r="15583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solidFill>
            <a:srgbClr val="632A40"/>
          </a:solidFill>
        </p:spPr>
      </p:pic>
    </p:spTree>
    <p:extLst>
      <p:ext uri="{BB962C8B-B14F-4D97-AF65-F5344CB8AC3E}">
        <ns5:creationId val="33032646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249846024720046BD2E712524C1F2DB" ma:contentTypeVersion="15" ma:contentTypeDescription="Crie um novo documento." ma:contentTypeScope="" ma:versionID="e2c7755ddbb4f29792008489fd68582e">
  <xsd:schema xmlns:xsd="http://www.w3.org/2001/XMLSchema" xmlns:xs="http://www.w3.org/2001/XMLSchema" xmlns:p="http://schemas.microsoft.com/office/2006/metadata/properties" xmlns:ns2="b03615c1-276c-4180-98cc-4a8d624f51a4" xmlns:ns3="f16d092d-1424-4908-8336-7a92cebe73a8" targetNamespace="http://schemas.microsoft.com/office/2006/metadata/properties" ma:root="true" ma:fieldsID="cb66968ff53bf21d1934af598096bbd3" ns2:_="" ns3:_="">
    <xsd:import namespace="b03615c1-276c-4180-98cc-4a8d624f51a4"/>
    <xsd:import namespace="f16d092d-1424-4908-8336-7a92cebe73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3615c1-276c-4180-98cc-4a8d624f51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0f117446-0fc9-4e7c-95f8-a6ac69b74b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6d092d-1424-4908-8336-7a92cebe73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ede2100d-a632-4c49-aa67-7164432d07d3}" ma:internalName="TaxCatchAll" ma:showField="CatchAllData" ma:web="f16d092d-1424-4908-8336-7a92cebe73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3615c1-276c-4180-98cc-4a8d624f51a4">
      <Terms xmlns="http://schemas.microsoft.com/office/infopath/2007/PartnerControls"/>
    </lcf76f155ced4ddcb4097134ff3c332f>
    <TaxCatchAll xmlns="f16d092d-1424-4908-8336-7a92cebe73a8" xsi:nil="true"/>
  </documentManagement>
</p:properties>
</file>

<file path=customXml/itemProps1.xml><?xml version="1.0" encoding="utf-8"?>
<ds:datastoreItem xmlns:ds="http://schemas.openxmlformats.org/officeDocument/2006/customXml" ds:itemID="{623F6E7E-03CF-4425-8568-6233645656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3615c1-276c-4180-98cc-4a8d624f51a4"/>
    <ds:schemaRef ds:uri="f16d092d-1424-4908-8336-7a92cebe73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8BC9C1F-B219-4B47-A1E1-4F3DD23FD6D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951DA5B-5371-4561-BF3A-D261867602AC}">
  <ds:schemaRefs>
    <ds:schemaRef ds:uri="http://schemas.microsoft.com/office/2006/metadata/properties"/>
    <ds:schemaRef ds:uri="http://schemas.microsoft.com/office/infopath/2007/PartnerControls"/>
    <ds:schemaRef ds:uri="b03615c1-276c-4180-98cc-4a8d624f51a4"/>
    <ds:schemaRef ds:uri="f16d092d-1424-4908-8336-7a92cebe73a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1746</TotalTime>
  <Words>2080</Words>
  <Application>Microsoft Office PowerPoint</Application>
  <PresentationFormat>Widescreen</PresentationFormat>
  <Paragraphs>152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Cambria</vt:lpstr>
      <vt:lpstr>Times New Roman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Isaque Lopes Pinheiro</dc:creator>
  <cp:lastModifiedBy>Carla Correa Tavares dos Reis</cp:lastModifiedBy>
  <cp:revision>90</cp:revision>
  <dcterms:created xsi:type="dcterms:W3CDTF">2017-08-18T19:40:43Z</dcterms:created>
  <dcterms:modified xsi:type="dcterms:W3CDTF">2024-06-18T03:12:34Z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0x0101002249846024720046BD2E712524C1F2DB</vt:lpwstr>
  </property>
</Properties>
</file>