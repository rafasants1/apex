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4"/>
  </p:sldMasterIdLst>
  <p:sldIdLst>
    <p:sldId id="553" r:id="rId5"/>
    <p:sldId id="552" r:id="rId6"/>
    <p:sldId id="261" r:id="rId7"/>
    <p:sldId id="287" r:id="rId8"/>
    <p:sldId id="560" r:id="rId9"/>
    <p:sldId id="561" r:id="rId10"/>
    <p:sldId id="554" r:id="rId11"/>
    <p:sldId id="562" r:id="rId12"/>
    <p:sldId id="269" r:id="rId13"/>
    <p:sldId id="563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3D6B"/>
    <a:srgbClr val="F89D52"/>
    <a:srgbClr val="F89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26" Type="http://schemas.openxmlformats.org/officeDocument/2006/relationships/viewProps" Target="viewProp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25" Type="http://schemas.openxmlformats.org/officeDocument/2006/relationships/presProps" Target="presProps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28" Type="http://schemas.openxmlformats.org/officeDocument/2006/relationships/tableStyles" Target="tableStyles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7" Type="http://schemas.openxmlformats.org/officeDocument/2006/relationships/theme" Target="theme/theme1.xml"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9-18T19:29:4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6438,'0'0'-96,"0"0"96,-44 0 160,44 0 128,0 0-95,0 0-289,0 0-641,0 0-993,0 0-2178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6684F-6F30-4A0A-92A1-2E7993231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C07EE3-3B48-445F-8AFC-CEFA21060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E3D20B-021B-4E06-91B7-3693076C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46ABF7-1DFB-46E6-BF0C-4CF603DC3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890A18-C54F-4B67-B809-6DBCC909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473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88C11-BB9B-4B1F-A664-5BACBAF4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0C6B89-870A-4C1A-B0B2-84AB373A8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4E4277-CB2F-4338-94A3-066CD797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654518-1B31-47C4-ACE2-F750D9E3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864924-38DF-4D1E-8BDB-73B872B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445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289C7-096A-481F-9EEC-0F3029AC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B708D-67C8-4C31-A0DF-ABA178B9A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17A2D-1925-4DAE-A2D3-FC7CC749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35FB63-4B43-4D54-8212-79F9C54E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29AFB7-9D9A-4299-AD80-45D0D88B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125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9A24B-68F0-4108-BF04-9781302B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CCF6A3-C50C-41CA-87F8-357A3A528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736522-B8EB-4B63-9CEF-C52C4D32A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0D2932-0CD0-4D0D-B52E-AD2EDAA0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B434C1-55BA-422E-A265-C4BAFFB2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440E3B-E348-469F-A908-415EB360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7050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C4393-12BF-4A59-A9D0-63A7E12C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17B726-E4BF-44BD-AD4C-808D705DD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5F2598-F283-4F62-A8BD-C95D8C2FC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00A65A-4ED7-4E6E-B3F6-D638F64C4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2DD2EBA-7574-441F-BFAD-A6561B280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745EA0E-EC72-4E28-98CA-A6163BBF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56FC69-70F1-46A0-A5B1-E0B1894F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27FAE7-117C-456D-A07A-470086A1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451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57724-FC53-4C70-B50A-5524FBA9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DF4B3D-A267-4041-A786-AE6A87CC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D2F8EB-0A96-4AE8-824C-875D1357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DC3C76-1E83-429B-A6B6-40E677F3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198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C2B7D1-FF81-412C-8A8C-A09A8524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8DE667-1284-43EB-A147-20E8C6EC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D9EF30-E2E5-45EA-8529-A1FD8E39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410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09969-739F-483E-A11A-945E659F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BC57D5-086B-4666-919C-40F2C417E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7C3F62-0FA7-4701-9735-906263A47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7E29A2-E879-4362-B5B9-A566D25C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E0598D-84DD-4FF9-9626-6B9C6369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23C0FC-538E-44A0-9EE2-F0AEFC70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426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092AA-9FFF-4B4A-B4FA-246A4E8D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33BA9D-CD30-4E77-970B-AFD9BF560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E8096A-2C7E-4327-9415-FD11E7A56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87CF24-846D-453F-88DD-4835EBAF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0C8C03-A58F-4F58-8447-59C1B8F9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BF9373-DFC6-4E26-93C5-A0E2ADD3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7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B08A2-2B98-4E37-BCD9-BDA3DE6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4DDAEB-8994-4ADD-B20A-D854C947C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E71FF7-F6D9-4A4D-BBCB-A6046EEE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C7B9CA-9674-4F9D-8372-7796EB59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2467E3-3371-47B5-BB8F-A42BBD3E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10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F1CA5A-2F95-42EF-8B87-3BC0C1B95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7BB3A9-074B-4B8D-ACD1-D5A861F85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C1C6E6-904F-4FFF-90F5-6BA85D22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5545F-85B7-4491-AA1F-5DA2FA19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09617-4416-4A91-AAB7-DF798DEB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2613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EBF251-076D-4ACE-941A-59A4B0C7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939378-F225-4920-BC84-4F692F087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8835C-2E6E-472D-9554-C9157F8B4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87079C-8020-43D0-99AF-4BBCA0E03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B57831-E641-415B-9D36-551DBCB69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457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brasil.un.org/pt-br/sdgs" TargetMode="External"/><Relationship Id="rId1001" Type="http://schemas.openxmlformats.org/officeDocument/2006/relationships/image" Target="../media/apexv_ods_7.png"/><Relationship Id="rId1002" Type="http://schemas.openxmlformats.org/officeDocument/2006/relationships/image" Target="../media/apexv_ods_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ns2:creationId id="{1F7F3CD2-1312-5670-A9D7-6E8DFE59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ns2:creationId id="{18B605A2-0B13-3A1F-FFDE-714B27D08EAD}"/>
              </a:ext>
            </a:extLst>
          </p:cNvPr>
          <p:cNvSpPr txBox="1"/>
          <p:nvPr/>
        </p:nvSpPr>
        <p:spPr>
          <a:xfrm>
            <a:off x="1117600" y="2730500"/>
            <a:ext cx="10439400" cy="241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pt-BR" sz="2000" b="1">
                <a:solidFill>
                  <a:srgbClr val="1F497D"/>
                </a:solidFill>
              </a:rPr>
              <a:t>PROJETO DE EXTENSÃO UNIVERSITÁRIA — APEX V (BANCO DE DADOS)</a:t>
            </a:r>
          </a:p>
          <a:p>
            <a:pPr algn="ctr">
              <a:spcBef>
                <a:spcPts val="500"/>
              </a:spcBef>
              <a:buNone/>
            </a:pPr>
            <a:r>
              <a:rPr lang="pt-BR" sz="1600" b="0">
                <a:solidFill>
                  <a:srgbClr val="595959"/>
                </a:solidFill>
              </a:rPr>
              <a:t>Programa Institucional: Educando para a Cidadania (Resolução CNE/CES nº 7/2018)</a:t>
            </a:r>
          </a:p>
          <a:p>
            <a:pPr algn="ctr"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1ª ETAPA: PLANEJAMENTO DA EXTENSÃO (MÓDULO 1)</a:t>
            </a:r>
          </a:p>
          <a:p>
            <a:pPr algn="ctr">
              <a:spcBef>
                <a:spcPts val="500"/>
              </a:spcBef>
              <a:buNone/>
            </a:pPr>
            <a:r>
              <a:rPr lang="pt-BR" sz="1600" b="0">
                <a:solidFill>
                  <a:srgbClr val="262626"/>
                </a:solidFill>
              </a:rPr>
              <a:t>Slides 2 a 6: identificação, ementa, ODS 7, 9 e 12 e local de implementação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600" b="1">
                <a:solidFill>
                  <a:srgbClr val="1F497D"/>
                </a:solidFill>
              </a:rPr>
              <a:t>Empresa parceira: Performa Energy | Ano letivo: 2026</a:t>
            </a:r>
          </a:p>
        </p:txBody>
      </p:sp>
      <p:sp>
        <p:nvSpPr>
          <p:cNvPr id="4" name="CaixaDeTexto 3">
            <a:extLst>
              <a:ext uri="{FF2B5EF4-FFF2-40B4-BE49-F238E27FC236}">
                <ns2:creationId id="{A115185B-E6EA-B0A7-6178-BEA3B83A8B9A}"/>
              </a:ext>
            </a:extLst>
          </p:cNvPr>
          <p:cNvSpPr txBox="1"/>
          <p:nvPr/>
        </p:nvSpPr>
        <p:spPr>
          <a:xfrm>
            <a:off x="1116350" y="1547160"/>
            <a:ext cx="10341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Preencher do slide 2 até o slide 6.</a:t>
            </a:r>
            <a:br>
              <a:rPr lang="pt-BR" sz="2000" i="1" dirty="0">
                <a:solidFill>
                  <a:schemeClr val="accent1"/>
                </a:solidFill>
              </a:rPr>
            </a:br>
            <a:r>
              <a:rPr lang="pt-BR" sz="2000" i="1" dirty="0">
                <a:solidFill>
                  <a:schemeClr val="accent1"/>
                </a:solidFill>
              </a:rPr>
              <a:t>Após o preenchimento, deverá enviar o arquivo no espaço de envio do Módulo 1 na sala de aula. </a:t>
            </a:r>
          </a:p>
          <a:p>
            <a:pPr algn="ctr"/>
            <a:r>
              <a:rPr lang="pt-BR" sz="2000" i="1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ns2:creationId id="{03B464C0-6AAC-D9C9-CDF9-423A8972A520}"/>
              </a:ext>
            </a:extLst>
          </p:cNvPr>
          <p:cNvSpPr txBox="1"/>
          <p:nvPr/>
        </p:nvSpPr>
        <p:spPr>
          <a:xfrm>
            <a:off x="2584174" y="502815"/>
            <a:ext cx="7063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1ª ETAPA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ns2:creationId id="{A1B5750D-66B6-0F30-89E3-140871544FC1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ns2:creationId id="{1493CCD0-1CF6-EDB8-9615-707CC5A959BC}"/>
              </a:ext>
            </a:extLst>
          </p:cNvPr>
          <p:cNvSpPr/>
          <p:nvPr/>
        </p:nvSpPr>
        <p:spPr>
          <a:xfrm>
            <a:off x="380346" y="264059"/>
            <a:ext cx="1117450" cy="1573369"/>
          </a:xfrm>
          <a:custGeom>
            <a:avLst/>
            <a:gdLst/>
            <a:ahLst/>
            <a:cxnLst/>
            <a:rect l="l" t="t" r="r" b="b"/>
            <a:pathLst>
              <a:path w="1117450" h="1573369">
                <a:moveTo>
                  <a:pt x="0" y="0"/>
                </a:moveTo>
                <a:lnTo>
                  <a:pt x="1117450" y="0"/>
                </a:lnTo>
                <a:lnTo>
                  <a:pt x="1117450" y="1573369"/>
                </a:lnTo>
                <a:lnTo>
                  <a:pt x="0" y="157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ns2:creationId id="{EB3DEE9C-0AEF-9FE8-0FDB-9BFAEECAF25B}"/>
              </a:ext>
            </a:extLst>
          </p:cNvPr>
          <p:cNvSpPr/>
          <p:nvPr/>
        </p:nvSpPr>
        <p:spPr>
          <a:xfrm>
            <a:off x="8182303" y="5439103"/>
            <a:ext cx="3846787" cy="916082"/>
          </a:xfrm>
          <a:prstGeom prst="rect">
            <a:avLst/>
          </a:prstGeom>
          <a:noFill/>
          <a:ln w="38100">
            <a:solidFill>
              <a:srgbClr val="A33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ns2:creationId id="{8CC51F1D-FB87-46E5-34DA-0E9B396613C1}"/>
              </a:ext>
            </a:extLst>
          </p:cNvPr>
          <p:cNvSpPr txBox="1"/>
          <p:nvPr/>
        </p:nvSpPr>
        <p:spPr>
          <a:xfrm>
            <a:off x="8991236" y="5791200"/>
            <a:ext cx="200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_______</a:t>
            </a:r>
          </a:p>
        </p:txBody>
      </p:sp>
      <p:sp>
        <p:nvSpPr>
          <p:cNvPr id="6" name="CaixaDeTexto 5">
            <a:extLst>
              <a:ext uri="{FF2B5EF4-FFF2-40B4-BE49-F238E27FC236}">
                <ns2:creationId id="{1E2ED466-97FC-F050-484D-68D622419C88}"/>
              </a:ext>
            </a:extLst>
          </p:cNvPr>
          <p:cNvSpPr txBox="1"/>
          <p:nvPr/>
        </p:nvSpPr>
        <p:spPr>
          <a:xfrm>
            <a:off x="8076286" y="6355185"/>
            <a:ext cx="412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Campo a ser preenchido pela professora.</a:t>
            </a:r>
          </a:p>
        </p:txBody>
      </p:sp>
    </p:spTree>
    <p:extLst>
      <p:ext uri="{BB962C8B-B14F-4D97-AF65-F5344CB8AC3E}">
        <ns4:creationId val="606513901"/>
      </p:ext>
    </p:extLst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4/main" xmlns:ns4="http://schemas.openxmlformats.org/markup-compatibility/2006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3:creationId id="{0FD6CC37-B502-3460-078B-0929B9D4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ns4:AlternateContent>
        <ns4:Choice Requires="p14">
          <p:contentPart ns5:bwMode="auto" r:id="rId3">
            <ns5:nvContentPartPr>
              <ns5:cNvPr id="2" name="Tinta 1">
                <a:extLst>
                  <a:ext uri="{FF2B5EF4-FFF2-40B4-BE49-F238E27FC236}">
                    <ns3:creationId id="{73292FF4-8A18-8D33-11B7-78FD03DDA90C}"/>
                  </a:ext>
                </a:extLst>
              </ns5:cNvPr>
              <ns5:cNvContentPartPr/>
              <ns5:nvPr/>
            </ns5:nvContentPartPr>
            <ns5:xfrm>
              <a:off x="2855255" y="3416760"/>
              <a:ext cx="16560" cy="360"/>
            </ns5:xfrm>
          </p:contentPart>
        </ns4:Choice>
        <ns4:Fallback>
          <p:pic>
            <p:nvPicPr>
              <p:cNvPr id="2" name="Tinta 1">
                <a:extLst>
                  <a:ext uri="{FF2B5EF4-FFF2-40B4-BE49-F238E27FC236}">
                    <ns3:creationId id="{73292FF4-8A18-8D33-11B7-78FD03DDA9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6055" y="3407760"/>
                <a:ext cx="34592" cy="18000"/>
              </a:xfrm>
              <a:prstGeom prst="rect">
                <a:avLst/>
              </a:prstGeom>
            </p:spPr>
          </p:pic>
        </ns4:Fallback>
      </ns4:AlternateContent>
      <p:sp>
        <p:nvSpPr>
          <p:cNvPr id="4" name="CaixaDeTexto 3">
            <a:extLst>
              <a:ext uri="{FF2B5EF4-FFF2-40B4-BE49-F238E27FC236}">
                <ns3:creationId id="{4FB2CE25-625E-DEB6-F60A-6FEFF5CB7139}"/>
              </a:ext>
            </a:extLst>
          </p:cNvPr>
          <p:cNvSpPr txBox="1"/>
          <p:nvPr/>
        </p:nvSpPr>
        <p:spPr>
          <a:xfrm>
            <a:off x="3327400" y="4508500"/>
            <a:ext cx="7175500" cy="2222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pt-BR" sz="2000" b="1">
                <a:solidFill>
                  <a:schemeClr val="bg1"/>
                </a:solidFill>
              </a:rPr>
              <a:t>Curso Superior de Tecnologia em Banco de Dados</a:t>
            </a:r>
          </a:p>
          <a:p>
            <a:pPr algn="r">
              <a:spcBef>
                <a:spcPts val="350"/>
              </a:spcBef>
              <a:buNone/>
            </a:pPr>
            <a:r>
              <a:rPr lang="pt-BR" sz="1400" b="0">
                <a:solidFill>
                  <a:schemeClr val="bg1"/>
                </a:solidFill>
              </a:rPr>
              <a:t>Disciplina: AMBIENTE PROFISSIONAL E DE EXTENSÃO EM BANCO DE DADOS V</a:t>
            </a:r>
          </a:p>
          <a:p>
            <a:pPr algn="r">
              <a:spcBef>
                <a:spcPts val="450"/>
              </a:spcBef>
              <a:buNone/>
            </a:pPr>
            <a:r>
              <a:rPr lang="pt-BR" sz="1300" b="1">
                <a:solidFill>
                  <a:schemeClr val="bg1"/>
                </a:solidFill>
              </a:rPr>
              <a:t>TÍTULO DO TRABALHO DE EXTENSÃO:</a:t>
            </a:r>
          </a:p>
          <a:p>
            <a:pPr algn="r">
              <a:spcBef>
                <a:spcPts val="200"/>
              </a:spcBef>
              <a:buNone/>
            </a:pPr>
            <a:r>
              <a:rPr lang="pt-BR" sz="1600" b="1">
                <a:solidFill>
                  <a:schemeClr val="bg1"/>
                </a:solidFill>
              </a:rPr>
              <a:t>Performalog Atendimento: Agente Inteligente de Cobrança e Arquitetura de Banco de Dados para Gestão de Energia Solar na Performa Energy</a:t>
            </a:r>
          </a:p>
        </p:txBody>
      </p:sp>
    </p:spTree>
    <p:extLst>
      <p:ext uri="{BB962C8B-B14F-4D97-AF65-F5344CB8AC3E}">
        <ns5:creationId val="239841373"/>
      </p:ext>
    </p:extLst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ns3:creationId id="{FDEC566B-0282-9751-D008-124A90BC086A}"/>
              </a:ext>
            </a:extLst>
          </p:cNvPr>
          <p:cNvSpPr txBox="1"/>
          <p:nvPr/>
        </p:nvSpPr>
        <p:spPr>
          <a:xfrm>
            <a:off x="164032" y="2710377"/>
            <a:ext cx="8827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	</a:t>
            </a:r>
          </a:p>
        </p:txBody>
      </p:sp>
      <p:sp>
        <p:nvSpPr>
          <p:cNvPr id="4" name="CaixaDeTexto 3">
            <a:extLst>
              <a:ext uri="{FF2B5EF4-FFF2-40B4-BE49-F238E27FC236}">
                <ns3:creationId id="{0108ACFF-B134-020C-C0C3-04FACFF22B0D}"/>
              </a:ext>
            </a:extLst>
          </p:cNvPr>
          <p:cNvSpPr txBox="1"/>
          <p:nvPr/>
        </p:nvSpPr>
        <p:spPr>
          <a:xfrm>
            <a:off x="1016000" y="1270000"/>
            <a:ext cx="105410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Dados acadêmicos do discente extensionista e da orientação docente</a:t>
            </a:r>
          </a:p>
        </p:txBody>
      </p:sp>
      <p:sp>
        <p:nvSpPr>
          <p:cNvPr id="7" name="CaixaDeTexto 6">
            <a:extLst>
              <a:ext uri="{FF2B5EF4-FFF2-40B4-BE49-F238E27FC236}">
                <ns3:creationId id="{D259676A-95AD-2E7C-A914-371AA856113C}"/>
              </a:ext>
            </a:extLst>
          </p:cNvPr>
          <p:cNvSpPr txBox="1"/>
          <p:nvPr/>
        </p:nvSpPr>
        <p:spPr>
          <a:xfrm>
            <a:off x="2584174" y="502815"/>
            <a:ext cx="1007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APRESENTAÇÃO</a:t>
            </a:r>
          </a:p>
        </p:txBody>
      </p:sp>
      <p:pic>
        <p:nvPicPr>
          <p:cNvPr id="8" name="Picture 10" descr="Falando - ícones de pessoas grátis">
            <a:extLst>
              <a:ext uri="{FF2B5EF4-FFF2-40B4-BE49-F238E27FC236}">
                <ns3:creationId id="{F2F4570E-0996-FE71-EF72-065941867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2232405" y="508226"/>
            <a:ext cx="351769" cy="351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10" name="Conector Reto 9">
            <a:extLst>
              <a:ext uri="{FF2B5EF4-FFF2-40B4-BE49-F238E27FC236}">
                <ns3:creationId id="{BA7CB7F0-3320-5811-092D-D2C1151380A8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ns3:creationId id="{DBA194D5-46A6-5B0D-94DE-5A184BA387D7}"/>
              </a:ext>
            </a:extLst>
          </p:cNvPr>
          <p:cNvSpPr txBox="1"/>
          <p:nvPr/>
        </p:nvSpPr>
        <p:spPr>
          <a:xfrm>
            <a:off x="1524000" y="2095500"/>
            <a:ext cx="9652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200" b="1">
                <a:solidFill>
                  <a:srgbClr val="A33D6B"/>
                </a:solidFill>
              </a:rPr>
              <a:t>Curso Superior de Tecnologia em Banco de Dados</a:t>
            </a:r>
          </a:p>
          <a:p>
            <a:pPr>
              <a:spcBef>
                <a:spcPts val="400"/>
              </a:spcBef>
              <a:buNone/>
            </a:pPr>
            <a:r>
              <a:rPr lang="pt-BR" sz="1600" b="0">
                <a:solidFill>
                  <a:srgbClr val="595959"/>
                </a:solidFill>
              </a:rPr>
              <a:t>Faculdade Unyleya — Carga horária de extensão curricular: 100 horas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8E45C0AA-06B7-5935-214F-4A303B56CCCA}"/>
              </a:ext>
            </a:extLst>
          </p:cNvPr>
          <p:cNvSpPr txBox="1"/>
          <p:nvPr/>
        </p:nvSpPr>
        <p:spPr>
          <a:xfrm>
            <a:off x="1524000" y="2984500"/>
            <a:ext cx="9652000" cy="279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Discente: </a:t>
            </a:r>
            <a:r>
              <a:rPr lang="pt-BR" sz="1800" b="0">
                <a:solidFill>
                  <a:srgbClr val="262626"/>
                </a:solidFill>
              </a:rPr>
              <a:t>Rafael Silva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Matrícula: </a:t>
            </a:r>
            <a:r>
              <a:rPr lang="pt-BR" sz="1800" b="0">
                <a:solidFill>
                  <a:srgbClr val="262626"/>
                </a:solidFill>
              </a:rPr>
              <a:t>1103239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Orientadora e coordenadora do curso: </a:t>
            </a:r>
            <a:r>
              <a:rPr lang="pt-BR" sz="1800" b="0">
                <a:solidFill>
                  <a:srgbClr val="262626"/>
                </a:solidFill>
              </a:rPr>
              <a:t>Profa. Dra. Carla Corrêa Tavares dos Reis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Local de aplicação: </a:t>
            </a:r>
            <a:r>
              <a:rPr lang="pt-BR" sz="1800" b="0">
                <a:solidFill>
                  <a:srgbClr val="262626"/>
                </a:solidFill>
              </a:rPr>
              <a:t>Performa Energy (gestão de créditos de energia solar e CRM Performalog)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Modalidade: </a:t>
            </a:r>
            <a:r>
              <a:rPr lang="pt-BR" sz="1800" b="0">
                <a:solidFill>
                  <a:srgbClr val="262626"/>
                </a:solidFill>
              </a:rPr>
              <a:t>presencial, na sede da empresa, com oficina técnica de Banco de Dados, IA e protótipo no Figma</a:t>
            </a:r>
          </a:p>
        </p:txBody>
      </p:sp>
    </p:spTree>
    <p:extLst>
      <p:ext uri="{BB962C8B-B14F-4D97-AF65-F5344CB8AC3E}">
        <ns5:creationId val="1042535048"/>
      </p:ext>
    </p:extLst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2485082" y="1079186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509AC4DE-70D2-D8E5-A25C-ACD0D77A8FB3}"/>
              </a:ext>
            </a:extLst>
          </p:cNvPr>
          <p:cNvSpPr txBox="1"/>
          <p:nvPr/>
        </p:nvSpPr>
        <p:spPr>
          <a:xfrm>
            <a:off x="2359082" y="371300"/>
            <a:ext cx="7473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000" b="1">
                <a:solidFill>
                  <a:srgbClr val="A33D6B"/>
                </a:solidFill>
              </a:rPr>
              <a:t>OBJETIVO DE DESENVOLVIMENTO SUSTENTÁVEL DO PROJETO EXTENSIONISTA “EDUCANDO PARA A CIDADANIA”</a:t>
            </a:r>
          </a:p>
        </p:txBody>
      </p:sp>
      <p:pic>
        <p:nvPicPr>
          <p:cNvPr id="7" name="Picture 10" descr="Objetivo - ícones de seo e web grátis">
            <a:extLst>
              <a:ext uri="{FF2B5EF4-FFF2-40B4-BE49-F238E27FC236}">
                <ns3:creationId id="{F1514A57-3441-BDBD-C04B-85163E65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54879" y="500706"/>
            <a:ext cx="408951" cy="44907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8" name="CaixaDeTexto 7">
            <a:extLst>
              <a:ext uri="{FF2B5EF4-FFF2-40B4-BE49-F238E27FC236}">
                <ns3:creationId id="{75117BDE-51EE-D872-2617-7FAAEE388289}"/>
              </a:ext>
            </a:extLst>
          </p:cNvPr>
          <p:cNvSpPr txBox="1"/>
          <p:nvPr/>
        </p:nvSpPr>
        <p:spPr>
          <a:xfrm>
            <a:off x="1854200" y="1270000"/>
            <a:ext cx="9398000" cy="393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Disciplina e ementa oficial (Resolução CNE/CES MEC nº 7/2018)</a:t>
            </a:r>
          </a:p>
        </p:txBody>
      </p:sp>
      <p:sp>
        <p:nvSpPr>
          <p:cNvPr id="2" name="CaixaDeTexto 1">
            <a:extLst>
              <a:ext uri="{FF2B5EF4-FFF2-40B4-BE49-F238E27FC236}">
                <ns3:creationId id="{59DE6E94-6DB1-A472-2A38-82940DD1CDBA}"/>
              </a:ext>
            </a:extLst>
          </p:cNvPr>
          <p:cNvSpPr txBox="1"/>
          <p:nvPr/>
        </p:nvSpPr>
        <p:spPr>
          <a:xfrm>
            <a:off x="1397000" y="1879600"/>
            <a:ext cx="9906000" cy="431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600" b="1">
                <a:solidFill>
                  <a:srgbClr val="000000"/>
                </a:solidFill>
              </a:rPr>
              <a:t>Disciplina:</a:t>
            </a:r>
          </a:p>
          <a:p>
            <a:pPr>
              <a:buNone/>
            </a:pPr>
            <a:r>
              <a:rPr lang="pt-BR" sz="1600" b="0">
                <a:solidFill>
                  <a:srgbClr val="000000"/>
                </a:solidFill>
              </a:rPr>
              <a:t>AMBIENTE PROFISSIONAL E DE EXTENSÃO EM BANCO DE DADOS V</a:t>
            </a:r>
          </a:p>
          <a:p>
            <a:pPr>
              <a:spcBef>
                <a:spcPts val="1000"/>
              </a:spcBef>
              <a:buNone/>
            </a:pPr>
            <a:r>
              <a:rPr lang="pt-BR" sz="1600" b="1">
                <a:solidFill>
                  <a:srgbClr val="000000"/>
                </a:solidFill>
              </a:rPr>
              <a:t>Ementa:</a:t>
            </a:r>
          </a:p>
          <a:p>
            <a:pPr algn="just">
              <a:buNone/>
            </a:pPr>
            <a:r>
              <a:rPr lang="pt-BR" sz="1600" b="0">
                <a:solidFill>
                  <a:srgbClr val="000000"/>
                </a:solidFill>
              </a:rPr>
              <a:t>Problematização de temas conectados com a vida real na sociedade atual para solução por meio de projetos. Estabelecimento de direcionamentos e regras para a realização do desafio. Desenvolvimento de soft skills como trabalho em equipe, resolução de problemas complexos, comunicação, criatividade, entre outros. Tradução dos conhecimentos científicos para a comunidade. Inteligência Artificial: desafios e oportunidades. Programa de Extensão Institucional como proposta de diálogo entre a comunidade acadêmica e sociedade. Produção de materiais educacionais com uso das mídias digitais.</a:t>
            </a:r>
          </a:p>
          <a:p>
            <a:pPr>
              <a:spcBef>
                <a:spcPts val="1000"/>
              </a:spcBef>
              <a:buNone/>
            </a:pPr>
            <a:r>
              <a:rPr lang="pt-BR" sz="1600" b="1">
                <a:solidFill>
                  <a:srgbClr val="000000"/>
                </a:solidFill>
              </a:rPr>
              <a:t>Alinhamento ao curso:</a:t>
            </a:r>
          </a:p>
          <a:p>
            <a:pPr algn="just">
              <a:buNone/>
            </a:pPr>
            <a:r>
              <a:rPr lang="pt-BR" sz="1600" b="0">
                <a:solidFill>
                  <a:srgbClr val="000000"/>
                </a:solidFill>
              </a:rPr>
              <a:t>O projeto leva à Performa Energy conhecimentos de modelagem relacional, integridade de dados, integração de APIs e IA responsável, criando uma base confiável e auditável para atendimento e cobrança.</a:t>
            </a:r>
          </a:p>
        </p:txBody>
      </p:sp>
    </p:spTree>
    <p:extLst>
      <p:ext uri="{BB962C8B-B14F-4D97-AF65-F5344CB8AC3E}">
        <ns5:creationId val="964490276"/>
      </p:ext>
    </p:extLst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2485082" y="1079186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509AC4DE-70D2-D8E5-A25C-ACD0D77A8FB3}"/>
              </a:ext>
            </a:extLst>
          </p:cNvPr>
          <p:cNvSpPr txBox="1"/>
          <p:nvPr/>
        </p:nvSpPr>
        <p:spPr>
          <a:xfrm>
            <a:off x="2359082" y="371300"/>
            <a:ext cx="7473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000" b="1">
                <a:solidFill>
                  <a:srgbClr val="A33D6B"/>
                </a:solidFill>
              </a:rPr>
              <a:t>OBJETIVO DE DESENVOLVIMENTO SUSTENTÁVEL DO PROJETO EXTENSIONISTA “EDUCANDO PARA A CIDADANIA”</a:t>
            </a:r>
          </a:p>
        </p:txBody>
      </p:sp>
      <p:pic>
        <p:nvPicPr>
          <p:cNvPr id="7" name="Picture 10" descr="Objetivo - ícones de seo e web grátis">
            <a:extLst>
              <a:ext uri="{FF2B5EF4-FFF2-40B4-BE49-F238E27FC236}">
                <ns3:creationId id="{F1514A57-3441-BDBD-C04B-85163E65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54879" y="500706"/>
            <a:ext cx="408951" cy="44907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2" name="CaixaDeTexto 1">
            <a:extLst>
              <a:ext uri="{FF2B5EF4-FFF2-40B4-BE49-F238E27FC236}">
                <ns3:creationId id="{952B89C6-72E9-3EBA-DBE7-13BD4A52AD1E}"/>
              </a:ext>
            </a:extLst>
          </p:cNvPr>
          <p:cNvSpPr txBox="1"/>
          <p:nvPr/>
        </p:nvSpPr>
        <p:spPr>
          <a:xfrm>
            <a:off x="774700" y="1714500"/>
            <a:ext cx="8255000" cy="444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ODS 7 — Energia limpa e acessível (metas 7.2 e 7.b): </a:t>
            </a:r>
            <a:r>
              <a:rPr lang="pt-BR" sz="1600" b="0">
                <a:solidFill>
                  <a:srgbClr val="262626"/>
                </a:solidFill>
              </a:rPr>
              <a:t>estimula a geração solar distribuída (Lei nº 14.300/2022); o projeto organiza dados de faturamento e de créditos (kWh) para o cliente entender o benefício da assinatura.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ODS 9 — Indústria, inovação e infraestrutura (metas 9.4 e 9.5): </a:t>
            </a:r>
            <a:r>
              <a:rPr lang="pt-BR" sz="1600" b="0">
                <a:solidFill>
                  <a:srgbClr val="262626"/>
                </a:solidFill>
              </a:rPr>
              <a:t>moderniza a TI da Performa Energy com a WhatsApp Cloud API oficial e a modelagem relacional de mensageria integrada ao CRM Performalog.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ODS 12 — Consumo e produção responsáveis (meta 12.8): </a:t>
            </a:r>
            <a:r>
              <a:rPr lang="pt-BR" sz="1600" b="0">
                <a:solidFill>
                  <a:srgbClr val="262626"/>
                </a:solidFill>
              </a:rPr>
              <a:t>dá transparência ao faturamento da compensação, com acesso claro ao consumo, aos créditos e à composição tarifária.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Governança de dados (ODS 16 e LGPD, Lei nº 13.709/2018): </a:t>
            </a:r>
            <a:r>
              <a:rPr lang="pt-BR" sz="1600" b="0">
                <a:solidFill>
                  <a:srgbClr val="262626"/>
                </a:solidFill>
              </a:rPr>
              <a:t>opt-in/opt-out e agente de IA que não expõe dados de faturas nem inventa valores.</a:t>
            </a:r>
          </a:p>
        </p:txBody>
      </p:sp>
      <p:sp>
        <p:nvSpPr>
          <p:cNvPr id="12" name="CaixaDeTexto 11">
            <a:extLst>
              <a:ext uri="{FF2B5EF4-FFF2-40B4-BE49-F238E27FC236}">
                <ns3:creationId id="{6F97F82E-C08E-656F-6510-BD83F8BE9BB2}"/>
              </a:ext>
            </a:extLst>
          </p:cNvPr>
          <p:cNvSpPr txBox="1"/>
          <p:nvPr/>
        </p:nvSpPr>
        <p:spPr>
          <a:xfrm>
            <a:off x="9017000" y="5359400"/>
            <a:ext cx="2984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1150" b="1">
                <a:solidFill>
                  <a:schemeClr val="accent1"/>
                </a:solidFill>
                <a:hlinkClick r:id="rId4"/>
              </a:rPr>
              <a:t>Fonte: https://brasil.un.org/pt-br/sdgs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9D35FA91-78A4-B4E7-8C2E-FBD2B5A34B49}"/>
              </a:ext>
            </a:extLst>
          </p:cNvPr>
          <p:cNvSpPr txBox="1"/>
          <p:nvPr/>
        </p:nvSpPr>
        <p:spPr>
          <a:xfrm>
            <a:off x="1066800" y="1066800"/>
            <a:ext cx="98044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Tema gerador: modelagem de dados, IA responsável e sustentabilidade energética (Agenda 2030)</a:t>
            </a:r>
          </a:p>
        </p:txBody>
      </p:sp>
      <p:pic>
        <p:nvPicPr>
          <p:cNvPr id="5" name="Imagem 4">
            <a:extLst>
              <a:ext uri="{FF2B5EF4-FFF2-40B4-BE49-F238E27FC236}">
                <ns3:creationId id="{9745BB66-085B-F2B6-CBD0-0237E5875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870200"/>
            <a:ext cx="1092200" cy="1092200"/>
          </a:xfrm>
          <a:prstGeom prst="rect">
            <a:avLst/>
          </a:prstGeom>
        </p:spPr>
      </p:pic>
      <p:pic>
        <p:nvPicPr>
          <p:cNvPr id="101" name="ODS 7" descr="Ícone da ODS 7 — Energia limpa e acessível"/>
          <p:cNvPicPr>
            <a:picLocks noChangeAspect="1"/>
          </p:cNvPicPr>
          <p:nvPr/>
        </p:nvPicPr>
        <p:blipFill>
          <a:blip r:embed="rId1001"/>
          <a:stretch>
            <a:fillRect/>
          </a:stretch>
        </p:blipFill>
        <p:spPr>
          <a:xfrm>
            <a:off x="9906000" y="1651000"/>
            <a:ext cx="1092200" cy="1092200"/>
          </a:xfrm>
          <a:prstGeom prst="rect">
            <a:avLst/>
          </a:prstGeom>
        </p:spPr>
      </p:pic>
      <p:pic>
        <p:nvPicPr>
          <p:cNvPr id="102" name="ODS 12" descr="Ícone da ODS 12 — Consumo e produção responsáveis"/>
          <p:cNvPicPr>
            <a:picLocks noChangeAspect="1"/>
          </p:cNvPicPr>
          <p:nvPr/>
        </p:nvPicPr>
        <p:blipFill>
          <a:blip r:embed="rId1002"/>
          <a:stretch>
            <a:fillRect/>
          </a:stretch>
        </p:blipFill>
        <p:spPr>
          <a:xfrm>
            <a:off x="9906000" y="4089400"/>
            <a:ext cx="1092200" cy="1092200"/>
          </a:xfrm>
          <a:prstGeom prst="rect">
            <a:avLst/>
          </a:prstGeom>
        </p:spPr>
      </p:pic>
    </p:spTree>
    <p:extLst>
      <p:ext uri="{BB962C8B-B14F-4D97-AF65-F5344CB8AC3E}">
        <ns5:creationId val="1250669668"/>
      </p:ext>
    </p:extLst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ns3:creationId id="{43841D3B-AC6C-2B68-C26F-BB6FB6A95A56}"/>
              </a:ext>
            </a:extLst>
          </p:cNvPr>
          <p:cNvSpPr txBox="1"/>
          <p:nvPr/>
        </p:nvSpPr>
        <p:spPr>
          <a:xfrm>
            <a:off x="2284486" y="378387"/>
            <a:ext cx="1007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LOCAL DE IMPLEMENTAÇÃO</a:t>
            </a:r>
          </a:p>
        </p:txBody>
      </p:sp>
      <p:pic>
        <p:nvPicPr>
          <p:cNvPr id="9" name="Picture 26" descr="Página 12 | Edificio Logotipo Imagens – Download Grátis no Freepik">
            <a:extLst>
              <a:ext uri="{FF2B5EF4-FFF2-40B4-BE49-F238E27FC236}">
                <ns3:creationId id="{3B6ACB0E-4D1D-EC52-2C2E-1D38254EE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998273" y="483326"/>
            <a:ext cx="286212" cy="254943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1998273" y="85113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ns3:creationId id="{697DFD30-5112-034D-C4C1-3849CA40ECFC}"/>
              </a:ext>
            </a:extLst>
          </p:cNvPr>
          <p:cNvSpPr txBox="1"/>
          <p:nvPr/>
        </p:nvSpPr>
        <p:spPr>
          <a:xfrm>
            <a:off x="1181100" y="1206500"/>
            <a:ext cx="101600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Empresa concedente, ambiente de dados e público atendido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1E67C0D8-6BC6-FDE8-876B-464CC9FA609B}"/>
              </a:ext>
            </a:extLst>
          </p:cNvPr>
          <p:cNvSpPr txBox="1"/>
          <p:nvPr/>
        </p:nvSpPr>
        <p:spPr>
          <a:xfrm>
            <a:off x="889000" y="1879600"/>
            <a:ext cx="7239000" cy="431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Empresa e atividade: </a:t>
            </a:r>
            <a:r>
              <a:rPr lang="pt-BR" sz="1600" b="0">
                <a:solidFill>
                  <a:srgbClr val="262626"/>
                </a:solidFill>
              </a:rPr>
              <a:t>Consórcio Performa Energy — gestão e distribuição de créditos de energia solar por assinatura na área da CEMIG (Geração Distribuída, Lei nº 14.300/2022).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Endereço: </a:t>
            </a:r>
            <a:r>
              <a:rPr lang="pt-BR" sz="1600" b="0">
                <a:solidFill>
                  <a:srgbClr val="262626"/>
                </a:solidFill>
              </a:rPr>
              <a:t>Av. Brasil, 888, Sala 1308, Santa Efigênia, Belo Horizonte – MG, CEP 30140-001. CNPJ: 55.845.710/0001-04.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Ambiente de dados: </a:t>
            </a:r>
            <a:r>
              <a:rPr lang="pt-BR" sz="1600" b="0">
                <a:solidFill>
                  <a:srgbClr val="262626"/>
                </a:solidFill>
              </a:rPr>
              <a:t>CRM Performalog (MySQL), com relatórios de rateio da CEMIG e faturas da Digital Grid; passará a integrar a WhatsApp Cloud API da Meta.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Espaço da intervenção: </a:t>
            </a:r>
            <a:r>
              <a:rPr lang="pt-BR" sz="1600" b="0">
                <a:solidFill>
                  <a:srgbClr val="262626"/>
                </a:solidFill>
              </a:rPr>
              <a:t>sede com rede corporativa, estações de trabalho com acesso ao CRM e sala de reuniões para a capacitação presencial.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Público: </a:t>
            </a:r>
            <a:r>
              <a:rPr lang="pt-BR" sz="1600" b="0">
                <a:solidFill>
                  <a:srgbClr val="262626"/>
                </a:solidFill>
              </a:rPr>
              <a:t>direto — colaboradores de Atendimento, Cobrança e Operações; indireto — clientes assinantes atendidos via WhatsApp.</a:t>
            </a:r>
          </a:p>
        </p:txBody>
      </p:sp>
    </p:spTree>
    <p:extLst>
      <p:ext uri="{BB962C8B-B14F-4D97-AF65-F5344CB8AC3E}">
        <ns5:creationId val="295107399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EC38F32F-0012-6F62-C7E8-B406F5E5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ns2:creationId id="{AC618FA3-E8CF-7D3D-2547-DA727B3C5FA7}"/>
              </a:ext>
            </a:extLst>
          </p:cNvPr>
          <p:cNvSpPr txBox="1"/>
          <p:nvPr/>
        </p:nvSpPr>
        <p:spPr>
          <a:xfrm>
            <a:off x="1117600" y="2730500"/>
            <a:ext cx="10439400" cy="241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pt-BR" sz="2000" b="1">
                <a:solidFill>
                  <a:srgbClr val="1F497D"/>
                </a:solidFill>
              </a:rPr>
              <a:t>PROJETO DE EXTENSÃO UNIVERSITÁRIA — APEX V (BANCO DE DADOS)</a:t>
            </a:r>
          </a:p>
          <a:p>
            <a:pPr algn="ctr"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2ª ETAPA: DESAFIO, PARTICIPANTES E ARQUITETURA DE DADOS (MÓDULO 2)</a:t>
            </a:r>
          </a:p>
          <a:p>
            <a:pPr algn="ctr">
              <a:spcBef>
                <a:spcPts val="500"/>
              </a:spcBef>
              <a:buNone/>
            </a:pPr>
            <a:r>
              <a:rPr lang="pt-BR" sz="1600" b="0">
                <a:solidFill>
                  <a:srgbClr val="262626"/>
                </a:solidFill>
              </a:rPr>
              <a:t>Slides 8 a 10: participantes, desafio identificado e aprofundamento teórico em modelagem relacional, APIs de mensageria e governança de IA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600" b="1">
                <a:solidFill>
                  <a:srgbClr val="1F497D"/>
                </a:solidFill>
              </a:rPr>
              <a:t>Empresa parceira: Performa Energy | Ano letivo: 2026</a:t>
            </a:r>
          </a:p>
        </p:txBody>
      </p:sp>
      <p:sp>
        <p:nvSpPr>
          <p:cNvPr id="4" name="CaixaDeTexto 3">
            <a:extLst>
              <a:ext uri="{FF2B5EF4-FFF2-40B4-BE49-F238E27FC236}">
                <ns2:creationId id="{601C1649-006C-22A0-79E1-E5D6B64D20CF}"/>
              </a:ext>
            </a:extLst>
          </p:cNvPr>
          <p:cNvSpPr txBox="1"/>
          <p:nvPr/>
        </p:nvSpPr>
        <p:spPr>
          <a:xfrm>
            <a:off x="1121557" y="1540388"/>
            <a:ext cx="10448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Preencher do slide 8 até o slide 9 (ou 10).</a:t>
            </a:r>
            <a:br>
              <a:rPr lang="pt-BR" sz="2000" i="1" dirty="0">
                <a:solidFill>
                  <a:schemeClr val="accent1"/>
                </a:solidFill>
              </a:rPr>
            </a:br>
            <a:r>
              <a:rPr lang="pt-BR" sz="2000" i="1" dirty="0">
                <a:solidFill>
                  <a:schemeClr val="accent1"/>
                </a:solidFill>
              </a:rPr>
              <a:t>Após o preenchimento, deverá enviar o arquivo no espaço de envio do Módulo 2 na sala de aula. </a:t>
            </a:r>
          </a:p>
          <a:p>
            <a:pPr algn="ctr"/>
            <a:r>
              <a:rPr lang="pt-BR" sz="2000" i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ns2:creationId id="{EBDC153F-7FFC-22F6-0219-A9B0777F72CC}"/>
              </a:ext>
            </a:extLst>
          </p:cNvPr>
          <p:cNvSpPr txBox="1"/>
          <p:nvPr/>
        </p:nvSpPr>
        <p:spPr>
          <a:xfrm>
            <a:off x="2584174" y="502815"/>
            <a:ext cx="7063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2ª ETAPA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ns2:creationId id="{E4FD5186-CB0B-2297-6685-02D177D13143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ns2:creationId id="{3FFB7830-A8EF-6960-4A21-01B4DC5ECEBF}"/>
              </a:ext>
            </a:extLst>
          </p:cNvPr>
          <p:cNvSpPr/>
          <p:nvPr/>
        </p:nvSpPr>
        <p:spPr>
          <a:xfrm>
            <a:off x="654691" y="266701"/>
            <a:ext cx="933733" cy="1244048"/>
          </a:xfrm>
          <a:custGeom>
            <a:avLst/>
            <a:gdLst/>
            <a:ahLst/>
            <a:cxnLst/>
            <a:rect l="l" t="t" r="r" b="b"/>
            <a:pathLst>
              <a:path w="1117450" h="1573369">
                <a:moveTo>
                  <a:pt x="0" y="0"/>
                </a:moveTo>
                <a:lnTo>
                  <a:pt x="1117450" y="0"/>
                </a:lnTo>
                <a:lnTo>
                  <a:pt x="1117450" y="1573369"/>
                </a:lnTo>
                <a:lnTo>
                  <a:pt x="0" y="157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ns2:creationId id="{F8462B7F-B821-F65A-8667-B18CB403B20B}"/>
              </a:ext>
            </a:extLst>
          </p:cNvPr>
          <p:cNvSpPr/>
          <p:nvPr/>
        </p:nvSpPr>
        <p:spPr>
          <a:xfrm>
            <a:off x="8182303" y="5439103"/>
            <a:ext cx="3846787" cy="916082"/>
          </a:xfrm>
          <a:prstGeom prst="rect">
            <a:avLst/>
          </a:prstGeom>
          <a:noFill/>
          <a:ln w="38100">
            <a:solidFill>
              <a:srgbClr val="A33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ns2:creationId id="{1759B1C5-9B41-6B60-D2B0-07B86078F611}"/>
              </a:ext>
            </a:extLst>
          </p:cNvPr>
          <p:cNvSpPr txBox="1"/>
          <p:nvPr/>
        </p:nvSpPr>
        <p:spPr>
          <a:xfrm>
            <a:off x="8991236" y="5791200"/>
            <a:ext cx="200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_______</a:t>
            </a:r>
          </a:p>
        </p:txBody>
      </p:sp>
      <p:sp>
        <p:nvSpPr>
          <p:cNvPr id="6" name="CaixaDeTexto 5">
            <a:extLst>
              <a:ext uri="{FF2B5EF4-FFF2-40B4-BE49-F238E27FC236}">
                <ns2:creationId id="{C139FFF9-422F-E4C6-7135-42F6532F9DDD}"/>
              </a:ext>
            </a:extLst>
          </p:cNvPr>
          <p:cNvSpPr txBox="1"/>
          <p:nvPr/>
        </p:nvSpPr>
        <p:spPr>
          <a:xfrm>
            <a:off x="8076286" y="6355185"/>
            <a:ext cx="411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Campo a ser preenchido pela professora.</a:t>
            </a:r>
          </a:p>
        </p:txBody>
      </p:sp>
    </p:spTree>
    <p:extLst>
      <p:ext uri="{BB962C8B-B14F-4D97-AF65-F5344CB8AC3E}">
        <ns4:creationId val="103889940"/>
      </p:ext>
    </p:extLst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1998273" y="85113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ns3:creationId id="{697DFD30-5112-034D-C4C1-3849CA40ECFC}"/>
              </a:ext>
            </a:extLst>
          </p:cNvPr>
          <p:cNvSpPr txBox="1"/>
          <p:nvPr/>
        </p:nvSpPr>
        <p:spPr>
          <a:xfrm>
            <a:off x="1054100" y="1206500"/>
            <a:ext cx="107315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Cargos e funções envolvidos, sem menção a nomes (diretriz institucional)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40D574B5-3515-9B71-3D3B-20BA8A677F49}"/>
              </a:ext>
            </a:extLst>
          </p:cNvPr>
          <p:cNvSpPr txBox="1"/>
          <p:nvPr/>
        </p:nvSpPr>
        <p:spPr>
          <a:xfrm>
            <a:off x="2578930" y="403512"/>
            <a:ext cx="6997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PARTICIPANTES</a:t>
            </a:r>
          </a:p>
        </p:txBody>
      </p:sp>
      <p:pic>
        <p:nvPicPr>
          <p:cNvPr id="4" name="Picture 2" descr="Vetores e ilustrações de Comunidade desenho para download gratuito | Freepik">
            <a:extLst>
              <a:ext uri="{FF2B5EF4-FFF2-40B4-BE49-F238E27FC236}">
                <ns3:creationId id="{C8950347-D116-89C7-D759-53636D157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85879" y="403512"/>
            <a:ext cx="693051" cy="46166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5" name="CaixaDeTexto 4">
            <a:extLst>
              <a:ext uri="{FF2B5EF4-FFF2-40B4-BE49-F238E27FC236}">
                <ns3:creationId id="{D09F08AD-1D22-0D37-1597-72FEE4C160E3}"/>
              </a:ext>
            </a:extLst>
          </p:cNvPr>
          <p:cNvSpPr txBox="1"/>
          <p:nvPr/>
        </p:nvSpPr>
        <p:spPr>
          <a:xfrm>
            <a:off x="1270000" y="1905000"/>
            <a:ext cx="100330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Atendimento e Sucesso do Cliente: </a:t>
            </a:r>
            <a:r>
              <a:rPr lang="pt-BR" sz="1600" b="0">
                <a:solidFill>
                  <a:srgbClr val="262626"/>
                </a:solidFill>
              </a:rPr>
              <a:t>linha de frente do suporte via WhatsApp, dúvidas sobre a cobrança dupla (CEMIG + Performa) e triagem de solicitações e cancelamentos.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Cobrança e Contas a Receber: </a:t>
            </a:r>
            <a:r>
              <a:rPr lang="pt-BR" sz="1600" b="0">
                <a:solidFill>
                  <a:srgbClr val="262626"/>
                </a:solidFill>
              </a:rPr>
              <a:t>recuperação de crédito, negociação de débitos vencidos, réguas de cobrança e acordos via Pix e boleto.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Faturamento e Operações de Energia: </a:t>
            </a:r>
            <a:r>
              <a:rPr lang="pt-BR" sz="1600" b="0">
                <a:solidFill>
                  <a:srgbClr val="262626"/>
                </a:solidFill>
              </a:rPr>
              <a:t>rateio mensal de créditos (CEMIG), conciliação de kWh injetados e importação das faturas da Digital Grid.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TI, Segurança e Operações: </a:t>
            </a:r>
            <a:r>
              <a:rPr lang="pt-BR" sz="1600" b="0">
                <a:solidFill>
                  <a:srgbClr val="262626"/>
                </a:solidFill>
              </a:rPr>
              <a:t>administração do banco MySQL do Performalog, regras de acesso, infraestrutura da API da Meta e conformidade com a LGPD.</a:t>
            </a:r>
          </a:p>
        </p:txBody>
      </p:sp>
    </p:spTree>
    <p:extLst>
      <p:ext uri="{BB962C8B-B14F-4D97-AF65-F5344CB8AC3E}">
        <ns5:creationId val="141132289"/>
      </p:ext>
    </p:extLst>
  </p:cSld>
  <p:clrMapOvr>
    <a:masterClrMapping/>
  </p:clrMapOvr>
</p:sld>
</file>

<file path=ppt/slides/slide9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ns3:creationId id="{605801BA-8B7F-9BA5-B655-5D4D33E24B00}"/>
              </a:ext>
            </a:extLst>
          </p:cNvPr>
          <p:cNvSpPr txBox="1"/>
          <p:nvPr/>
        </p:nvSpPr>
        <p:spPr>
          <a:xfrm>
            <a:off x="2209800" y="368300"/>
            <a:ext cx="7620000" cy="825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DESAFIO/ QUESTÃO PROBLEMA IDENTIFICADA</a:t>
            </a:r>
          </a:p>
        </p:txBody>
      </p:sp>
      <p:pic>
        <p:nvPicPr>
          <p:cNvPr id="2" name="Picture 2" descr="discurso bolhas com questão marcas dúvida conceito problema resolução  20186734 Vetor no Vecteezy">
            <a:extLst>
              <a:ext uri="{FF2B5EF4-FFF2-40B4-BE49-F238E27FC236}">
                <ns3:creationId id="{8C679657-AC66-95C5-DD05-747A1DA45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676164" y="341015"/>
            <a:ext cx="537754" cy="53775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3" name="Conector Reto 2">
            <a:extLst>
              <a:ext uri="{FF2B5EF4-FFF2-40B4-BE49-F238E27FC236}">
                <ns3:creationId id="{90FEC404-6968-AFF8-312A-E0C905B32509}"/>
              </a:ext>
            </a:extLst>
          </p:cNvPr>
          <p:cNvCxnSpPr>
            <a:cxnSpLocks/>
          </p:cNvCxnSpPr>
          <p:nvPr/>
        </p:nvCxnSpPr>
        <p:spPr>
          <a:xfrm>
            <a:off x="2213918" y="878769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B1347B0D-B5CE-B93B-F0D9-ACE4A5CFCCAA}"/>
              </a:ext>
            </a:extLst>
          </p:cNvPr>
          <p:cNvSpPr txBox="1"/>
          <p:nvPr/>
        </p:nvSpPr>
        <p:spPr>
          <a:xfrm>
            <a:off x="977900" y="1143000"/>
            <a:ext cx="109093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Diagnóstico: sobrecarga no atendimento, inadimplência e dados desconectados</a:t>
            </a:r>
          </a:p>
        </p:txBody>
      </p:sp>
      <p:sp>
        <p:nvSpPr>
          <p:cNvPr id="4" name="CaixaDeTexto 3">
            <a:extLst>
              <a:ext uri="{FF2B5EF4-FFF2-40B4-BE49-F238E27FC236}">
                <ns3:creationId id="{0E21FB1E-E1F9-9168-5A8C-5615C3611927}"/>
              </a:ext>
            </a:extLst>
          </p:cNvPr>
          <p:cNvSpPr txBox="1"/>
          <p:nvPr/>
        </p:nvSpPr>
        <p:spPr>
          <a:xfrm>
            <a:off x="1016000" y="1714500"/>
            <a:ext cx="10287000" cy="444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Sobrecarga no atendimento: </a:t>
            </a:r>
            <a:r>
              <a:rPr lang="pt-BR" sz="1600" b="0">
                <a:solidFill>
                  <a:srgbClr val="262626"/>
                </a:solidFill>
              </a:rPr>
              <a:t>o cliente recebe duas cobranças (CEMIG e Performa Energy) e tem dificuldade de entender o rateio de créditos em kWh, o que gera muitos chamados repetitivos.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Inadimplência e negociação manual: </a:t>
            </a:r>
            <a:r>
              <a:rPr lang="pt-BR" sz="1600" b="0">
                <a:solidFill>
                  <a:srgbClr val="262626"/>
                </a:solidFill>
              </a:rPr>
              <a:t>a cobrança dependia de planilhas Excel e de uma ferramenta de mensagens legada (Maxbot), isolada do CRM, com atrasos nos lembretes e pouca rastreabilidade das promessas de pagamento.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Risco de alucinação e de violação à LGPD: </a:t>
            </a:r>
            <a:r>
              <a:rPr lang="pt-BR" sz="1600" b="0">
                <a:solidFill>
                  <a:srgbClr val="262626"/>
                </a:solidFill>
              </a:rPr>
              <a:t>chatbots sem ligação determinística ao banco podem inventar valores, aplicar descontos não autorizados ou expor dados de faturas.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Solução proposta: </a:t>
            </a:r>
            <a:r>
              <a:rPr lang="pt-BR" sz="1600" b="0">
                <a:solidFill>
                  <a:srgbClr val="262626"/>
                </a:solidFill>
              </a:rPr>
              <a:t>módulo «Performalog Atendimento» integrado à WhatsApp Cloud API, com tabelas relacionais wa_* e agente de cobrança ancorado em dados reais do banco (grounding determinístico).</a:t>
            </a:r>
          </a:p>
        </p:txBody>
      </p:sp>
    </p:spTree>
    <p:extLst>
      <p:ext uri="{BB962C8B-B14F-4D97-AF65-F5344CB8AC3E}">
        <ns5:creationId val="766533696"/>
      </p:ext>
    </p:extLst>
  </p:cSld>
  <p:clrMapOvr>
    <a:masterClrMapping/>
  </p:clrMapOvr>
</p:sld>
</file>

<file path=ppt/slides/slide10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iscurso bolhas com questão marcas dúvida conceito problema resolução  20186734 Vetor no Vecteezy">
            <a:extLst>
              <a:ext uri="{FF2B5EF4-FFF2-40B4-BE49-F238E27FC236}">
                <ns3:creationId id="{8C679657-AC66-95C5-DD05-747A1DA45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676164" y="341015"/>
            <a:ext cx="537754" cy="53775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3" name="Conector Reto 2">
            <a:extLst>
              <a:ext uri="{FF2B5EF4-FFF2-40B4-BE49-F238E27FC236}">
                <ns3:creationId id="{90FEC404-6968-AFF8-312A-E0C905B32509}"/>
              </a:ext>
            </a:extLst>
          </p:cNvPr>
          <p:cNvCxnSpPr>
            <a:cxnSpLocks/>
          </p:cNvCxnSpPr>
          <p:nvPr/>
        </p:nvCxnSpPr>
        <p:spPr>
          <a:xfrm>
            <a:off x="2213918" y="878769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ns3:creationId id="{ABEF2A57-3E97-041C-8A6F-A36F0D7804AF}"/>
              </a:ext>
            </a:extLst>
          </p:cNvPr>
          <p:cNvSpPr txBox="1"/>
          <p:nvPr/>
        </p:nvSpPr>
        <p:spPr>
          <a:xfrm>
            <a:off x="1016000" y="1714500"/>
            <a:ext cx="10287000" cy="444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Modelagem relacional e integridade (Codd, 1970; Silberschatz et al., 2020): </a:t>
            </a:r>
            <a:r>
              <a:rPr lang="pt-BR" sz="1600" b="0">
                <a:solidFill>
                  <a:srgbClr val="262626"/>
                </a:solidFill>
              </a:rPr>
              <a:t>segundo Codd (1970), Date (2004) e Elmasri e Navathe (2018), a consistência vem de modelos relacionais normalizados. O subsistema wa_* (wa_contact, wa_conversation, wa_message, wa_campaign) garante integridade referencial com clientes e faturas.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Grounding determinístico vs. alucinação de IA (Russell; Norvig, 2022; O'Neil, 2020): </a:t>
            </a:r>
            <a:r>
              <a:rPr lang="pt-BR" sz="1600" b="0">
                <a:solidFill>
                  <a:srgbClr val="262626"/>
                </a:solidFill>
              </a:rPr>
              <a:t>para evitar “armas de destruição matemática” (O'Neil, 2020) e alucinações em dados financeiros, a LLM só conduz o diálogo; valores, encargos e saldos em kWh vêm de consultas SQL determinísticas.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Privacidade por design e ética (Floridi, 2023; Meta Platforms, 2026): </a:t>
            </a:r>
            <a:r>
              <a:rPr lang="pt-BR" sz="1600" b="0">
                <a:solidFill>
                  <a:srgbClr val="262626"/>
                </a:solidFill>
              </a:rPr>
              <a:t>conforme a LGPD (Lei nº 13.709/2018), o sistema adota tokens em variáveis de ambiente, verificação SHA-256 de webhooks e gestão de opt-in/opt-out.</a:t>
            </a:r>
          </a:p>
        </p:txBody>
      </p:sp>
      <p:sp>
        <p:nvSpPr>
          <p:cNvPr id="4" name="CaixaDeTexto 3">
            <a:extLst>
              <a:ext uri="{FF2B5EF4-FFF2-40B4-BE49-F238E27FC236}">
                <ns3:creationId id="{C075D35A-93DF-B380-6A8D-8CA6DB980BCE}"/>
              </a:ext>
            </a:extLst>
          </p:cNvPr>
          <p:cNvSpPr txBox="1"/>
          <p:nvPr/>
        </p:nvSpPr>
        <p:spPr>
          <a:xfrm>
            <a:off x="2209800" y="368300"/>
            <a:ext cx="7620000" cy="825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DESAFIO/ QUESTÃO PROBLEMA IDENTIFICADA</a:t>
            </a:r>
          </a:p>
        </p:txBody>
      </p:sp>
      <p:sp>
        <p:nvSpPr>
          <p:cNvPr id="6" name="CaixaDeTexto 5">
            <a:extLst>
              <a:ext uri="{FF2B5EF4-FFF2-40B4-BE49-F238E27FC236}">
                <ns3:creationId id="{2D556137-FE1F-90CA-08D2-5FF48F78CB5E}"/>
              </a:ext>
            </a:extLst>
          </p:cNvPr>
          <p:cNvSpPr txBox="1"/>
          <p:nvPr/>
        </p:nvSpPr>
        <p:spPr>
          <a:xfrm>
            <a:off x="977900" y="1143000"/>
            <a:ext cx="109093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Aprofundamento teórico: modelagem relacional, grounding e governança de dados</a:t>
            </a:r>
          </a:p>
        </p:txBody>
      </p:sp>
    </p:spTree>
    <p:extLst>
      <p:ext uri="{BB962C8B-B14F-4D97-AF65-F5344CB8AC3E}">
        <ns5:creationId val="34716967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49846024720046BD2E712524C1F2DB" ma:contentTypeVersion="15" ma:contentTypeDescription="Crie um novo documento." ma:contentTypeScope="" ma:versionID="e2c7755ddbb4f29792008489fd68582e">
  <xsd:schema xmlns:xsd="http://www.w3.org/2001/XMLSchema" xmlns:xs="http://www.w3.org/2001/XMLSchema" xmlns:p="http://schemas.microsoft.com/office/2006/metadata/properties" xmlns:ns2="b03615c1-276c-4180-98cc-4a8d624f51a4" xmlns:ns3="f16d092d-1424-4908-8336-7a92cebe73a8" targetNamespace="http://schemas.microsoft.com/office/2006/metadata/properties" ma:root="true" ma:fieldsID="cb66968ff53bf21d1934af598096bbd3" ns2:_="" ns3:_="">
    <xsd:import namespace="b03615c1-276c-4180-98cc-4a8d624f51a4"/>
    <xsd:import namespace="f16d092d-1424-4908-8336-7a92cebe7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3615c1-276c-4180-98cc-4a8d624f51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0f117446-0fc9-4e7c-95f8-a6ac69b74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6d092d-1424-4908-8336-7a92cebe7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de2100d-a632-4c49-aa67-7164432d07d3}" ma:internalName="TaxCatchAll" ma:showField="CatchAllData" ma:web="f16d092d-1424-4908-8336-7a92cebe7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3615c1-276c-4180-98cc-4a8d624f51a4">
      <Terms xmlns="http://schemas.microsoft.com/office/infopath/2007/PartnerControls"/>
    </lcf76f155ced4ddcb4097134ff3c332f>
    <TaxCatchAll xmlns="f16d092d-1424-4908-8336-7a92cebe73a8" xsi:nil="true"/>
  </documentManagement>
</p:properties>
</file>

<file path=customXml/itemProps1.xml><?xml version="1.0" encoding="utf-8"?>
<ds:datastoreItem xmlns:ds="http://schemas.openxmlformats.org/officeDocument/2006/customXml" ds:itemID="{623F6E7E-03CF-4425-8568-623364565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3615c1-276c-4180-98cc-4a8d624f51a4"/>
    <ds:schemaRef ds:uri="f16d092d-1424-4908-8336-7a92cebe73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BC9C1F-B219-4B47-A1E1-4F3DD23FD6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51DA5B-5371-4561-BF3A-D261867602AC}">
  <ds:schemaRefs>
    <ds:schemaRef ds:uri="http://schemas.microsoft.com/office/2006/metadata/properties"/>
    <ds:schemaRef ds:uri="http://schemas.microsoft.com/office/infopath/2007/PartnerControls"/>
    <ds:schemaRef ds:uri="b03615c1-276c-4180-98cc-4a8d624f51a4"/>
    <ds:schemaRef ds:uri="f16d092d-1424-4908-8336-7a92cebe73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2080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Cambria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Isaque Lopes Pinheiro</dc:creator>
  <cp:lastModifiedBy>Carla Correa Tavares dos Reis</cp:lastModifiedBy>
  <cp:revision>90</cp:revision>
  <dcterms:created xsi:type="dcterms:W3CDTF">2017-08-18T19:40:43Z</dcterms:created>
  <dcterms:modified xsi:type="dcterms:W3CDTF">2024-06-18T03:12:34Z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0x0101002249846024720046BD2E712524C1F2DB</vt:lpwstr>
  </property>
</Properties>
</file>