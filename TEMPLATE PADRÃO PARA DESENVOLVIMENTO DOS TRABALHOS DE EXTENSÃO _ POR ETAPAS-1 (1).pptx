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553" r:id="rId5"/>
    <p:sldId id="552" r:id="rId6"/>
    <p:sldId id="261" r:id="rId7"/>
    <p:sldId id="287" r:id="rId8"/>
    <p:sldId id="560" r:id="rId9"/>
    <p:sldId id="561" r:id="rId10"/>
    <p:sldId id="554" r:id="rId11"/>
    <p:sldId id="562" r:id="rId12"/>
    <p:sldId id="269" r:id="rId13"/>
    <p:sldId id="563" r:id="rId14"/>
    <p:sldId id="556" r:id="rId15"/>
    <p:sldId id="564" r:id="rId16"/>
    <p:sldId id="565" r:id="rId17"/>
    <p:sldId id="264" r:id="rId18"/>
    <p:sldId id="566" r:id="rId19"/>
    <p:sldId id="286" r:id="rId20"/>
    <p:sldId id="282" r:id="rId21"/>
    <p:sldId id="289" r:id="rId22"/>
    <p:sldId id="283" r:id="rId23"/>
    <p:sldId id="551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3D6B"/>
    <a:srgbClr val="F89D52"/>
    <a:srgbClr val="F89E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68" autoAdjust="0"/>
    <p:restoredTop sz="94660"/>
  </p:normalViewPr>
  <p:slideViewPr>
    <p:cSldViewPr snapToGrid="0">
      <p:cViewPr varScale="1">
        <p:scale>
          <a:sx n="87" d="100"/>
          <a:sy n="87" d="100"/>
        </p:scale>
        <p:origin x="72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7-09-18T19:29:43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 6438,'0'0'-96,"0"0"96,-44 0 160,44 0 128,0 0-95,0 0-289,0 0-641,0 0-993,0 0-2178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6684F-6F30-4A0A-92A1-2E7993231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C07EE3-3B48-445F-8AFC-CEFA21060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E3D20B-021B-4E06-91B7-3693076C8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46ABF7-1DFB-46E6-BF0C-4CF603DC3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B890A18-C54F-4B67-B809-6DBCC909E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14731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88C11-BB9B-4B1F-A664-5BACBAF41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0C6B89-870A-4C1A-B0B2-84AB373A8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4E4277-CB2F-4338-94A3-066CD797D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654518-1B31-47C4-ACE2-F750D9E39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864924-38DF-4D1E-8BDB-73B872BA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24451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289C7-096A-481F-9EEC-0F3029AC3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C4B708D-67C8-4C31-A0DF-ABA178B9A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717A2D-1925-4DAE-A2D3-FC7CC749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135FB63-4B43-4D54-8212-79F9C54EF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29AFB7-9D9A-4299-AD80-45D0D88B5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1254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9A24B-68F0-4108-BF04-9781302BF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CCF6A3-C50C-41CA-87F8-357A3A5284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736522-B8EB-4B63-9CEF-C52C4D32A1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0D2932-0CD0-4D0D-B52E-AD2EDAA0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FB434C1-55BA-422E-A265-C4BAFFB25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1440E3B-E348-469F-A908-415EB3608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7050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C4393-12BF-4A59-A9D0-63A7E12CE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17B726-E4BF-44BD-AD4C-808D705DD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5F2598-F283-4F62-A8BD-C95D8C2FC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E00A65A-4ED7-4E6E-B3F6-D638F64C4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2DD2EBA-7574-441F-BFAD-A6561B280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745EA0E-EC72-4E28-98CA-A6163BBF7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56FC69-70F1-46A0-A5B1-E0B1894F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A27FAE7-117C-456D-A07A-470086A1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4518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557724-FC53-4C70-B50A-5524FBA95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DF4B3D-A267-4041-A786-AE6A87CC8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4D2F8EB-0A96-4AE8-824C-875D13572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FDC3C76-1E83-429B-A6B6-40E677F3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01980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4C2B7D1-FF81-412C-8A8C-A09A85240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18DE667-1284-43EB-A147-20E8C6EC8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D9EF30-E2E5-45EA-8529-A1FD8E39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4109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D09969-739F-483E-A11A-945E659F5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BC57D5-086B-4666-919C-40F2C417E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7C3F62-0FA7-4701-9735-906263A47E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7E29A2-E879-4362-B5B9-A566D25C5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E0598D-84DD-4FF9-9626-6B9C6369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23C0FC-538E-44A0-9EE2-F0AEFC705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44269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092AA-9FFF-4B4A-B4FA-246A4E8DD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D33BA9D-CD30-4E77-970B-AFD9BF560B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2E8096A-2C7E-4327-9415-FD11E7A56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387CF24-846D-453F-88DD-4835EBAF5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60C8C03-A58F-4F58-8447-59C1B8F98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ABF9373-DFC6-4E26-93C5-A0E2ADD37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8478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B08A2-2B98-4E37-BCD9-BDA3DE665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4DDAEB-8994-4ADD-B20A-D854C947C0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E71FF7-F6D9-4A4D-BBCB-A6046EEEC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C7B9CA-9674-4F9D-8372-7796EB59C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2467E3-3371-47B5-BB8F-A42BBD3E4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100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EF1CA5A-2F95-42EF-8B87-3BC0C1B95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7BB3A9-074B-4B8D-ACD1-D5A861F85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4C1C6E6-904F-4FFF-90F5-6BA85D22F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55545F-85B7-4491-AA1F-5DA2FA19E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9109617-4416-4A91-AAB7-DF798DEB4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2613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EEBF251-076D-4ACE-941A-59A4B0C72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939378-F225-4920-BC84-4F692F087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88835C-2E6E-472D-9554-C9157F8B4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6CB30-D690-4BA2-9FF3-04957D37DD35}" type="datetimeFigureOut">
              <a:rPr lang="pt-BR" smtClean="0"/>
              <a:t>17/06/2024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87079C-8020-43D0-99AF-4BBCA0E037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B57831-E641-415B-9D36-551DBCB692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94A9A-C8E5-4F48-AF5E-845A66A4766A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44577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brasil.un.org/pt-br/sdg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p/CqB8zD-JVb0/" TargetMode="External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adlet.com/auder05/algoritmos-de-destrui-o-ju21vi17rczfm6a7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jpeg"/><Relationship Id="rId4" Type="http://schemas.openxmlformats.org/officeDocument/2006/relationships/image" Target="../media/image19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planalto.gov.br/ccivil_03/constituicao/constitui%C3%A7ao.htm" TargetMode="External"/><Relationship Id="rId5" Type="http://schemas.openxmlformats.org/officeDocument/2006/relationships/hyperlink" Target="https://doi.org/10.1590/S0034-759020140511" TargetMode="External"/><Relationship Id="rId4" Type="http://schemas.openxmlformats.org/officeDocument/2006/relationships/hyperlink" Target="http://www.intercom.org.br/papers/nacionais/2010/resumos/r5-0302-1.pdf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F3CD2-1312-5670-A9D7-6E8DFE594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18B605A2-0B13-3A1F-FFDE-714B27D08EAD}"/>
              </a:ext>
            </a:extLst>
          </p:cNvPr>
          <p:cNvSpPr txBox="1"/>
          <p:nvPr/>
        </p:nvSpPr>
        <p:spPr>
          <a:xfrm>
            <a:off x="141902" y="2424324"/>
            <a:ext cx="8827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dirty="0"/>
              <a:t>	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115185B-E6EA-B0A7-6178-BEA3B83A8B9A}"/>
              </a:ext>
            </a:extLst>
          </p:cNvPr>
          <p:cNvSpPr txBox="1"/>
          <p:nvPr/>
        </p:nvSpPr>
        <p:spPr>
          <a:xfrm>
            <a:off x="1116350" y="1547160"/>
            <a:ext cx="103416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>
                <a:solidFill>
                  <a:schemeClr val="accent1"/>
                </a:solidFill>
              </a:rPr>
              <a:t>Preencher do slide 2 até o slide 6.</a:t>
            </a:r>
            <a:br>
              <a:rPr lang="pt-BR" sz="2000" i="1" dirty="0">
                <a:solidFill>
                  <a:schemeClr val="accent1"/>
                </a:solidFill>
              </a:rPr>
            </a:br>
            <a:r>
              <a:rPr lang="pt-BR" sz="2000" i="1" dirty="0">
                <a:solidFill>
                  <a:schemeClr val="accent1"/>
                </a:solidFill>
              </a:rPr>
              <a:t>Após o preenchimento, deverá enviar o arquivo no espaço de envio do Módulo 1 na sala de aula. </a:t>
            </a:r>
          </a:p>
          <a:p>
            <a:pPr algn="ctr"/>
            <a:r>
              <a:rPr lang="pt-BR" sz="2000" i="1" dirty="0"/>
              <a:t>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3B464C0-6AAC-D9C9-CDF9-423A8972A520}"/>
              </a:ext>
            </a:extLst>
          </p:cNvPr>
          <p:cNvSpPr txBox="1"/>
          <p:nvPr/>
        </p:nvSpPr>
        <p:spPr>
          <a:xfrm>
            <a:off x="2584174" y="502815"/>
            <a:ext cx="7063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1ª ETAPA</a:t>
            </a:r>
            <a:endParaRPr lang="pt-BR" sz="2400" kern="1200" dirty="0">
              <a:solidFill>
                <a:srgbClr val="A33D6B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A1B5750D-66B6-0F30-89E3-140871544FC1}"/>
              </a:ext>
            </a:extLst>
          </p:cNvPr>
          <p:cNvCxnSpPr>
            <a:cxnSpLocks/>
          </p:cNvCxnSpPr>
          <p:nvPr/>
        </p:nvCxnSpPr>
        <p:spPr>
          <a:xfrm>
            <a:off x="2232405" y="938354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7">
            <a:extLst>
              <a:ext uri="{FF2B5EF4-FFF2-40B4-BE49-F238E27FC236}">
                <a16:creationId xmlns:a16="http://schemas.microsoft.com/office/drawing/2014/main" id="{1493CCD0-1CF6-EDB8-9615-707CC5A959BC}"/>
              </a:ext>
            </a:extLst>
          </p:cNvPr>
          <p:cNvSpPr/>
          <p:nvPr/>
        </p:nvSpPr>
        <p:spPr>
          <a:xfrm>
            <a:off x="380346" y="264059"/>
            <a:ext cx="1117450" cy="1573369"/>
          </a:xfrm>
          <a:custGeom>
            <a:avLst/>
            <a:gdLst/>
            <a:ahLst/>
            <a:cxnLst/>
            <a:rect l="l" t="t" r="r" b="b"/>
            <a:pathLst>
              <a:path w="1117450" h="1573369">
                <a:moveTo>
                  <a:pt x="0" y="0"/>
                </a:moveTo>
                <a:lnTo>
                  <a:pt x="1117450" y="0"/>
                </a:lnTo>
                <a:lnTo>
                  <a:pt x="1117450" y="1573369"/>
                </a:lnTo>
                <a:lnTo>
                  <a:pt x="0" y="157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B3DEE9C-0AEF-9FE8-0FDB-9BFAEECAF25B}"/>
              </a:ext>
            </a:extLst>
          </p:cNvPr>
          <p:cNvSpPr/>
          <p:nvPr/>
        </p:nvSpPr>
        <p:spPr>
          <a:xfrm>
            <a:off x="8182303" y="5439103"/>
            <a:ext cx="3846787" cy="916082"/>
          </a:xfrm>
          <a:prstGeom prst="rect">
            <a:avLst/>
          </a:prstGeom>
          <a:noFill/>
          <a:ln w="38100">
            <a:solidFill>
              <a:srgbClr val="A33D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CC51F1D-FB87-46E5-34DA-0E9B396613C1}"/>
              </a:ext>
            </a:extLst>
          </p:cNvPr>
          <p:cNvSpPr txBox="1"/>
          <p:nvPr/>
        </p:nvSpPr>
        <p:spPr>
          <a:xfrm>
            <a:off x="8991236" y="5791200"/>
            <a:ext cx="200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Nota: _______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E2ED466-97FC-F050-484D-68D622419C88}"/>
              </a:ext>
            </a:extLst>
          </p:cNvPr>
          <p:cNvSpPr txBox="1"/>
          <p:nvPr/>
        </p:nvSpPr>
        <p:spPr>
          <a:xfrm>
            <a:off x="8076286" y="6355185"/>
            <a:ext cx="4121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Campo a ser preenchido pela professora.</a:t>
            </a:r>
          </a:p>
        </p:txBody>
      </p:sp>
    </p:spTree>
    <p:extLst>
      <p:ext uri="{BB962C8B-B14F-4D97-AF65-F5344CB8AC3E}">
        <p14:creationId xmlns:p14="http://schemas.microsoft.com/office/powerpoint/2010/main" val="6065139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D6CC37-B502-3460-078B-0929B9D4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73292FF4-8A18-8D33-11B7-78FD03DDA90C}"/>
                  </a:ext>
                </a:extLst>
              </p14:cNvPr>
              <p14:cNvContentPartPr/>
              <p14:nvPr/>
            </p14:nvContentPartPr>
            <p14:xfrm>
              <a:off x="2855255" y="3416760"/>
              <a:ext cx="16560" cy="36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73292FF4-8A18-8D33-11B7-78FD03DDA9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46055" y="3407760"/>
                <a:ext cx="34592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id="{4FB2CE25-625E-DEB6-F60A-6FEFF5CB7139}"/>
              </a:ext>
            </a:extLst>
          </p:cNvPr>
          <p:cNvSpPr txBox="1"/>
          <p:nvPr/>
        </p:nvSpPr>
        <p:spPr>
          <a:xfrm>
            <a:off x="3626069" y="4607983"/>
            <a:ext cx="68345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dirty="0">
                <a:solidFill>
                  <a:schemeClr val="bg1"/>
                </a:solidFill>
              </a:rPr>
              <a:t>Inserir o nome dos curso</a:t>
            </a:r>
          </a:p>
          <a:p>
            <a:pPr algn="r"/>
            <a:r>
              <a:rPr lang="pt-BR" sz="3200" dirty="0">
                <a:solidFill>
                  <a:schemeClr val="bg1"/>
                </a:solidFill>
              </a:rPr>
              <a:t>Inserir o título do trabalho</a:t>
            </a:r>
          </a:p>
        </p:txBody>
      </p:sp>
    </p:spTree>
    <p:extLst>
      <p:ext uri="{BB962C8B-B14F-4D97-AF65-F5344CB8AC3E}">
        <p14:creationId xmlns:p14="http://schemas.microsoft.com/office/powerpoint/2010/main" val="239841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FDEC566B-0282-9751-D008-124A90BC086A}"/>
              </a:ext>
            </a:extLst>
          </p:cNvPr>
          <p:cNvSpPr txBox="1"/>
          <p:nvPr/>
        </p:nvSpPr>
        <p:spPr>
          <a:xfrm>
            <a:off x="164032" y="2710377"/>
            <a:ext cx="8827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dirty="0"/>
              <a:t>	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108ACFF-B134-020C-C0C3-04FACFF22B0D}"/>
              </a:ext>
            </a:extLst>
          </p:cNvPr>
          <p:cNvSpPr txBox="1"/>
          <p:nvPr/>
        </p:nvSpPr>
        <p:spPr>
          <a:xfrm>
            <a:off x="1026229" y="1360813"/>
            <a:ext cx="10543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>
                <a:solidFill>
                  <a:schemeClr val="accent1"/>
                </a:solidFill>
              </a:rPr>
              <a:t>Inserir o nome completo do(s) estudante(s) e o nome do professor orientador/coordenador do curso</a:t>
            </a:r>
          </a:p>
          <a:p>
            <a:pPr algn="ctr"/>
            <a:r>
              <a:rPr lang="pt-BR" sz="2000" i="1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259676A-95AD-2E7C-A914-371AA856113C}"/>
              </a:ext>
            </a:extLst>
          </p:cNvPr>
          <p:cNvSpPr txBox="1"/>
          <p:nvPr/>
        </p:nvSpPr>
        <p:spPr>
          <a:xfrm>
            <a:off x="2584174" y="502815"/>
            <a:ext cx="10073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APRESENTAÇÃO</a:t>
            </a:r>
            <a:endParaRPr lang="pt-BR" sz="2400" kern="1200" dirty="0">
              <a:solidFill>
                <a:srgbClr val="A33D6B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10" descr="Falando - ícones de pessoas grátis">
            <a:extLst>
              <a:ext uri="{FF2B5EF4-FFF2-40B4-BE49-F238E27FC236}">
                <a16:creationId xmlns:a16="http://schemas.microsoft.com/office/drawing/2014/main" id="{F2F4570E-0996-FE71-EF72-065941867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405" y="508226"/>
            <a:ext cx="351769" cy="351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BA7CB7F0-3320-5811-092D-D2C1151380A8}"/>
              </a:ext>
            </a:extLst>
          </p:cNvPr>
          <p:cNvCxnSpPr>
            <a:cxnSpLocks/>
          </p:cNvCxnSpPr>
          <p:nvPr/>
        </p:nvCxnSpPr>
        <p:spPr>
          <a:xfrm>
            <a:off x="2232405" y="938354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DBA194D5-46A6-5B0D-94DE-5A184BA387D7}"/>
              </a:ext>
            </a:extLst>
          </p:cNvPr>
          <p:cNvSpPr txBox="1"/>
          <p:nvPr/>
        </p:nvSpPr>
        <p:spPr>
          <a:xfrm>
            <a:off x="1821858" y="2465032"/>
            <a:ext cx="95961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rgbClr val="A33D6B"/>
                </a:solidFill>
                <a:latin typeface="Calibri" panose="020F0502020204030204"/>
              </a:rPr>
              <a:t>Curso Superior de Tecnologia em Análise e Desenvolvimento de Sistemas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E45C0AA-06B7-5935-214F-4A303B56CCCA}"/>
              </a:ext>
            </a:extLst>
          </p:cNvPr>
          <p:cNvSpPr txBox="1"/>
          <p:nvPr/>
        </p:nvSpPr>
        <p:spPr>
          <a:xfrm>
            <a:off x="2958253" y="3172042"/>
            <a:ext cx="76873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pt-BR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A33D6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Discente (s): </a:t>
            </a:r>
            <a:r>
              <a:rPr lang="pt-BR" sz="2400" dirty="0"/>
              <a:t>Adriana de Lima</a:t>
            </a:r>
          </a:p>
          <a:p>
            <a:pPr>
              <a:defRPr/>
            </a:pPr>
            <a:r>
              <a:rPr lang="pt-BR" sz="2400" dirty="0"/>
              <a:t>                                     (nomes dos componentes do grupo)</a:t>
            </a:r>
          </a:p>
          <a:p>
            <a:pPr>
              <a:defRPr/>
            </a:pPr>
            <a:r>
              <a:rPr lang="pt-BR" sz="2400" dirty="0"/>
              <a:t>                               </a:t>
            </a:r>
          </a:p>
          <a:p>
            <a:pPr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A33D6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Orientadora: </a:t>
            </a: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Prof</a:t>
            </a:r>
            <a:r>
              <a:rPr kumimoji="0" lang="pt-BR" sz="2400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Dr</a:t>
            </a:r>
            <a:r>
              <a:rPr kumimoji="0" lang="pt-BR" sz="2400" i="0" u="none" strike="noStrike" kern="1200" cap="none" spc="0" normalizeH="0" baseline="3000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pt-BR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C</a:t>
            </a:r>
            <a:r>
              <a:rPr lang="pt-BR" sz="2400" dirty="0" err="1"/>
              <a:t>arla</a:t>
            </a:r>
            <a:r>
              <a:rPr lang="pt-BR" sz="2400" dirty="0"/>
              <a:t> Corrêa Tavares dos Reis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2535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204B456-55C4-4F4E-7ACE-FBD55B3D12F4}"/>
              </a:ext>
            </a:extLst>
          </p:cNvPr>
          <p:cNvCxnSpPr>
            <a:cxnSpLocks/>
          </p:cNvCxnSpPr>
          <p:nvPr/>
        </p:nvCxnSpPr>
        <p:spPr>
          <a:xfrm>
            <a:off x="2485082" y="1079186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509AC4DE-70D2-D8E5-A25C-ACD0D77A8FB3}"/>
              </a:ext>
            </a:extLst>
          </p:cNvPr>
          <p:cNvSpPr txBox="1"/>
          <p:nvPr/>
        </p:nvSpPr>
        <p:spPr>
          <a:xfrm>
            <a:off x="2359082" y="371300"/>
            <a:ext cx="7473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A33D6B"/>
                </a:solidFill>
              </a:rPr>
              <a:t>OBJETIVO DE DESENVOLVIMENTO SUSTENTÁVEL DO PROJETO EXTENSIONISTA “EDUCANDO PARA A CIDADANIA”</a:t>
            </a:r>
            <a:endParaRPr lang="pt-BR" sz="2000" dirty="0">
              <a:solidFill>
                <a:srgbClr val="A33D6B"/>
              </a:solidFill>
            </a:endParaRPr>
          </a:p>
        </p:txBody>
      </p:sp>
      <p:pic>
        <p:nvPicPr>
          <p:cNvPr id="7" name="Picture 10" descr="Objetivo - ícones de seo e web grátis">
            <a:extLst>
              <a:ext uri="{FF2B5EF4-FFF2-40B4-BE49-F238E27FC236}">
                <a16:creationId xmlns:a16="http://schemas.microsoft.com/office/drawing/2014/main" id="{F1514A57-3441-BDBD-C04B-85163E65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879" y="500706"/>
            <a:ext cx="408951" cy="44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75117BDE-51EE-D872-2617-7FAAEE388289}"/>
              </a:ext>
            </a:extLst>
          </p:cNvPr>
          <p:cNvSpPr txBox="1"/>
          <p:nvPr/>
        </p:nvSpPr>
        <p:spPr>
          <a:xfrm>
            <a:off x="1854879" y="1457611"/>
            <a:ext cx="70651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1" dirty="0">
                <a:solidFill>
                  <a:schemeClr val="accent1"/>
                </a:solidFill>
              </a:rPr>
              <a:t>Inserir O NOME DA DISCIPLINA e A Ementa da disciplina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9DE6E94-6DB1-A472-2A38-82940DD1CDBA}"/>
              </a:ext>
            </a:extLst>
          </p:cNvPr>
          <p:cNvSpPr txBox="1"/>
          <p:nvPr/>
        </p:nvSpPr>
        <p:spPr>
          <a:xfrm>
            <a:off x="2058557" y="1857721"/>
            <a:ext cx="868951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Disciplina: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AMBIENTE PROFISSIONAL E DE EXTENSÃO EM ANÁLISE E DESENVOLVIMENTO DE SISTEMAS V</a:t>
            </a: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Ementa: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dirty="0"/>
              <a:t>Problematização de temas conectados com a vida real na sociedade atual para solução por meio de projetos. Estabelecimento de direcionamentos e regras para a realização do desafio. Desenvolvimento de soft skills como trabalho em equipe, resolução de problemas complexos, comunicação, criatividade, entre outros. Tradução dos conhecimentos científicos para a comunidade. Inteligência Artificial: desafios e oportunidades. Programa de Extensão Institucional como proposta de diálogo entre a comunidade acadêmica e sociedade. Produção de materiais educacionais com uso das mídias digitais.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44902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204B456-55C4-4F4E-7ACE-FBD55B3D12F4}"/>
              </a:ext>
            </a:extLst>
          </p:cNvPr>
          <p:cNvCxnSpPr>
            <a:cxnSpLocks/>
          </p:cNvCxnSpPr>
          <p:nvPr/>
        </p:nvCxnSpPr>
        <p:spPr>
          <a:xfrm>
            <a:off x="2485082" y="1079186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509AC4DE-70D2-D8E5-A25C-ACD0D77A8FB3}"/>
              </a:ext>
            </a:extLst>
          </p:cNvPr>
          <p:cNvSpPr txBox="1"/>
          <p:nvPr/>
        </p:nvSpPr>
        <p:spPr>
          <a:xfrm>
            <a:off x="2359082" y="371300"/>
            <a:ext cx="74738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A33D6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OBJETIVO DE DESENVOLVIMENTO SUSTENTÁVEL DO PROJETO EXTENSIONISTA “EDUCANDO PARA A CIDADANIA”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rgbClr val="A33D6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10" descr="Objetivo - ícones de seo e web grátis">
            <a:extLst>
              <a:ext uri="{FF2B5EF4-FFF2-40B4-BE49-F238E27FC236}">
                <a16:creationId xmlns:a16="http://schemas.microsoft.com/office/drawing/2014/main" id="{F1514A57-3441-BDBD-C04B-85163E655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4879" y="500706"/>
            <a:ext cx="408951" cy="44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52B89C6-72E9-3EBA-DBE7-13BD4A52AD1E}"/>
              </a:ext>
            </a:extLst>
          </p:cNvPr>
          <p:cNvSpPr txBox="1"/>
          <p:nvPr/>
        </p:nvSpPr>
        <p:spPr>
          <a:xfrm>
            <a:off x="785553" y="2053270"/>
            <a:ext cx="8138639" cy="4237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600"/>
              </a:spcAft>
            </a:pPr>
            <a:r>
              <a:rPr lang="pt-BR" sz="1600" b="1" i="0" dirty="0">
                <a:solidFill>
                  <a:srgbClr val="FF0000"/>
                </a:solidFill>
                <a:effectLst/>
              </a:rPr>
              <a:t>Sugestão de texto: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600" b="1" kern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Inteligência Artificial: um novo paradigma tecnológico, </a:t>
            </a:r>
            <a:r>
              <a:rPr lang="pt-BR" sz="1600" kern="0" dirty="0">
                <a:solidFill>
                  <a:srgbClr val="0A2540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IA pode ser definida como a capacidade de um computador ou robô realizar tarefas que, até então, requeriam a intervenção humana. a IA pode ajudar a resolver problemas complexos de forma mais eficiente e precisa do que os humanos. Embora muitas pessoas não percebam, a IA já está presente em nosso cotidiano. A IA pode criar novos empregos em áreas como a análise de dados e o desenvolvimento de algoritmos. O desafio será encontrar maneiras de garantir que a IA seja usada para melhorar a qualidade de vida e a igualdade econômica.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Neste contexto, a 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ODS 9 visa c</a:t>
            </a:r>
            <a:r>
              <a:rPr lang="pt-BR" sz="1600" b="1" i="0" dirty="0" err="1">
                <a:solidFill>
                  <a:srgbClr val="000000"/>
                </a:solidFill>
                <a:effectLst/>
              </a:rPr>
              <a:t>onstruir</a:t>
            </a:r>
            <a:r>
              <a:rPr lang="pt-BR" sz="1600" b="1" i="0" dirty="0">
                <a:solidFill>
                  <a:srgbClr val="000000"/>
                </a:solidFill>
                <a:effectLst/>
              </a:rPr>
              <a:t> infraestruturas resilientes, promovendo a industrialização inclusiva e sustentável e fomentar a inovação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em que a ideia é </a:t>
            </a:r>
            <a:r>
              <a:rPr lang="pt-BR" sz="1600" dirty="0">
                <a:solidFill>
                  <a:srgbClr val="00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modernizar a infraestrutura e reabilitar as indústrias para torná-las sustentáveis, com eficiência aumentada no uso de recursos e maior adoção de tecnologias. Além disso, fortalecer a pesquisa científica, melhorar as capacidades tecnológicas de setores industriais em todos os países, particularmente os países em desenvolvimento, inclusive, até 2030, incentivando a inovação e aumentando substancialmente o número de trabalhadores de pesquisa e desenvolvimento.                                           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F97F82E-C08E-656F-6510-BD83F8BE9BB2}"/>
              </a:ext>
            </a:extLst>
          </p:cNvPr>
          <p:cNvSpPr txBox="1"/>
          <p:nvPr/>
        </p:nvSpPr>
        <p:spPr>
          <a:xfrm>
            <a:off x="9190181" y="3572372"/>
            <a:ext cx="284022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https://brasil.un.org/pt-br/sdgs</a:t>
            </a: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D35FA91-78A4-B4E7-8C2E-FBD2B5A34B49}"/>
              </a:ext>
            </a:extLst>
          </p:cNvPr>
          <p:cNvSpPr txBox="1"/>
          <p:nvPr/>
        </p:nvSpPr>
        <p:spPr>
          <a:xfrm>
            <a:off x="1072176" y="1079185"/>
            <a:ext cx="9812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i="1" dirty="0">
                <a:solidFill>
                  <a:schemeClr val="accent1"/>
                </a:solidFill>
              </a:rPr>
              <a:t>Inserir o TEMA ESCOLHIDO DO PLANO DE ENSINO  e o </a:t>
            </a:r>
            <a:r>
              <a:rPr lang="pt-BR" sz="2000" b="1" i="1" dirty="0">
                <a:solidFill>
                  <a:schemeClr val="accent1"/>
                </a:solidFill>
              </a:rPr>
              <a:t>Objetivo para o Desenvolvimento Sustentável (ODS) </a:t>
            </a:r>
            <a:r>
              <a:rPr lang="pt-BR" sz="2000" i="1" dirty="0">
                <a:solidFill>
                  <a:schemeClr val="accent1"/>
                </a:solidFill>
              </a:rPr>
              <a:t>, podendo ser mais de um, se for o caso.</a:t>
            </a:r>
            <a:endParaRPr lang="pt-BR" sz="2000" i="1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745BB66-085B-F2B6-CBD0-0237E58752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2917" y="2104176"/>
            <a:ext cx="1318374" cy="1333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69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3841D3B-AC6C-2B68-C26F-BB6FB6A95A56}"/>
              </a:ext>
            </a:extLst>
          </p:cNvPr>
          <p:cNvSpPr txBox="1"/>
          <p:nvPr/>
        </p:nvSpPr>
        <p:spPr>
          <a:xfrm>
            <a:off x="2284486" y="378387"/>
            <a:ext cx="100733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A33D6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LOCAL DE IMPLEMENTAÇÃO</a:t>
            </a: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A33D6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26" descr="Página 12 | Edificio Logotipo Imagens – Download Grátis no Freepik">
            <a:extLst>
              <a:ext uri="{FF2B5EF4-FFF2-40B4-BE49-F238E27FC236}">
                <a16:creationId xmlns:a16="http://schemas.microsoft.com/office/drawing/2014/main" id="{3B6ACB0E-4D1D-EC52-2C2E-1D38254EE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8273" y="483326"/>
            <a:ext cx="286212" cy="254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204B456-55C4-4F4E-7ACE-FBD55B3D12F4}"/>
              </a:ext>
            </a:extLst>
          </p:cNvPr>
          <p:cNvCxnSpPr>
            <a:cxnSpLocks/>
          </p:cNvCxnSpPr>
          <p:nvPr/>
        </p:nvCxnSpPr>
        <p:spPr>
          <a:xfrm>
            <a:off x="1998273" y="85113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697DFD30-5112-034D-C4C1-3849CA40ECFC}"/>
              </a:ext>
            </a:extLst>
          </p:cNvPr>
          <p:cNvSpPr txBox="1"/>
          <p:nvPr/>
        </p:nvSpPr>
        <p:spPr>
          <a:xfrm>
            <a:off x="1189779" y="1325147"/>
            <a:ext cx="98124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Inserir o nome do local em que será implementado o trabalho, uma breve apresentação deste espaço , endereço, público atendido, entre outras informações e  fotos.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E67C0D8-6BC6-FDE8-876B-464CC9FA609B}"/>
              </a:ext>
            </a:extLst>
          </p:cNvPr>
          <p:cNvSpPr txBox="1"/>
          <p:nvPr/>
        </p:nvSpPr>
        <p:spPr>
          <a:xfrm>
            <a:off x="1592019" y="2518128"/>
            <a:ext cx="9410202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/>
            </a:pPr>
            <a:r>
              <a:rPr lang="pt-BR" sz="1600" b="1" i="0" dirty="0">
                <a:solidFill>
                  <a:srgbClr val="FF0000"/>
                </a:solidFill>
                <a:effectLst/>
              </a:rPr>
              <a:t>Sugestão de texto: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Construtora e Incorporadora CONCREMIZA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Ade Conjunto 15 </a:t>
            </a:r>
            <a:r>
              <a:rPr kumimoji="0" lang="pt-BR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Lt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10/11 – s/n – Samambaia Sul, Brasília – DF, 72330-200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107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8F32F-0012-6F62-C7E8-B406F5E5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AC618FA3-E8CF-7D3D-2547-DA727B3C5FA7}"/>
              </a:ext>
            </a:extLst>
          </p:cNvPr>
          <p:cNvSpPr txBox="1"/>
          <p:nvPr/>
        </p:nvSpPr>
        <p:spPr>
          <a:xfrm>
            <a:off x="164032" y="2710377"/>
            <a:ext cx="8827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dirty="0"/>
              <a:t>	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01C1649-006C-22A0-79E1-E5D6B64D20CF}"/>
              </a:ext>
            </a:extLst>
          </p:cNvPr>
          <p:cNvSpPr txBox="1"/>
          <p:nvPr/>
        </p:nvSpPr>
        <p:spPr>
          <a:xfrm>
            <a:off x="1121557" y="1540388"/>
            <a:ext cx="104484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>
                <a:solidFill>
                  <a:schemeClr val="accent1"/>
                </a:solidFill>
              </a:rPr>
              <a:t>Preencher do slide 8 até o slide 9 (ou 10).</a:t>
            </a:r>
            <a:br>
              <a:rPr lang="pt-BR" sz="2000" i="1" dirty="0">
                <a:solidFill>
                  <a:schemeClr val="accent1"/>
                </a:solidFill>
              </a:rPr>
            </a:br>
            <a:r>
              <a:rPr lang="pt-BR" sz="2000" i="1" dirty="0">
                <a:solidFill>
                  <a:schemeClr val="accent1"/>
                </a:solidFill>
              </a:rPr>
              <a:t>Após o preenchimento, deverá enviar o arquivo no espaço de envio do Módulo 2 na sala de aula. </a:t>
            </a:r>
          </a:p>
          <a:p>
            <a:pPr algn="ctr"/>
            <a:r>
              <a:rPr lang="pt-BR" sz="2000" i="1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BDC153F-7FFC-22F6-0219-A9B0777F72CC}"/>
              </a:ext>
            </a:extLst>
          </p:cNvPr>
          <p:cNvSpPr txBox="1"/>
          <p:nvPr/>
        </p:nvSpPr>
        <p:spPr>
          <a:xfrm>
            <a:off x="2584174" y="502815"/>
            <a:ext cx="7063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2ª ETAPA</a:t>
            </a:r>
            <a:endParaRPr lang="pt-BR" sz="2400" kern="1200" dirty="0">
              <a:solidFill>
                <a:srgbClr val="A33D6B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4FD5186-CB0B-2297-6685-02D177D13143}"/>
              </a:ext>
            </a:extLst>
          </p:cNvPr>
          <p:cNvCxnSpPr>
            <a:cxnSpLocks/>
          </p:cNvCxnSpPr>
          <p:nvPr/>
        </p:nvCxnSpPr>
        <p:spPr>
          <a:xfrm>
            <a:off x="2232405" y="938354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7">
            <a:extLst>
              <a:ext uri="{FF2B5EF4-FFF2-40B4-BE49-F238E27FC236}">
                <a16:creationId xmlns:a16="http://schemas.microsoft.com/office/drawing/2014/main" id="{3FFB7830-A8EF-6960-4A21-01B4DC5ECEBF}"/>
              </a:ext>
            </a:extLst>
          </p:cNvPr>
          <p:cNvSpPr/>
          <p:nvPr/>
        </p:nvSpPr>
        <p:spPr>
          <a:xfrm>
            <a:off x="654691" y="266701"/>
            <a:ext cx="933733" cy="1244048"/>
          </a:xfrm>
          <a:custGeom>
            <a:avLst/>
            <a:gdLst/>
            <a:ahLst/>
            <a:cxnLst/>
            <a:rect l="l" t="t" r="r" b="b"/>
            <a:pathLst>
              <a:path w="1117450" h="1573369">
                <a:moveTo>
                  <a:pt x="0" y="0"/>
                </a:moveTo>
                <a:lnTo>
                  <a:pt x="1117450" y="0"/>
                </a:lnTo>
                <a:lnTo>
                  <a:pt x="1117450" y="1573369"/>
                </a:lnTo>
                <a:lnTo>
                  <a:pt x="0" y="157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8462B7F-B821-F65A-8667-B18CB403B20B}"/>
              </a:ext>
            </a:extLst>
          </p:cNvPr>
          <p:cNvSpPr/>
          <p:nvPr/>
        </p:nvSpPr>
        <p:spPr>
          <a:xfrm>
            <a:off x="8182303" y="5439103"/>
            <a:ext cx="3846787" cy="916082"/>
          </a:xfrm>
          <a:prstGeom prst="rect">
            <a:avLst/>
          </a:prstGeom>
          <a:noFill/>
          <a:ln w="38100">
            <a:solidFill>
              <a:srgbClr val="A33D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759B1C5-9B41-6B60-D2B0-07B86078F611}"/>
              </a:ext>
            </a:extLst>
          </p:cNvPr>
          <p:cNvSpPr txBox="1"/>
          <p:nvPr/>
        </p:nvSpPr>
        <p:spPr>
          <a:xfrm>
            <a:off x="8991236" y="5791200"/>
            <a:ext cx="200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Nota: _______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139FFF9-422F-E4C6-7135-42F6532F9DDD}"/>
              </a:ext>
            </a:extLst>
          </p:cNvPr>
          <p:cNvSpPr txBox="1"/>
          <p:nvPr/>
        </p:nvSpPr>
        <p:spPr>
          <a:xfrm>
            <a:off x="8076286" y="6355185"/>
            <a:ext cx="4115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Campo a ser preenchido pela professora.</a:t>
            </a:r>
          </a:p>
        </p:txBody>
      </p:sp>
    </p:spTree>
    <p:extLst>
      <p:ext uri="{BB962C8B-B14F-4D97-AF65-F5344CB8AC3E}">
        <p14:creationId xmlns:p14="http://schemas.microsoft.com/office/powerpoint/2010/main" val="103889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204B456-55C4-4F4E-7ACE-FBD55B3D12F4}"/>
              </a:ext>
            </a:extLst>
          </p:cNvPr>
          <p:cNvCxnSpPr>
            <a:cxnSpLocks/>
          </p:cNvCxnSpPr>
          <p:nvPr/>
        </p:nvCxnSpPr>
        <p:spPr>
          <a:xfrm>
            <a:off x="1998273" y="85113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697DFD30-5112-034D-C4C1-3849CA40ECFC}"/>
              </a:ext>
            </a:extLst>
          </p:cNvPr>
          <p:cNvSpPr txBox="1"/>
          <p:nvPr/>
        </p:nvSpPr>
        <p:spPr>
          <a:xfrm>
            <a:off x="1063869" y="1410757"/>
            <a:ext cx="107441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4625" marR="0" lvl="0" indent="-17462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Inserir os </a:t>
            </a:r>
            <a:r>
              <a:rPr lang="pt-BR" sz="2000" i="1" dirty="0">
                <a:solidFill>
                  <a:srgbClr val="4472C4"/>
                </a:solidFill>
                <a:latin typeface="Calibri" panose="020F0502020204030204"/>
              </a:rPr>
              <a:t>cargos/funções dos indivíduos da empresa/comunidade </a:t>
            </a:r>
            <a:r>
              <a:rPr kumimoji="0" lang="pt-BR" sz="20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envolvidos no trabalho, os </a:t>
            </a:r>
            <a:r>
              <a:rPr lang="pt-BR" sz="2000" i="1" dirty="0">
                <a:solidFill>
                  <a:srgbClr val="4472C4"/>
                </a:solidFill>
                <a:latin typeface="Calibri" panose="020F0502020204030204"/>
              </a:rPr>
              <a:t>tipos de usuários (</a:t>
            </a:r>
            <a:r>
              <a:rPr kumimoji="0" lang="pt-BR" sz="20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público alvo)</a:t>
            </a:r>
            <a:r>
              <a:rPr lang="pt-BR" sz="2000" i="1" dirty="0">
                <a:solidFill>
                  <a:srgbClr val="4472C4"/>
                </a:solidFill>
                <a:latin typeface="Calibri" panose="020F0502020204030204"/>
              </a:rPr>
              <a:t> dos serviços da empresa/comunidade. </a:t>
            </a:r>
            <a:r>
              <a:rPr lang="pt-BR" b="1" i="1" dirty="0">
                <a:solidFill>
                  <a:schemeClr val="accent1"/>
                </a:solidFill>
                <a:latin typeface="Calibri" panose="020F0502020204030204"/>
              </a:rPr>
              <a:t>Evitar</a:t>
            </a:r>
            <a:r>
              <a:rPr lang="pt-BR" i="1" dirty="0">
                <a:solidFill>
                  <a:schemeClr val="accent1"/>
                </a:solidFill>
                <a:latin typeface="Calibri" panose="020F0502020204030204"/>
              </a:rPr>
              <a:t> </a:t>
            </a:r>
            <a:r>
              <a:rPr kumimoji="0" lang="pt-BR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menção dos nomes dos usuários!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0D574B5-3515-9B71-3D3B-20BA8A677F49}"/>
              </a:ext>
            </a:extLst>
          </p:cNvPr>
          <p:cNvSpPr txBox="1"/>
          <p:nvPr/>
        </p:nvSpPr>
        <p:spPr>
          <a:xfrm>
            <a:off x="2578930" y="403512"/>
            <a:ext cx="69976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A33D6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PARTICIPANTES </a:t>
            </a: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A33D6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2" descr="Vetores e ilustrações de Comunidade desenho para download gratuito | Freepik">
            <a:extLst>
              <a:ext uri="{FF2B5EF4-FFF2-40B4-BE49-F238E27FC236}">
                <a16:creationId xmlns:a16="http://schemas.microsoft.com/office/drawing/2014/main" id="{C8950347-D116-89C7-D759-53636D157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5879" y="403512"/>
            <a:ext cx="693051" cy="461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09F08AD-1D22-0D37-1597-72FEE4C160E3}"/>
              </a:ext>
            </a:extLst>
          </p:cNvPr>
          <p:cNvSpPr txBox="1"/>
          <p:nvPr/>
        </p:nvSpPr>
        <p:spPr>
          <a:xfrm>
            <a:off x="2232404" y="2411414"/>
            <a:ext cx="8631918" cy="2569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4625" indent="-174625">
              <a:spcAft>
                <a:spcPts val="600"/>
              </a:spcAft>
            </a:pPr>
            <a:r>
              <a:rPr lang="pt-BR" sz="1600" b="1" i="0" dirty="0">
                <a:solidFill>
                  <a:srgbClr val="FF0000"/>
                </a:solidFill>
                <a:effectLst/>
              </a:rPr>
              <a:t>Sugestão de texto:</a:t>
            </a:r>
          </a:p>
          <a:p>
            <a:pPr marL="342900" indent="-342900">
              <a:buFontTx/>
              <a:buChar char="-"/>
            </a:pPr>
            <a:r>
              <a:rPr lang="pt-BR" sz="2000" dirty="0"/>
              <a:t>Funcionários do Setor de Cargas da empresa</a:t>
            </a:r>
          </a:p>
          <a:p>
            <a:pPr marL="342900" indent="-342900">
              <a:buFontTx/>
              <a:buChar char="-"/>
            </a:pPr>
            <a:r>
              <a:rPr kumimoji="0" lang="pt-BR" sz="20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Indivíduos da Comunidade de </a:t>
            </a: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ÁGUAS CLARAS – DF que foram abordados pela estudante e que, gentilmente, aceitaram participar da enquete realizada em ruas e praças</a:t>
            </a:r>
          </a:p>
          <a:p>
            <a:pPr marL="342900" indent="-342900">
              <a:buFontTx/>
              <a:buChar char="-"/>
            </a:pPr>
            <a:r>
              <a:rPr kumimoji="0" lang="pt-B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Três alunas de graduação de enfermagem, uma enfermeira e duas técnicas de enfermagem</a:t>
            </a:r>
          </a:p>
          <a:p>
            <a:pPr marL="342900" indent="-342900">
              <a:buFontTx/>
              <a:buChar char="-"/>
            </a:pPr>
            <a:endParaRPr kumimoji="0" lang="pt-BR" sz="20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132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05801BA-8B7F-9BA5-B655-5D4D33E24B00}"/>
              </a:ext>
            </a:extLst>
          </p:cNvPr>
          <p:cNvSpPr txBox="1"/>
          <p:nvPr/>
        </p:nvSpPr>
        <p:spPr>
          <a:xfrm>
            <a:off x="2213918" y="369590"/>
            <a:ext cx="10073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DESAFIO/ QUESTÃO PROBLEMA IDENTIFICADA</a:t>
            </a:r>
            <a:endParaRPr lang="pt-BR" sz="2400" dirty="0"/>
          </a:p>
          <a:p>
            <a:endParaRPr lang="pt-BR" sz="2400" kern="1200" dirty="0">
              <a:solidFill>
                <a:srgbClr val="A33D6B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2" name="Picture 2" descr="discurso bolhas com questão marcas dúvida conceito problema resolução  20186734 Vetor no Vecteezy">
            <a:extLst>
              <a:ext uri="{FF2B5EF4-FFF2-40B4-BE49-F238E27FC236}">
                <a16:creationId xmlns:a16="http://schemas.microsoft.com/office/drawing/2014/main" id="{8C679657-AC66-95C5-DD05-747A1DA45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164" y="341015"/>
            <a:ext cx="537754" cy="537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0FEC404-6968-AFF8-312A-E0C905B32509}"/>
              </a:ext>
            </a:extLst>
          </p:cNvPr>
          <p:cNvCxnSpPr>
            <a:cxnSpLocks/>
          </p:cNvCxnSpPr>
          <p:nvPr/>
        </p:nvCxnSpPr>
        <p:spPr>
          <a:xfrm>
            <a:off x="2213918" y="878769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B1347B0D-B5CE-B93B-F0D9-ACE4A5CFCCAA}"/>
              </a:ext>
            </a:extLst>
          </p:cNvPr>
          <p:cNvSpPr txBox="1"/>
          <p:nvPr/>
        </p:nvSpPr>
        <p:spPr>
          <a:xfrm>
            <a:off x="984739" y="1181534"/>
            <a:ext cx="109200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</a:rPr>
              <a:t>Descrever os objetivos do projeto de extensão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</a:rPr>
              <a:t>Descrever o problema/desafio identificado na pesquisa sobre o tema, na vivência on-line e presencial e por meio do diálogo com o grupo da comunidade.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</a:rPr>
              <a:t>Apontar as demandas que justificam a  realização do trabalho.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</a:rPr>
              <a:t>Apontar a proposta de para a resolução/melhoria do problema e demonstrar sua contribuição para o avanço do conhecimento.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E21FB1E-E1F9-9168-5A8C-5615C3611927}"/>
              </a:ext>
            </a:extLst>
          </p:cNvPr>
          <p:cNvSpPr txBox="1"/>
          <p:nvPr/>
        </p:nvSpPr>
        <p:spPr>
          <a:xfrm>
            <a:off x="1175983" y="3158469"/>
            <a:ext cx="10605709" cy="2949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1600" b="1" i="0" dirty="0">
                <a:solidFill>
                  <a:srgbClr val="FF0000"/>
                </a:solidFill>
                <a:effectLst/>
              </a:rPr>
              <a:t>Sugestão de texto: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chemeClr val="dk1"/>
                </a:solidFill>
              </a:rPr>
              <a:t>Apresentar os principais conceitos sobre a </a:t>
            </a:r>
            <a:r>
              <a:rPr lang="pt-BR" sz="1600" b="1" dirty="0">
                <a:solidFill>
                  <a:schemeClr val="dk1"/>
                </a:solidFill>
              </a:rPr>
              <a:t>ética digital em empresas 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chemeClr val="dk1"/>
                </a:solidFill>
              </a:rPr>
              <a:t>Promover a compreensão e o compartilhamento do conhecimento sobre a ética digital nas empresas com foco na sociedade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chemeClr val="dk1"/>
                </a:solidFill>
              </a:rPr>
              <a:t>A ideia é informar essa população sobre os riscos e benefícios que a ética digital pode proporcionar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chemeClr val="dk1"/>
                </a:solidFill>
              </a:rPr>
              <a:t>Além de divulgar informações, perspectivas e reflexões sobre o tema, buscando melhores formas de abordagem da ética digital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chemeClr val="dk1"/>
                </a:solidFill>
              </a:rPr>
              <a:t>Propor espaço para comunicação do tema, no caso um </a:t>
            </a:r>
            <a:r>
              <a:rPr lang="pt-BR" sz="1600" b="1" dirty="0" err="1">
                <a:solidFill>
                  <a:schemeClr val="dk1"/>
                </a:solidFill>
              </a:rPr>
              <a:t>reels</a:t>
            </a:r>
            <a:r>
              <a:rPr lang="pt-BR" sz="1600" b="1" dirty="0">
                <a:solidFill>
                  <a:schemeClr val="dk1"/>
                </a:solidFill>
              </a:rPr>
              <a:t> ou stories na plataforma Instagram</a:t>
            </a:r>
          </a:p>
          <a:p>
            <a:pPr marL="342900" indent="-342900">
              <a:spcBef>
                <a:spcPts val="400"/>
              </a:spcBef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chemeClr val="dk1"/>
                </a:solidFill>
              </a:rPr>
              <a:t>Esse ambiente visa promover o debate, reflexão e aprendizado a respeito da ética digital</a:t>
            </a:r>
          </a:p>
        </p:txBody>
      </p:sp>
    </p:spTree>
    <p:extLst>
      <p:ext uri="{BB962C8B-B14F-4D97-AF65-F5344CB8AC3E}">
        <p14:creationId xmlns:p14="http://schemas.microsoft.com/office/powerpoint/2010/main" val="766533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discurso bolhas com questão marcas dúvida conceito problema resolução  20186734 Vetor no Vecteezy">
            <a:extLst>
              <a:ext uri="{FF2B5EF4-FFF2-40B4-BE49-F238E27FC236}">
                <a16:creationId xmlns:a16="http://schemas.microsoft.com/office/drawing/2014/main" id="{8C679657-AC66-95C5-DD05-747A1DA45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164" y="341015"/>
            <a:ext cx="537754" cy="537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Conector Reto 2">
            <a:extLst>
              <a:ext uri="{FF2B5EF4-FFF2-40B4-BE49-F238E27FC236}">
                <a16:creationId xmlns:a16="http://schemas.microsoft.com/office/drawing/2014/main" id="{90FEC404-6968-AFF8-312A-E0C905B32509}"/>
              </a:ext>
            </a:extLst>
          </p:cNvPr>
          <p:cNvCxnSpPr>
            <a:cxnSpLocks/>
          </p:cNvCxnSpPr>
          <p:nvPr/>
        </p:nvCxnSpPr>
        <p:spPr>
          <a:xfrm>
            <a:off x="2213918" y="878769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ABEF2A57-3E97-041C-8A6F-A36F0D7804AF}"/>
              </a:ext>
            </a:extLst>
          </p:cNvPr>
          <p:cNvSpPr txBox="1"/>
          <p:nvPr/>
        </p:nvSpPr>
        <p:spPr>
          <a:xfrm>
            <a:off x="1435087" y="3242188"/>
            <a:ext cx="10082836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pt-BR" sz="1600" b="1" i="0" dirty="0">
                <a:solidFill>
                  <a:srgbClr val="FF0000"/>
                </a:solidFill>
                <a:effectLst/>
              </a:rPr>
              <a:t>Sugestão de texto: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 </a:t>
            </a:r>
            <a:r>
              <a:rPr kumimoji="0" lang="pt-BR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ADMs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(Armas de Destruição Matemática/Algoritmos de Destruição em Massa), são modelos matemáticos nocivos, opacos, de mecanismos invisíveis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 com ciclos viciados de feedback (retroalimentação), que têm como objetivo ordenar, atingir ou “otimizar” milhões de pessoas.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 presente trabalho visa demonstrar como os/as </a:t>
            </a:r>
            <a:r>
              <a:rPr kumimoji="0" lang="pt-BR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ADMs</a:t>
            </a:r>
            <a:r>
              <a:rPr kumimoji="0" lang="pt-B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podem cometer injustiças contra populações mais pobres e minorias. 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Através de </a:t>
            </a:r>
            <a:r>
              <a:rPr kumimoji="0" lang="pt-BR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input’s</a:t>
            </a:r>
            <a:r>
              <a:rPr kumimoji="0" lang="pt-B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ou entradas de dados, podem reforçar estereótipos, preconceitos, dificultar a obtenção de empréstimos financeiros, dificultar o acesso a educação de qualidade, que poderiam promover a ascensão social de pessoas de classes menos favorecidas. Pretende-se demonstrar como a falta de transparência(opacidade) é um inimigo que deve trazer reflexão a toda a população mundial.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075D35A-93DF-B380-6A8D-8CA6DB980BCE}"/>
              </a:ext>
            </a:extLst>
          </p:cNvPr>
          <p:cNvSpPr txBox="1"/>
          <p:nvPr/>
        </p:nvSpPr>
        <p:spPr>
          <a:xfrm>
            <a:off x="2213918" y="369590"/>
            <a:ext cx="10073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A33D6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DESAFIO/ QUESTÃO PROBLEMA IDENTIFICADA</a:t>
            </a: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A33D6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D556137-FE1F-90CA-08D2-5FF48F78CB5E}"/>
              </a:ext>
            </a:extLst>
          </p:cNvPr>
          <p:cNvSpPr txBox="1"/>
          <p:nvPr/>
        </p:nvSpPr>
        <p:spPr>
          <a:xfrm>
            <a:off x="984739" y="1181534"/>
            <a:ext cx="109200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</a:rPr>
              <a:t>Descrever os objetivos do projeto de extensão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</a:rPr>
              <a:t>Descrever o problema/desafio identificado na pesquisa sobre o tema, na vivência on-line e presencial e por meio do diálogo com o grupo da comunidade.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</a:rPr>
              <a:t>Apontar as demandas que justificam a  realização do trabalho.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</a:rPr>
              <a:t>Apontar a proposta de para a resolução/melhoria do problema e demonstrar sua contribuição para o avanço do conhecimento.</a:t>
            </a:r>
          </a:p>
        </p:txBody>
      </p:sp>
    </p:spTree>
    <p:extLst>
      <p:ext uri="{BB962C8B-B14F-4D97-AF65-F5344CB8AC3E}">
        <p14:creationId xmlns:p14="http://schemas.microsoft.com/office/powerpoint/2010/main" val="3471696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54589-3D1E-A608-764C-434CCE744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aixaDeTexto 11">
            <a:extLst>
              <a:ext uri="{FF2B5EF4-FFF2-40B4-BE49-F238E27FC236}">
                <a16:creationId xmlns:a16="http://schemas.microsoft.com/office/drawing/2014/main" id="{915C325C-933F-DF20-684B-F4AA4E449166}"/>
              </a:ext>
            </a:extLst>
          </p:cNvPr>
          <p:cNvSpPr txBox="1"/>
          <p:nvPr/>
        </p:nvSpPr>
        <p:spPr>
          <a:xfrm>
            <a:off x="164032" y="2710377"/>
            <a:ext cx="88272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400" dirty="0"/>
              <a:t>	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6AFB8D8-5682-96E8-07EB-E2E450C88C81}"/>
              </a:ext>
            </a:extLst>
          </p:cNvPr>
          <p:cNvSpPr txBox="1"/>
          <p:nvPr/>
        </p:nvSpPr>
        <p:spPr>
          <a:xfrm>
            <a:off x="1419859" y="1470489"/>
            <a:ext cx="102123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i="1" dirty="0">
                <a:solidFill>
                  <a:schemeClr val="accent1"/>
                </a:solidFill>
              </a:rPr>
              <a:t>Preencher do slide 12 até o slide 19.</a:t>
            </a:r>
            <a:br>
              <a:rPr lang="pt-BR" sz="2000" i="1" dirty="0">
                <a:solidFill>
                  <a:schemeClr val="accent1"/>
                </a:solidFill>
              </a:rPr>
            </a:br>
            <a:r>
              <a:rPr lang="pt-BR" sz="2000" i="1" dirty="0">
                <a:solidFill>
                  <a:schemeClr val="accent1"/>
                </a:solidFill>
              </a:rPr>
              <a:t>Após o preenchimento, deverá enviar o arquivo no espaço de envio do Módulo 3 na sala de aula. </a:t>
            </a:r>
          </a:p>
          <a:p>
            <a:pPr algn="ctr"/>
            <a:r>
              <a:rPr lang="pt-BR" sz="2000" i="1" dirty="0"/>
              <a:t>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C4FF75F-D16C-97E4-A452-A996D40C3CE5}"/>
              </a:ext>
            </a:extLst>
          </p:cNvPr>
          <p:cNvSpPr txBox="1"/>
          <p:nvPr/>
        </p:nvSpPr>
        <p:spPr>
          <a:xfrm>
            <a:off x="2584174" y="502815"/>
            <a:ext cx="70634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3 ª ETAPA</a:t>
            </a:r>
            <a:endParaRPr lang="pt-BR" sz="2400" kern="1200" dirty="0">
              <a:solidFill>
                <a:srgbClr val="A33D6B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8F27B4B4-C738-FEA6-1E63-B7FA8E32FC52}"/>
              </a:ext>
            </a:extLst>
          </p:cNvPr>
          <p:cNvCxnSpPr>
            <a:cxnSpLocks/>
          </p:cNvCxnSpPr>
          <p:nvPr/>
        </p:nvCxnSpPr>
        <p:spPr>
          <a:xfrm>
            <a:off x="2232405" y="938354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 7">
            <a:extLst>
              <a:ext uri="{FF2B5EF4-FFF2-40B4-BE49-F238E27FC236}">
                <a16:creationId xmlns:a16="http://schemas.microsoft.com/office/drawing/2014/main" id="{F1B85E51-2CCB-5BD1-C1BB-4B171D734434}"/>
              </a:ext>
            </a:extLst>
          </p:cNvPr>
          <p:cNvSpPr/>
          <p:nvPr/>
        </p:nvSpPr>
        <p:spPr>
          <a:xfrm>
            <a:off x="654691" y="266701"/>
            <a:ext cx="933733" cy="1244048"/>
          </a:xfrm>
          <a:custGeom>
            <a:avLst/>
            <a:gdLst/>
            <a:ahLst/>
            <a:cxnLst/>
            <a:rect l="l" t="t" r="r" b="b"/>
            <a:pathLst>
              <a:path w="1117450" h="1573369">
                <a:moveTo>
                  <a:pt x="0" y="0"/>
                </a:moveTo>
                <a:lnTo>
                  <a:pt x="1117450" y="0"/>
                </a:lnTo>
                <a:lnTo>
                  <a:pt x="1117450" y="1573369"/>
                </a:lnTo>
                <a:lnTo>
                  <a:pt x="0" y="15733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9AB03B4-1DBD-F770-4D16-8DF18A980965}"/>
              </a:ext>
            </a:extLst>
          </p:cNvPr>
          <p:cNvSpPr/>
          <p:nvPr/>
        </p:nvSpPr>
        <p:spPr>
          <a:xfrm>
            <a:off x="8182303" y="5439103"/>
            <a:ext cx="3846787" cy="916082"/>
          </a:xfrm>
          <a:prstGeom prst="rect">
            <a:avLst/>
          </a:prstGeom>
          <a:noFill/>
          <a:ln w="38100">
            <a:solidFill>
              <a:srgbClr val="A33D6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C832759-D363-3729-4266-85FF70881CCA}"/>
              </a:ext>
            </a:extLst>
          </p:cNvPr>
          <p:cNvSpPr txBox="1"/>
          <p:nvPr/>
        </p:nvSpPr>
        <p:spPr>
          <a:xfrm>
            <a:off x="8991236" y="5791200"/>
            <a:ext cx="200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Nota: _______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114449E-4CA3-3844-B69A-E33DDD36E7B6}"/>
              </a:ext>
            </a:extLst>
          </p:cNvPr>
          <p:cNvSpPr txBox="1"/>
          <p:nvPr/>
        </p:nvSpPr>
        <p:spPr>
          <a:xfrm>
            <a:off x="8076286" y="6355185"/>
            <a:ext cx="4121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Campo a ser preenchido pela professora.</a:t>
            </a:r>
          </a:p>
        </p:txBody>
      </p:sp>
    </p:spTree>
    <p:extLst>
      <p:ext uri="{BB962C8B-B14F-4D97-AF65-F5344CB8AC3E}">
        <p14:creationId xmlns:p14="http://schemas.microsoft.com/office/powerpoint/2010/main" val="2909584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05801BA-8B7F-9BA5-B655-5D4D33E24B00}"/>
              </a:ext>
            </a:extLst>
          </p:cNvPr>
          <p:cNvSpPr txBox="1"/>
          <p:nvPr/>
        </p:nvSpPr>
        <p:spPr>
          <a:xfrm>
            <a:off x="1059322" y="1071432"/>
            <a:ext cx="100733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Descrever</a:t>
            </a:r>
            <a:r>
              <a:rPr lang="pt-BR" sz="2000" i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os conteúdos que serão abordados/desenvolvidos na atividade edu</a:t>
            </a:r>
            <a:r>
              <a:rPr lang="pt-BR" sz="2000" i="1" dirty="0">
                <a:solidFill>
                  <a:schemeClr val="accent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cativa.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Escolher a mídia digital a ser desenvolvida.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  <a:ea typeface="Calibri" panose="020F0502020204030204" pitchFamily="34" charset="0"/>
              </a:rPr>
              <a:t>Descrever </a:t>
            </a:r>
            <a:r>
              <a:rPr lang="pt-BR" sz="2000" i="1" dirty="0">
                <a:solidFill>
                  <a:schemeClr val="accent1"/>
                </a:solidFill>
                <a:effectLst/>
                <a:ea typeface="Calibri" panose="020F0502020204030204" pitchFamily="34" charset="0"/>
              </a:rPr>
              <a:t>as estratégias a serem utilizados na atividade, para atingir os abjetivos propostos.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  <a:ea typeface="Calibri" panose="020F0502020204030204" pitchFamily="34" charset="0"/>
              </a:rPr>
              <a:t>Enumerar,</a:t>
            </a:r>
            <a:r>
              <a:rPr lang="pt-BR" sz="2000" i="1" dirty="0">
                <a:solidFill>
                  <a:schemeClr val="accent1"/>
                </a:solidFill>
                <a:effectLst/>
                <a:ea typeface="Calibri" panose="020F0502020204030204" pitchFamily="34" charset="0"/>
              </a:rPr>
              <a:t> passo a passo as etapas, com as ações previstas </a:t>
            </a:r>
            <a:r>
              <a:rPr lang="pt-BR" sz="2000" i="1" dirty="0">
                <a:solidFill>
                  <a:schemeClr val="accent1"/>
                </a:solidFill>
                <a:ea typeface="Calibri" panose="020F0502020204030204" pitchFamily="34" charset="0"/>
              </a:rPr>
              <a:t>para</a:t>
            </a:r>
            <a:r>
              <a:rPr lang="pt-BR" sz="2000" i="1" dirty="0">
                <a:solidFill>
                  <a:schemeClr val="accent1"/>
                </a:solidFill>
                <a:effectLst/>
                <a:ea typeface="Calibri" panose="020F0502020204030204" pitchFamily="34" charset="0"/>
              </a:rPr>
              <a:t> a produção do material educativo e os respectivos responsáveis.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Descrever</a:t>
            </a:r>
            <a:r>
              <a:rPr lang="pt-BR" sz="2000" i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 mídia digital a ser desenvolvida.</a:t>
            </a:r>
            <a:endParaRPr lang="pt-BR" sz="2400" i="1" dirty="0">
              <a:effectLst/>
              <a:ea typeface="Calibri" panose="020F050202020403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6D3A3B-6E22-2270-8D78-A1BD720893E2}"/>
              </a:ext>
            </a:extLst>
          </p:cNvPr>
          <p:cNvSpPr txBox="1"/>
          <p:nvPr/>
        </p:nvSpPr>
        <p:spPr>
          <a:xfrm>
            <a:off x="2118645" y="362487"/>
            <a:ext cx="10073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INFORMAÇÕES ESSENCIAIS SOBRE O PLANEJAMENTO</a:t>
            </a:r>
          </a:p>
          <a:p>
            <a:endParaRPr lang="pt-BR" sz="2400" kern="1200" dirty="0">
              <a:solidFill>
                <a:srgbClr val="A33D6B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 descr="Planejamento - ícones de do utilizador grátis">
            <a:extLst>
              <a:ext uri="{FF2B5EF4-FFF2-40B4-BE49-F238E27FC236}">
                <a16:creationId xmlns:a16="http://schemas.microsoft.com/office/drawing/2014/main" id="{944120EE-D71F-64CC-2FB1-46BDEEFD5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111" y="509451"/>
            <a:ext cx="268534" cy="2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498FB6EC-2D20-900B-A04E-FA848B78DE53}"/>
              </a:ext>
            </a:extLst>
          </p:cNvPr>
          <p:cNvCxnSpPr>
            <a:cxnSpLocks/>
          </p:cNvCxnSpPr>
          <p:nvPr/>
        </p:nvCxnSpPr>
        <p:spPr>
          <a:xfrm>
            <a:off x="2163770" y="81591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D92328-B002-BEAB-5434-AB121FCDA501}"/>
              </a:ext>
            </a:extLst>
          </p:cNvPr>
          <p:cNvSpPr txBox="1"/>
          <p:nvPr/>
        </p:nvSpPr>
        <p:spPr>
          <a:xfrm>
            <a:off x="1185635" y="3087394"/>
            <a:ext cx="10476704" cy="3193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pt-BR" sz="1600" b="1" i="0" dirty="0">
                <a:solidFill>
                  <a:srgbClr val="FF0000"/>
                </a:solidFill>
                <a:effectLst/>
              </a:rPr>
              <a:t>Sugestão de texto:</a:t>
            </a:r>
          </a:p>
          <a:p>
            <a:pPr algn="just"/>
            <a:r>
              <a:rPr lang="pt-PT" sz="1600" b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</a:t>
            </a:r>
            <a:r>
              <a:rPr lang="pt-PT" sz="16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t-PT" sz="1600" b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atividade de extensão conduzida no projeto presta serviços à comunidade a partir da </a:t>
            </a:r>
            <a:r>
              <a:rPr lang="pt-BR" sz="1600" b="1" dirty="0">
                <a:solidFill>
                  <a:schemeClr val="dk1"/>
                </a:solidFill>
              </a:rPr>
              <a:t>produção de um vídeo educativo com duração de 48 segundos sobre a ética digital</a:t>
            </a:r>
            <a:r>
              <a:rPr lang="pt-BR" sz="1600" dirty="0">
                <a:solidFill>
                  <a:schemeClr val="dk1"/>
                </a:solidFill>
              </a:rPr>
              <a:t>, seu surgimento e os impactos e perigos para as empresas. O vídeo teve como estratégia de divulgação a postagem como </a:t>
            </a:r>
            <a:r>
              <a:rPr lang="pt-BR" sz="1600" b="1" dirty="0" err="1">
                <a:solidFill>
                  <a:schemeClr val="dk1"/>
                </a:solidFill>
              </a:rPr>
              <a:t>reels</a:t>
            </a:r>
            <a:r>
              <a:rPr lang="pt-BR" sz="1600" dirty="0">
                <a:solidFill>
                  <a:schemeClr val="dk1"/>
                </a:solidFill>
              </a:rPr>
              <a:t> e como </a:t>
            </a:r>
            <a:r>
              <a:rPr lang="pt-BR" sz="1600" b="1" dirty="0">
                <a:solidFill>
                  <a:schemeClr val="dk1"/>
                </a:solidFill>
              </a:rPr>
              <a:t>stories</a:t>
            </a:r>
            <a:r>
              <a:rPr lang="pt-BR" sz="1600" dirty="0">
                <a:solidFill>
                  <a:schemeClr val="dk1"/>
                </a:solidFill>
              </a:rPr>
              <a:t> no </a:t>
            </a:r>
            <a:r>
              <a:rPr lang="pt-BR" sz="1600" b="1" dirty="0">
                <a:solidFill>
                  <a:schemeClr val="dk1"/>
                </a:solidFill>
              </a:rPr>
              <a:t>Instagram.</a:t>
            </a:r>
          </a:p>
          <a:p>
            <a:pPr algn="just">
              <a:lnSpc>
                <a:spcPct val="115000"/>
              </a:lnSpc>
              <a:spcAft>
                <a:spcPts val="600"/>
              </a:spcAft>
            </a:pPr>
            <a:endParaRPr lang="pt-BR" sz="900" b="1" dirty="0">
              <a:solidFill>
                <a:schemeClr val="dk1"/>
              </a:solidFill>
            </a:endParaRPr>
          </a:p>
          <a:p>
            <a:pPr algn="just">
              <a:lnSpc>
                <a:spcPct val="115000"/>
              </a:lnSpc>
            </a:pPr>
            <a:r>
              <a:rPr lang="pt-BR" sz="1600" b="1" dirty="0">
                <a:solidFill>
                  <a:schemeClr val="dk1"/>
                </a:solidFill>
              </a:rPr>
              <a:t>Estratégia de Avaliação do vídeo:</a:t>
            </a:r>
          </a:p>
          <a:p>
            <a:pPr algn="just">
              <a:lnSpc>
                <a:spcPct val="115000"/>
              </a:lnSpc>
            </a:pPr>
            <a:r>
              <a:rPr lang="pt-BR" sz="1600" dirty="0">
                <a:solidFill>
                  <a:schemeClr val="dk1"/>
                </a:solidFill>
              </a:rPr>
              <a:t>O vídeo foi avaliado em dois momentos: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chemeClr val="dk1"/>
                </a:solidFill>
              </a:rPr>
              <a:t>Após 1 hora de publicação atingiu um público de 21 pessoas.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1600" dirty="0">
                <a:solidFill>
                  <a:schemeClr val="dk1"/>
                </a:solidFill>
              </a:rPr>
              <a:t>Após 24h de publicação foi observado um aumento considerável de visualização, com o alcance de 587 visualizações</a:t>
            </a:r>
          </a:p>
          <a:p>
            <a:pPr algn="just">
              <a:spcAft>
                <a:spcPts val="600"/>
              </a:spcAft>
            </a:pPr>
            <a:endParaRPr lang="pt-BR" sz="900" dirty="0">
              <a:solidFill>
                <a:schemeClr val="dk1"/>
              </a:solidFill>
            </a:endParaRPr>
          </a:p>
          <a:p>
            <a:pPr algn="just">
              <a:spcAft>
                <a:spcPts val="600"/>
              </a:spcAft>
            </a:pPr>
            <a:r>
              <a:rPr lang="pt-BR" sz="1600" dirty="0">
                <a:solidFill>
                  <a:schemeClr val="dk1"/>
                </a:solidFill>
              </a:rPr>
              <a:t>Além da produção do vídeo educativo, foi realizada uma </a:t>
            </a:r>
            <a:r>
              <a:rPr lang="pt-PT" sz="1600" b="1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apresentação presencial desse trabalho na </a:t>
            </a:r>
            <a:r>
              <a:rPr lang="pt-PT" sz="1600" kern="12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empresa em que a aluna é colaboradora.</a:t>
            </a:r>
            <a:endParaRPr lang="pt-BR" sz="20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437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605801BA-8B7F-9BA5-B655-5D4D33E24B00}"/>
              </a:ext>
            </a:extLst>
          </p:cNvPr>
          <p:cNvSpPr txBox="1"/>
          <p:nvPr/>
        </p:nvSpPr>
        <p:spPr>
          <a:xfrm>
            <a:off x="1059322" y="1071432"/>
            <a:ext cx="100733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Descrever</a:t>
            </a:r>
            <a:r>
              <a:rPr lang="pt-BR" sz="2000" i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os conteúdos que serão abordados/desenvolvidos na atividade edu</a:t>
            </a:r>
            <a:r>
              <a:rPr lang="pt-BR" sz="2000" i="1" dirty="0">
                <a:solidFill>
                  <a:schemeClr val="accent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cativa.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Escolher a mídia digital a ser desenvolvida.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  <a:ea typeface="Calibri" panose="020F0502020204030204" pitchFamily="34" charset="0"/>
              </a:rPr>
              <a:t>Descrever </a:t>
            </a:r>
            <a:r>
              <a:rPr lang="pt-BR" sz="2000" i="1" dirty="0">
                <a:solidFill>
                  <a:schemeClr val="accent1"/>
                </a:solidFill>
                <a:effectLst/>
                <a:ea typeface="Calibri" panose="020F0502020204030204" pitchFamily="34" charset="0"/>
              </a:rPr>
              <a:t>as estratégias a serem utilizados na atividade, para atingir os abjetivos propostos.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  <a:ea typeface="Calibri" panose="020F0502020204030204" pitchFamily="34" charset="0"/>
              </a:rPr>
              <a:t>Enumerar,</a:t>
            </a:r>
            <a:r>
              <a:rPr lang="pt-BR" sz="2000" i="1" dirty="0">
                <a:solidFill>
                  <a:schemeClr val="accent1"/>
                </a:solidFill>
                <a:effectLst/>
                <a:ea typeface="Calibri" panose="020F0502020204030204" pitchFamily="34" charset="0"/>
              </a:rPr>
              <a:t> passo a passo as etapas, com as ações previstas </a:t>
            </a:r>
            <a:r>
              <a:rPr lang="pt-BR" sz="2000" i="1" dirty="0">
                <a:solidFill>
                  <a:schemeClr val="accent1"/>
                </a:solidFill>
                <a:ea typeface="Calibri" panose="020F0502020204030204" pitchFamily="34" charset="0"/>
              </a:rPr>
              <a:t>para</a:t>
            </a:r>
            <a:r>
              <a:rPr lang="pt-BR" sz="2000" i="1" dirty="0">
                <a:solidFill>
                  <a:schemeClr val="accent1"/>
                </a:solidFill>
                <a:effectLst/>
                <a:ea typeface="Calibri" panose="020F0502020204030204" pitchFamily="34" charset="0"/>
              </a:rPr>
              <a:t> a produção do material educativo e os respectivos responsáveis.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>
                <a:solidFill>
                  <a:schemeClr val="accent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Descrever</a:t>
            </a:r>
            <a:r>
              <a:rPr lang="pt-BR" sz="2000" i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pt-BR" sz="2000" i="1" dirty="0">
                <a:solidFill>
                  <a:schemeClr val="accent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material educativo</a:t>
            </a:r>
            <a:r>
              <a:rPr lang="pt-BR" sz="2000" i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digital a ser desenvolvido.</a:t>
            </a:r>
            <a:endParaRPr lang="pt-BR" sz="2400" i="1" dirty="0">
              <a:effectLst/>
              <a:ea typeface="Calibri" panose="020F050202020403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16D3A3B-6E22-2270-8D78-A1BD720893E2}"/>
              </a:ext>
            </a:extLst>
          </p:cNvPr>
          <p:cNvSpPr txBox="1"/>
          <p:nvPr/>
        </p:nvSpPr>
        <p:spPr>
          <a:xfrm>
            <a:off x="2118645" y="362487"/>
            <a:ext cx="100733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INFORMAÇÕES ESSENCIAIS SOBRE O PLANEJAMENTO</a:t>
            </a:r>
          </a:p>
          <a:p>
            <a:endParaRPr lang="pt-BR" sz="2400" kern="1200" dirty="0">
              <a:solidFill>
                <a:srgbClr val="A33D6B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 descr="Planejamento - ícones de do utilizador grátis">
            <a:extLst>
              <a:ext uri="{FF2B5EF4-FFF2-40B4-BE49-F238E27FC236}">
                <a16:creationId xmlns:a16="http://schemas.microsoft.com/office/drawing/2014/main" id="{944120EE-D71F-64CC-2FB1-46BDEEFD5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0111" y="509451"/>
            <a:ext cx="268534" cy="2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498FB6EC-2D20-900B-A04E-FA848B78DE53}"/>
              </a:ext>
            </a:extLst>
          </p:cNvPr>
          <p:cNvCxnSpPr>
            <a:cxnSpLocks/>
          </p:cNvCxnSpPr>
          <p:nvPr/>
        </p:nvCxnSpPr>
        <p:spPr>
          <a:xfrm>
            <a:off x="2163770" y="81591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63D92328-B002-BEAB-5434-AB121FCDA501}"/>
              </a:ext>
            </a:extLst>
          </p:cNvPr>
          <p:cNvSpPr txBox="1"/>
          <p:nvPr/>
        </p:nvSpPr>
        <p:spPr>
          <a:xfrm>
            <a:off x="1185635" y="3157732"/>
            <a:ext cx="10476704" cy="217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pt-BR" sz="1600" b="1" i="0" dirty="0">
                <a:solidFill>
                  <a:srgbClr val="FF0000"/>
                </a:solidFill>
                <a:effectLst/>
              </a:rPr>
              <a:t>Sugestão de texto:</a:t>
            </a:r>
          </a:p>
          <a:p>
            <a:r>
              <a:rPr lang="pt-BR" sz="1600" dirty="0">
                <a:effectLst/>
                <a:ea typeface="Arial" panose="020B0604020202020204" pitchFamily="34" charset="0"/>
              </a:rPr>
              <a:t>A plataforma utilizada para a realização do </a:t>
            </a:r>
            <a:r>
              <a:rPr lang="pt-BR" sz="1600" b="1" dirty="0" err="1">
                <a:effectLst/>
                <a:ea typeface="Arial" panose="020B0604020202020204" pitchFamily="34" charset="0"/>
              </a:rPr>
              <a:t>reels</a:t>
            </a:r>
            <a:r>
              <a:rPr lang="pt-BR" sz="1600" dirty="0">
                <a:effectLst/>
                <a:ea typeface="Arial" panose="020B0604020202020204" pitchFamily="34" charset="0"/>
              </a:rPr>
              <a:t> foi o </a:t>
            </a:r>
            <a:r>
              <a:rPr lang="pt-BR" sz="1600" b="1" dirty="0">
                <a:effectLst/>
                <a:ea typeface="Arial" panose="020B0604020202020204" pitchFamily="34" charset="0"/>
              </a:rPr>
              <a:t>Instagram</a:t>
            </a:r>
            <a:r>
              <a:rPr lang="pt-BR" sz="1600" dirty="0">
                <a:effectLst/>
                <a:ea typeface="Arial" panose="020B0604020202020204" pitchFamily="34" charset="0"/>
              </a:rPr>
              <a:t> e foram utilizados os seguintes métodos de implementação: </a:t>
            </a:r>
          </a:p>
          <a:p>
            <a:pPr marL="285750" indent="249238">
              <a:buFont typeface="Wingdings" panose="05000000000000000000" pitchFamily="2" charset="2"/>
              <a:buChar char="ü"/>
            </a:pPr>
            <a:r>
              <a:rPr lang="pt-BR" sz="1600" i="1" dirty="0">
                <a:effectLst/>
                <a:ea typeface="Arial" panose="020B0604020202020204" pitchFamily="34" charset="0"/>
              </a:rPr>
              <a:t>Edição pelo Shapes</a:t>
            </a:r>
          </a:p>
          <a:p>
            <a:pPr marL="285750" indent="249238">
              <a:buFont typeface="Wingdings" panose="05000000000000000000" pitchFamily="2" charset="2"/>
              <a:buChar char="ü"/>
            </a:pPr>
            <a:r>
              <a:rPr lang="pt-BR" sz="1600" i="1" dirty="0" err="1">
                <a:effectLst/>
                <a:ea typeface="Arial" panose="020B0604020202020204" pitchFamily="34" charset="0"/>
              </a:rPr>
              <a:t>Prequel</a:t>
            </a:r>
            <a:r>
              <a:rPr lang="pt-BR" sz="1600" i="1" dirty="0">
                <a:effectLst/>
                <a:ea typeface="Arial" panose="020B0604020202020204" pitchFamily="34" charset="0"/>
              </a:rPr>
              <a:t> para realizar a correção das cores no vídeo</a:t>
            </a:r>
          </a:p>
          <a:p>
            <a:pPr marL="285750" indent="249238">
              <a:buFont typeface="Wingdings" panose="05000000000000000000" pitchFamily="2" charset="2"/>
              <a:buChar char="ü"/>
            </a:pPr>
            <a:r>
              <a:rPr lang="pt-BR" sz="1600" i="1" dirty="0" err="1">
                <a:ea typeface="Arial" panose="020B0604020202020204" pitchFamily="34" charset="0"/>
              </a:rPr>
              <a:t>CapCut</a:t>
            </a:r>
            <a:r>
              <a:rPr lang="pt-BR" sz="1600" i="1" dirty="0">
                <a:ea typeface="Arial" panose="020B0604020202020204" pitchFamily="34" charset="0"/>
              </a:rPr>
              <a:t> para reduzir os ruídos</a:t>
            </a:r>
          </a:p>
          <a:p>
            <a:pPr marL="285750" indent="249238">
              <a:buFont typeface="Wingdings" panose="05000000000000000000" pitchFamily="2" charset="2"/>
              <a:buChar char="ü"/>
            </a:pPr>
            <a:r>
              <a:rPr lang="pt-BR" sz="1600" i="1" dirty="0" err="1">
                <a:effectLst/>
                <a:ea typeface="Arial" panose="020B0604020202020204" pitchFamily="34" charset="0"/>
              </a:rPr>
              <a:t>Inkview</a:t>
            </a:r>
            <a:r>
              <a:rPr lang="pt-BR" sz="1600" i="1" dirty="0">
                <a:effectLst/>
                <a:ea typeface="Arial" panose="020B0604020202020204" pitchFamily="34" charset="0"/>
              </a:rPr>
              <a:t> </a:t>
            </a:r>
            <a:r>
              <a:rPr lang="pt-BR" sz="1600" i="1" dirty="0">
                <a:ea typeface="Arial" panose="020B0604020202020204" pitchFamily="34" charset="0"/>
              </a:rPr>
              <a:t>para os personagens</a:t>
            </a:r>
          </a:p>
          <a:p>
            <a:pPr marL="285750" indent="249238">
              <a:buFont typeface="Wingdings" panose="05000000000000000000" pitchFamily="2" charset="2"/>
              <a:buChar char="ü"/>
            </a:pPr>
            <a:r>
              <a:rPr lang="pt-BR" sz="1600" i="1" dirty="0" err="1">
                <a:effectLst/>
                <a:ea typeface="Arial" panose="020B0604020202020204" pitchFamily="34" charset="0"/>
              </a:rPr>
              <a:t>Storyset</a:t>
            </a:r>
            <a:r>
              <a:rPr lang="pt-BR" sz="1600" i="1" dirty="0">
                <a:effectLst/>
                <a:ea typeface="Arial" panose="020B0604020202020204" pitchFamily="34" charset="0"/>
              </a:rPr>
              <a:t> para os personagens</a:t>
            </a:r>
          </a:p>
          <a:p>
            <a:pPr marL="285750" indent="249238">
              <a:buFont typeface="Wingdings" panose="05000000000000000000" pitchFamily="2" charset="2"/>
              <a:buChar char="ü"/>
            </a:pPr>
            <a:r>
              <a:rPr lang="pt-BR" sz="1600" i="1" dirty="0">
                <a:ea typeface="Arial" panose="020B0604020202020204" pitchFamily="34" charset="0"/>
              </a:rPr>
              <a:t>YouTube para gravação de áudio</a:t>
            </a:r>
            <a:endParaRPr lang="pt-BR" sz="1600" kern="12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023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427B696-293E-F480-15E9-AB0A332EB4B6}"/>
              </a:ext>
            </a:extLst>
          </p:cNvPr>
          <p:cNvSpPr txBox="1"/>
          <p:nvPr/>
        </p:nvSpPr>
        <p:spPr>
          <a:xfrm>
            <a:off x="2118645" y="417104"/>
            <a:ext cx="1007335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MATERIAL EDUCATIVO DIGITAL</a:t>
            </a:r>
          </a:p>
          <a:p>
            <a:endParaRPr lang="pt-BR" sz="2000" dirty="0"/>
          </a:p>
          <a:p>
            <a:endParaRPr lang="pt-BR" sz="2400" kern="1200" dirty="0">
              <a:solidFill>
                <a:srgbClr val="A33D6B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5862765-1C77-BA4F-7177-A2586214AEF3}"/>
              </a:ext>
            </a:extLst>
          </p:cNvPr>
          <p:cNvCxnSpPr>
            <a:cxnSpLocks/>
          </p:cNvCxnSpPr>
          <p:nvPr/>
        </p:nvCxnSpPr>
        <p:spPr>
          <a:xfrm>
            <a:off x="2163770" y="81591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Vídeo - ícones de marketing grátis">
            <a:extLst>
              <a:ext uri="{FF2B5EF4-FFF2-40B4-BE49-F238E27FC236}">
                <a16:creationId xmlns:a16="http://schemas.microsoft.com/office/drawing/2014/main" id="{0F0B875B-821C-468F-4BEF-58A85E41B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180" y="547195"/>
            <a:ext cx="256590" cy="25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1E3D3FB-B075-26A8-1292-F6CEAFB551CC}"/>
              </a:ext>
            </a:extLst>
          </p:cNvPr>
          <p:cNvSpPr txBox="1"/>
          <p:nvPr/>
        </p:nvSpPr>
        <p:spPr>
          <a:xfrm>
            <a:off x="1399634" y="1317827"/>
            <a:ext cx="9608677" cy="779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2000" i="1" dirty="0">
                <a:solidFill>
                  <a:schemeClr val="accent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Inserir imagens, o link para divulgação do material educativo digital produzido e as informações/orientações essenciais para o seu uso.</a:t>
            </a:r>
            <a:endParaRPr lang="pt-BR" sz="2000" dirty="0">
              <a:solidFill>
                <a:schemeClr val="accent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Espaço Reservado para Conteúdo 20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A074007E-07A6-B0CB-6563-54AAC94132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t="3381"/>
          <a:stretch/>
        </p:blipFill>
        <p:spPr>
          <a:xfrm>
            <a:off x="669818" y="2378230"/>
            <a:ext cx="1984733" cy="2973084"/>
          </a:xfrm>
        </p:spPr>
      </p:pic>
      <p:pic>
        <p:nvPicPr>
          <p:cNvPr id="5" name="Espaço Reservado para Conteúdo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E644FA29-A9E7-FF16-D748-CB75FF6220E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884"/>
          <a:stretch/>
        </p:blipFill>
        <p:spPr>
          <a:xfrm>
            <a:off x="2118645" y="3060324"/>
            <a:ext cx="1984733" cy="3244966"/>
          </a:xfrm>
          <a:prstGeom prst="rect">
            <a:avLst/>
          </a:prstGeom>
        </p:spPr>
      </p:pic>
      <p:pic>
        <p:nvPicPr>
          <p:cNvPr id="8" name="Imagem 7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61993FDD-D71F-FD73-C70A-DE42F19CB0A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2051" b="5641"/>
          <a:stretch/>
        </p:blipFill>
        <p:spPr>
          <a:xfrm>
            <a:off x="3681394" y="2378230"/>
            <a:ext cx="2180417" cy="3161943"/>
          </a:xfrm>
          <a:prstGeom prst="rect">
            <a:avLst/>
          </a:prstGeom>
        </p:spPr>
      </p:pic>
      <p:pic>
        <p:nvPicPr>
          <p:cNvPr id="9" name="Espaço Reservado para Conteúdo 5" descr="Desenho de uma pessoa&#10;&#10;Descrição gerada automaticamente com confiança baixa">
            <a:extLst>
              <a:ext uri="{FF2B5EF4-FFF2-40B4-BE49-F238E27FC236}">
                <a16:creationId xmlns:a16="http://schemas.microsoft.com/office/drawing/2014/main" id="{326228BD-F289-F813-BBFE-B006F25AB51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698" b="5042"/>
          <a:stretch/>
        </p:blipFill>
        <p:spPr>
          <a:xfrm>
            <a:off x="5423346" y="2987602"/>
            <a:ext cx="1984733" cy="336248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8AF9E68-44E1-9156-1581-47A5B9126A1A}"/>
              </a:ext>
            </a:extLst>
          </p:cNvPr>
          <p:cNvSpPr txBox="1"/>
          <p:nvPr/>
        </p:nvSpPr>
        <p:spPr>
          <a:xfrm>
            <a:off x="7603763" y="3685975"/>
            <a:ext cx="42502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hlinkClick r:id="rId8"/>
              </a:rPr>
              <a:t>https://www.instagram.com/p/CqB8zD-JVb0/</a:t>
            </a:r>
            <a:endParaRPr lang="pt-BR" sz="1600" dirty="0"/>
          </a:p>
          <a:p>
            <a:pPr algn="ctr"/>
            <a:endParaRPr lang="pt-BR" sz="20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5393B69-9249-F300-ECB7-2DDB565ACFFF}"/>
              </a:ext>
            </a:extLst>
          </p:cNvPr>
          <p:cNvSpPr txBox="1"/>
          <p:nvPr/>
        </p:nvSpPr>
        <p:spPr>
          <a:xfrm>
            <a:off x="7765287" y="3373119"/>
            <a:ext cx="3567998" cy="358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Link</a:t>
            </a:r>
            <a:r>
              <a:rPr lang="pt-BR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para acesso </a:t>
            </a:r>
            <a:r>
              <a:rPr lang="pt-BR" sz="1600" b="1" dirty="0">
                <a:solidFill>
                  <a:schemeClr val="dk1"/>
                </a:solidFill>
              </a:rPr>
              <a:t>ao material educativo:</a:t>
            </a:r>
            <a:r>
              <a:rPr lang="pt-BR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  <a:endParaRPr lang="pt-BR" sz="1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0685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427B696-293E-F480-15E9-AB0A332EB4B6}"/>
              </a:ext>
            </a:extLst>
          </p:cNvPr>
          <p:cNvSpPr txBox="1"/>
          <p:nvPr/>
        </p:nvSpPr>
        <p:spPr>
          <a:xfrm>
            <a:off x="2118645" y="417104"/>
            <a:ext cx="1007335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A33D6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MATERIAL EDUCATIVO DIGITAL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A33D6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5862765-1C77-BA4F-7177-A2586214AEF3}"/>
              </a:ext>
            </a:extLst>
          </p:cNvPr>
          <p:cNvCxnSpPr>
            <a:cxnSpLocks/>
          </p:cNvCxnSpPr>
          <p:nvPr/>
        </p:nvCxnSpPr>
        <p:spPr>
          <a:xfrm>
            <a:off x="2163770" y="81591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Vídeo - ícones de marketing grátis">
            <a:extLst>
              <a:ext uri="{FF2B5EF4-FFF2-40B4-BE49-F238E27FC236}">
                <a16:creationId xmlns:a16="http://schemas.microsoft.com/office/drawing/2014/main" id="{0F0B875B-821C-468F-4BEF-58A85E41B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180" y="547195"/>
            <a:ext cx="256590" cy="25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66F6E08-F586-F617-92F1-6823A6342D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5142" y="2323070"/>
            <a:ext cx="5540610" cy="268094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9030A7EC-30E5-14A0-E35F-7C1AFD1306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4519" y="3522914"/>
            <a:ext cx="5990448" cy="2873172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AB46FEB6-03D4-64CE-55D7-359789EE06E3}"/>
              </a:ext>
            </a:extLst>
          </p:cNvPr>
          <p:cNvSpPr txBox="1"/>
          <p:nvPr/>
        </p:nvSpPr>
        <p:spPr>
          <a:xfrm>
            <a:off x="1399634" y="1317827"/>
            <a:ext cx="9608677" cy="779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pt-BR" sz="2000" i="1" dirty="0">
                <a:solidFill>
                  <a:schemeClr val="accent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Inserir imagens, o link para divulgação do material educativo digital produzido e as informações/orientações essenciais para o seu uso.</a:t>
            </a:r>
            <a:endParaRPr lang="pt-BR" sz="2000" dirty="0">
              <a:solidFill>
                <a:schemeClr val="accent1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2A6D82C-FBC4-E214-C477-1D9EB5FF2D89}"/>
              </a:ext>
            </a:extLst>
          </p:cNvPr>
          <p:cNvSpPr txBox="1"/>
          <p:nvPr/>
        </p:nvSpPr>
        <p:spPr>
          <a:xfrm>
            <a:off x="7659522" y="2323070"/>
            <a:ext cx="40782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1600" b="1" dirty="0">
                <a:solidFill>
                  <a:schemeClr val="dk1"/>
                </a:solidFill>
              </a:rPr>
              <a:t>Link para acesso ao material educativo:</a:t>
            </a:r>
          </a:p>
          <a:p>
            <a:pPr algn="just"/>
            <a:r>
              <a:rPr lang="pt-BR" sz="1600" dirty="0">
                <a:hlinkClick r:id="rId6"/>
              </a:rPr>
              <a:t>https://padlet.com/auder05/algoritmos-de-destrui-o-ju21vi17rczfm6a7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102658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427B696-293E-F480-15E9-AB0A332EB4B6}"/>
              </a:ext>
            </a:extLst>
          </p:cNvPr>
          <p:cNvSpPr txBox="1"/>
          <p:nvPr/>
        </p:nvSpPr>
        <p:spPr>
          <a:xfrm>
            <a:off x="2118645" y="417104"/>
            <a:ext cx="1007335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400" b="1" i="0" u="none" strike="noStrike" kern="1200" cap="none" spc="0" normalizeH="0" baseline="0" noProof="0" dirty="0">
                <a:ln>
                  <a:noFill/>
                </a:ln>
                <a:solidFill>
                  <a:srgbClr val="A33D6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REGISTROS DO DESENVOLVIMENTO DA ATIVIDADE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400" b="0" i="0" u="none" strike="noStrike" kern="1200" cap="none" spc="0" normalizeH="0" baseline="0" noProof="0" dirty="0">
              <a:ln>
                <a:noFill/>
              </a:ln>
              <a:solidFill>
                <a:srgbClr val="A33D6B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Conector Reto 3">
            <a:extLst>
              <a:ext uri="{FF2B5EF4-FFF2-40B4-BE49-F238E27FC236}">
                <a16:creationId xmlns:a16="http://schemas.microsoft.com/office/drawing/2014/main" id="{15862765-1C77-BA4F-7177-A2586214AEF3}"/>
              </a:ext>
            </a:extLst>
          </p:cNvPr>
          <p:cNvCxnSpPr>
            <a:cxnSpLocks/>
          </p:cNvCxnSpPr>
          <p:nvPr/>
        </p:nvCxnSpPr>
        <p:spPr>
          <a:xfrm>
            <a:off x="2163770" y="815918"/>
            <a:ext cx="677119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 descr="Vídeo - ícones de marketing grátis">
            <a:extLst>
              <a:ext uri="{FF2B5EF4-FFF2-40B4-BE49-F238E27FC236}">
                <a16:creationId xmlns:a16="http://schemas.microsoft.com/office/drawing/2014/main" id="{0F0B875B-821C-468F-4BEF-58A85E41BD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180" y="547195"/>
            <a:ext cx="256590" cy="25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1E3D3FB-B075-26A8-1292-F6CEAFB551CC}"/>
              </a:ext>
            </a:extLst>
          </p:cNvPr>
          <p:cNvSpPr txBox="1"/>
          <p:nvPr/>
        </p:nvSpPr>
        <p:spPr>
          <a:xfrm>
            <a:off x="1291661" y="1214733"/>
            <a:ext cx="9608677" cy="1133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0" i="1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imes New Roman" panose="02020603050405020304" pitchFamily="18" charset="0"/>
              </a:rPr>
              <a:t>Inserir fotos e/ou vídeos da visita ao local de implementação, do desenvolvimento da atividade, da apresentação do material educativo, entre outros registros PRESENCIAIS considerados relevantes.</a:t>
            </a: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Imagem 1" descr="Pessoas assistindo televisão&#10;&#10;Descrição gerada automaticamente">
            <a:extLst>
              <a:ext uri="{FF2B5EF4-FFF2-40B4-BE49-F238E27FC236}">
                <a16:creationId xmlns:a16="http://schemas.microsoft.com/office/drawing/2014/main" id="{6239F134-480F-CF78-6E1D-A5231629D7F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6161"/>
          <a:stretch/>
        </p:blipFill>
        <p:spPr>
          <a:xfrm>
            <a:off x="4245934" y="3879065"/>
            <a:ext cx="4425623" cy="1868815"/>
          </a:xfrm>
          <a:prstGeom prst="rect">
            <a:avLst/>
          </a:prstGeom>
        </p:spPr>
      </p:pic>
      <p:pic>
        <p:nvPicPr>
          <p:cNvPr id="5" name="Imagem 4" descr="Uma imagem contendo no interior, em pé, quarto, vivendo&#10;&#10;Descrição gerada automaticamente">
            <a:extLst>
              <a:ext uri="{FF2B5EF4-FFF2-40B4-BE49-F238E27FC236}">
                <a16:creationId xmlns:a16="http://schemas.microsoft.com/office/drawing/2014/main" id="{312F29A8-7BFA-A9AC-1197-B2F031E11E7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86" r="-2" b="14719"/>
          <a:stretch/>
        </p:blipFill>
        <p:spPr>
          <a:xfrm>
            <a:off x="1849474" y="2858026"/>
            <a:ext cx="2133050" cy="1865533"/>
          </a:xfrm>
          <a:prstGeom prst="rect">
            <a:avLst/>
          </a:prstGeom>
        </p:spPr>
      </p:pic>
      <p:pic>
        <p:nvPicPr>
          <p:cNvPr id="8" name="Imagem 7" descr="Pessoas assistindo televisão&#10;&#10;Descrição gerada automaticamente com confiança média">
            <a:extLst>
              <a:ext uri="{FF2B5EF4-FFF2-40B4-BE49-F238E27FC236}">
                <a16:creationId xmlns:a16="http://schemas.microsoft.com/office/drawing/2014/main" id="{1CE79CF3-5DE8-EA10-6E5E-61524412930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1" r="41114" b="-1"/>
          <a:stretch/>
        </p:blipFill>
        <p:spPr>
          <a:xfrm>
            <a:off x="8934967" y="2858026"/>
            <a:ext cx="2136433" cy="186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9501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03D52A3-58EB-4538-6C53-19F3DA8F9D42}"/>
              </a:ext>
            </a:extLst>
          </p:cNvPr>
          <p:cNvSpPr txBox="1"/>
          <p:nvPr/>
        </p:nvSpPr>
        <p:spPr>
          <a:xfrm>
            <a:off x="2000132" y="414551"/>
            <a:ext cx="819173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AUTOAVALIAÇÃO</a:t>
            </a:r>
          </a:p>
          <a:p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/>
                </a:solidFill>
              </a:rPr>
              <a:t>Importância da extensão para a formação acadêmica e profissional.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/>
                </a:solidFill>
              </a:rPr>
              <a:t>Desenvolvimento de competências para o mundo do trabalho.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/>
                </a:solidFill>
              </a:rPr>
              <a:t>Conexão e interação com a comunidade local.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/>
          </a:p>
        </p:txBody>
      </p:sp>
      <p:pic>
        <p:nvPicPr>
          <p:cNvPr id="4" name="Picture 2" descr="Avaliação - ícones de marketing grátis">
            <a:extLst>
              <a:ext uri="{FF2B5EF4-FFF2-40B4-BE49-F238E27FC236}">
                <a16:creationId xmlns:a16="http://schemas.microsoft.com/office/drawing/2014/main" id="{021985C0-4E41-5055-CC03-8F59CAA8B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218" y="530690"/>
            <a:ext cx="360914" cy="36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612C9E3-65F2-47B3-AB81-5DC256BFCD2F}"/>
              </a:ext>
            </a:extLst>
          </p:cNvPr>
          <p:cNvCxnSpPr>
            <a:cxnSpLocks/>
          </p:cNvCxnSpPr>
          <p:nvPr/>
        </p:nvCxnSpPr>
        <p:spPr>
          <a:xfrm>
            <a:off x="2163770" y="815918"/>
            <a:ext cx="733292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100C3EB5-A730-2E72-4441-A7E0AAEF524E}"/>
              </a:ext>
            </a:extLst>
          </p:cNvPr>
          <p:cNvSpPr txBox="1"/>
          <p:nvPr/>
        </p:nvSpPr>
        <p:spPr>
          <a:xfrm>
            <a:off x="2000132" y="2779650"/>
            <a:ext cx="8621111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endParaRPr lang="pt-BR" sz="800" b="1" dirty="0"/>
          </a:p>
          <a:p>
            <a:pPr algn="just"/>
            <a:r>
              <a:rPr lang="pt-BR" sz="1600" dirty="0">
                <a:solidFill>
                  <a:schemeClr val="dk1"/>
                </a:solidFill>
              </a:rPr>
              <a:t>Ao fim do período de 24 horas, foi possível constatar que o objetivo proposto pelo trabalho foi alcançado, observada a relevante disseminação do conhecimento sobre ética digital empresarial para a sociedade.</a:t>
            </a:r>
          </a:p>
          <a:p>
            <a:pPr algn="just"/>
            <a:endParaRPr lang="pt-BR" sz="1600" dirty="0">
              <a:solidFill>
                <a:schemeClr val="dk1"/>
              </a:solidFill>
            </a:endParaRPr>
          </a:p>
          <a:p>
            <a:pPr algn="just"/>
            <a:r>
              <a:rPr lang="pt-BR" sz="1600" dirty="0">
                <a:solidFill>
                  <a:schemeClr val="dk1"/>
                </a:solidFill>
              </a:rPr>
              <a:t>O material educativo sobre noções básicas de ética digital poder ser acessado e reproduzido a qualquer momento e, por fim, o aluno conseguiu desenvolver competências, como a habilidade de se comunicar, editar vídeos e propagar conhecimento</a:t>
            </a:r>
          </a:p>
          <a:p>
            <a:pPr marL="0" indent="0" algn="just">
              <a:buNone/>
            </a:pPr>
            <a:endParaRPr lang="pt-BR" sz="1600" dirty="0"/>
          </a:p>
          <a:p>
            <a:pPr marL="0" indent="0" algn="just">
              <a:buNone/>
            </a:pPr>
            <a:r>
              <a:rPr lang="pt-BR" sz="1600" dirty="0"/>
              <a:t>Esse trabalho de extensão desenvolvido auxiliou-nos na compreensão de como uma empresa deve atuar e tomar decisões éticas na preservação e segurança dos dados pessoais que ela mantém sob sua salvaguarda.</a:t>
            </a:r>
            <a:endParaRPr lang="pt-BR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B2968B2-7EAB-B20A-A013-5E7FDC69125D}"/>
              </a:ext>
            </a:extLst>
          </p:cNvPr>
          <p:cNvSpPr txBox="1"/>
          <p:nvPr/>
        </p:nvSpPr>
        <p:spPr>
          <a:xfrm>
            <a:off x="2000132" y="2524406"/>
            <a:ext cx="6097464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pt-BR" sz="1800" b="1" i="0" dirty="0">
                <a:solidFill>
                  <a:srgbClr val="FF0000"/>
                </a:solidFill>
                <a:effectLst/>
              </a:rPr>
              <a:t>Sugestão de texto:</a:t>
            </a:r>
          </a:p>
        </p:txBody>
      </p:sp>
    </p:spTree>
    <p:extLst>
      <p:ext uri="{BB962C8B-B14F-4D97-AF65-F5344CB8AC3E}">
        <p14:creationId xmlns:p14="http://schemas.microsoft.com/office/powerpoint/2010/main" val="2339280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03D52A3-58EB-4538-6C53-19F3DA8F9D42}"/>
              </a:ext>
            </a:extLst>
          </p:cNvPr>
          <p:cNvSpPr txBox="1"/>
          <p:nvPr/>
        </p:nvSpPr>
        <p:spPr>
          <a:xfrm>
            <a:off x="2000132" y="414551"/>
            <a:ext cx="89111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AVALIAÇÃO DA COMUNIDADE ATENDIDA</a:t>
            </a:r>
          </a:p>
          <a:p>
            <a:endParaRPr lang="pt-BR" sz="1600" dirty="0"/>
          </a:p>
          <a:p>
            <a:endParaRPr lang="pt-BR" sz="2000" dirty="0">
              <a:solidFill>
                <a:schemeClr val="accent1"/>
              </a:solidFill>
            </a:endParaRPr>
          </a:p>
          <a:p>
            <a:r>
              <a:rPr lang="pt-BR" sz="2000" dirty="0">
                <a:solidFill>
                  <a:schemeClr val="accent1"/>
                </a:solidFill>
              </a:rPr>
              <a:t>Inserir declarações de membros da comunidade sobre: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/>
                </a:solidFill>
              </a:rPr>
              <a:t>a</a:t>
            </a:r>
            <a:r>
              <a:rPr lang="pt-BR" sz="20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 relevância do Projeto para a localidade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/>
                </a:solidFill>
              </a:rPr>
              <a:t>os resultados obtidos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/>
                </a:solidFill>
              </a:rPr>
              <a:t>a</a:t>
            </a:r>
            <a:r>
              <a:rPr lang="pt-BR" sz="20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 qualidade do material educativo apresentado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/>
                </a:solidFill>
              </a:rPr>
              <a:t>a interação com os estudantes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/>
                </a:solidFill>
              </a:rPr>
              <a:t>a</a:t>
            </a:r>
            <a:r>
              <a:rPr lang="pt-BR" sz="200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 apresentação presencial do material produzido</a:t>
            </a:r>
          </a:p>
        </p:txBody>
      </p:sp>
      <p:pic>
        <p:nvPicPr>
          <p:cNvPr id="4" name="Picture 2" descr="Avaliação - ícones de marketing grátis">
            <a:extLst>
              <a:ext uri="{FF2B5EF4-FFF2-40B4-BE49-F238E27FC236}">
                <a16:creationId xmlns:a16="http://schemas.microsoft.com/office/drawing/2014/main" id="{021985C0-4E41-5055-CC03-8F59CAA8B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218" y="530690"/>
            <a:ext cx="360914" cy="36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612C9E3-65F2-47B3-AB81-5DC256BFCD2F}"/>
              </a:ext>
            </a:extLst>
          </p:cNvPr>
          <p:cNvCxnSpPr>
            <a:cxnSpLocks/>
          </p:cNvCxnSpPr>
          <p:nvPr/>
        </p:nvCxnSpPr>
        <p:spPr>
          <a:xfrm>
            <a:off x="2163770" y="815918"/>
            <a:ext cx="733292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>
            <a:extLst>
              <a:ext uri="{FF2B5EF4-FFF2-40B4-BE49-F238E27FC236}">
                <a16:creationId xmlns:a16="http://schemas.microsoft.com/office/drawing/2014/main" id="{97B3EF7D-7363-ACD0-1C9C-445212C3F134}"/>
              </a:ext>
            </a:extLst>
          </p:cNvPr>
          <p:cNvSpPr txBox="1"/>
          <p:nvPr/>
        </p:nvSpPr>
        <p:spPr>
          <a:xfrm>
            <a:off x="1819674" y="3757786"/>
            <a:ext cx="8819017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sz="1600" b="1" dirty="0"/>
              <a:t>Depoimentos da comunidade atendida</a:t>
            </a:r>
          </a:p>
          <a:p>
            <a:pPr marL="0" indent="0" algn="just">
              <a:buNone/>
            </a:pPr>
            <a:endParaRPr lang="pt-BR" sz="800" b="1" dirty="0"/>
          </a:p>
          <a:p>
            <a:pPr marL="0" indent="0" algn="just">
              <a:buNone/>
            </a:pPr>
            <a:r>
              <a:rPr lang="pt-BR" sz="1600" b="1" dirty="0"/>
              <a:t>Aprendizado e Desafios: “</a:t>
            </a:r>
            <a:r>
              <a:rPr lang="pt-BR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Aprendemos que a implementação da LGPD é um processo contínuo, exigindo atualizações constantes. Enfrentamos desafios na adaptação de processos internos</a:t>
            </a:r>
            <a:r>
              <a:rPr lang="pt-BR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pt-BR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mas essas experiências nos proporcionaram aprendizados valiosos para aprimorar nossas práticas de proteção de dados.”</a:t>
            </a:r>
          </a:p>
          <a:p>
            <a:pPr marL="0" indent="0" algn="just">
              <a:buNone/>
            </a:pPr>
            <a:endParaRPr lang="pt-BR" sz="1600" kern="1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pt-BR" sz="1600" b="1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Importância do produto digital: “</a:t>
            </a:r>
            <a:r>
              <a:rPr lang="pt-BR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 material produzido e a palestra auxiliou a empresa na avaliação do seu processo de adequação à LGPD.”</a:t>
            </a:r>
            <a:endParaRPr lang="pt-BR" sz="1600" b="1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60BEFB-9A34-4B07-D03B-5BC3F634D385}"/>
              </a:ext>
            </a:extLst>
          </p:cNvPr>
          <p:cNvSpPr txBox="1"/>
          <p:nvPr/>
        </p:nvSpPr>
        <p:spPr>
          <a:xfrm>
            <a:off x="1819674" y="3422444"/>
            <a:ext cx="6097464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600"/>
              </a:spcAft>
            </a:pPr>
            <a:r>
              <a:rPr lang="pt-BR" sz="1800" b="1" i="0" dirty="0">
                <a:solidFill>
                  <a:srgbClr val="FF0000"/>
                </a:solidFill>
                <a:effectLst/>
              </a:rPr>
              <a:t>Sugestão de texto:</a:t>
            </a:r>
          </a:p>
        </p:txBody>
      </p:sp>
    </p:spTree>
    <p:extLst>
      <p:ext uri="{BB962C8B-B14F-4D97-AF65-F5344CB8AC3E}">
        <p14:creationId xmlns:p14="http://schemas.microsoft.com/office/powerpoint/2010/main" val="1007076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03D52A3-58EB-4538-6C53-19F3DA8F9D42}"/>
              </a:ext>
            </a:extLst>
          </p:cNvPr>
          <p:cNvSpPr txBox="1"/>
          <p:nvPr/>
        </p:nvSpPr>
        <p:spPr>
          <a:xfrm>
            <a:off x="2185751" y="370070"/>
            <a:ext cx="81917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A33D6B"/>
                </a:solidFill>
              </a:rPr>
              <a:t>REFERÊNCIAS 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B612C9E3-65F2-47B3-AB81-5DC256BFCD2F}"/>
              </a:ext>
            </a:extLst>
          </p:cNvPr>
          <p:cNvCxnSpPr>
            <a:cxnSpLocks/>
          </p:cNvCxnSpPr>
          <p:nvPr/>
        </p:nvCxnSpPr>
        <p:spPr>
          <a:xfrm>
            <a:off x="2106618" y="815918"/>
            <a:ext cx="7332927" cy="0"/>
          </a:xfrm>
          <a:prstGeom prst="line">
            <a:avLst/>
          </a:prstGeom>
          <a:ln>
            <a:solidFill>
              <a:srgbClr val="A33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Desenho De Pilha De Livros">
            <a:extLst>
              <a:ext uri="{FF2B5EF4-FFF2-40B4-BE49-F238E27FC236}">
                <a16:creationId xmlns:a16="http://schemas.microsoft.com/office/drawing/2014/main" id="{99F1FC44-3A4D-BB76-37F5-A52B72C9C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1571" y="413906"/>
            <a:ext cx="533398" cy="417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60DCE85-AC46-13DC-617A-BF4BC1ACBD2A}"/>
              </a:ext>
            </a:extLst>
          </p:cNvPr>
          <p:cNvSpPr txBox="1"/>
          <p:nvPr/>
        </p:nvSpPr>
        <p:spPr>
          <a:xfrm>
            <a:off x="1229187" y="1033692"/>
            <a:ext cx="9591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000" dirty="0">
                <a:solidFill>
                  <a:schemeClr val="accent1"/>
                </a:solidFill>
              </a:rPr>
              <a:t>I</a:t>
            </a:r>
            <a:r>
              <a:rPr lang="pt-BR" sz="2000" b="0" dirty="0">
                <a:solidFill>
                  <a:schemeClr val="accent1"/>
                </a:solidFill>
                <a:effectLst/>
              </a:rPr>
              <a:t>nserir as referências, de acordo com as normas da ABNT.</a:t>
            </a:r>
            <a:endParaRPr lang="pt-BR" sz="2000" dirty="0">
              <a:solidFill>
                <a:schemeClr val="accent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F158A4C-C7AD-8905-59B3-8B99C78F4310}"/>
              </a:ext>
            </a:extLst>
          </p:cNvPr>
          <p:cNvSpPr txBox="1"/>
          <p:nvPr/>
        </p:nvSpPr>
        <p:spPr>
          <a:xfrm>
            <a:off x="1906724" y="1477638"/>
            <a:ext cx="9321053" cy="4533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pt-BR" b="1" dirty="0">
                <a:solidFill>
                  <a:srgbClr val="FF0000"/>
                </a:solidFill>
                <a:effectLst/>
                <a:highlight>
                  <a:srgbClr val="FFFFFF"/>
                </a:highlight>
                <a:ea typeface="Cambria" panose="02040503050406030204" pitchFamily="18" charset="0"/>
                <a:cs typeface="Times New Roman" panose="02020603050405020304" pitchFamily="18" charset="0"/>
              </a:rPr>
              <a:t>Exemplo:</a:t>
            </a:r>
          </a:p>
          <a:p>
            <a:pPr lvl="0">
              <a:spcAft>
                <a:spcPts val="800"/>
              </a:spcAft>
            </a:pPr>
            <a:r>
              <a:rPr lang="pt-BR" sz="1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ANTUNES, Maria Thereza Pompa. Ética: bibliografia universitária Pearson/ organizadora. – São Paulo: Pearson </a:t>
            </a:r>
            <a:r>
              <a:rPr lang="pt-BR" sz="160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Education</a:t>
            </a:r>
            <a:r>
              <a:rPr lang="pt-BR" sz="1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do Brasil, 2012. ISBN 978-85-64574-54-0</a:t>
            </a:r>
            <a:endParaRPr lang="pt-BR" sz="16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pt-BR" sz="1600" dirty="0"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 </a:t>
            </a:r>
          </a:p>
          <a:p>
            <a:pPr lvl="0"/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LUIZ, Lucio e ASSIS, Pablo de. O Podcast no Brasil e no Mundo: um caminho para a distribuição de mídias digitais. XXXIII Congresso Brasileiro de Ciências da Comunicação – Caxias do Sul, RS –  Setembro de 2010. </a:t>
            </a:r>
            <a:r>
              <a:rPr lang="pt-BR" sz="16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4"/>
              </a:rPr>
              <a:t>http://www.intercom.org.br/papers/nacionais/2010/resumos/r5-0302-1.pdf</a:t>
            </a:r>
            <a:endParaRPr lang="pt-BR" sz="16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57200"/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 lvl="0"/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MAGGIOLINI P. UM APROFUNDAMENTO PARA O CONCEITO DE ÉTICA DIGITAL.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Rev</a:t>
            </a:r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adm</a:t>
            </a:r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empres</a:t>
            </a:r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[Internet]. 2014Sep;54(Rev. adm.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empres</a:t>
            </a:r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., 2014 54(5)):585–91.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Available</a:t>
            </a:r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from</a:t>
            </a:r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</a:t>
            </a:r>
            <a:r>
              <a:rPr lang="pt-BR" sz="16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5"/>
              </a:rPr>
              <a:t>https://doi.org/10.1590/S0034-759020140511</a:t>
            </a:r>
            <a:endParaRPr lang="pt-BR" sz="16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57200"/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 lvl="0"/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Brasil. Constituição da República Federativa do Brasil de 1988 [Internet]. Brasília (DF): Senado; 1988 [citado 2012 Jul 10]. Disponível em: </a:t>
            </a:r>
            <a:r>
              <a:rPr lang="pt-BR" sz="16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6"/>
              </a:rPr>
              <a:t>http://www.planalto.gov.br/ccivil_03/constituicao/constitui%C3%A7ao.htm</a:t>
            </a:r>
            <a:endParaRPr lang="pt-BR" sz="1600" dirty="0">
              <a:effectLst/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457200"/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 </a:t>
            </a:r>
          </a:p>
          <a:p>
            <a:pPr lvl="0">
              <a:spcAft>
                <a:spcPts val="800"/>
              </a:spcAft>
            </a:pPr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Klein AZ.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Ethical</a:t>
            </a:r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Issues</a:t>
            </a:r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of</a:t>
            </a:r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Digital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Transformation</a:t>
            </a:r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Organ</a:t>
            </a:r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Soc</a:t>
            </a:r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[Internet]. 2022Jul;29(Organ. Soc., 2022 29(102)):443–8.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Available</a:t>
            </a:r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pt-BR" sz="1600" dirty="0" err="1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from</a:t>
            </a:r>
            <a:r>
              <a:rPr lang="pt-BR" sz="1600" dirty="0">
                <a:effectLst/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: https://doi.org/10.1590/1984-92302022v29n0020EN</a:t>
            </a:r>
          </a:p>
        </p:txBody>
      </p:sp>
    </p:spTree>
    <p:extLst>
      <p:ext uri="{BB962C8B-B14F-4D97-AF65-F5344CB8AC3E}">
        <p14:creationId xmlns:p14="http://schemas.microsoft.com/office/powerpoint/2010/main" val="1739649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F8B6E76-414E-F43E-9114-22D32F487749}"/>
              </a:ext>
            </a:extLst>
          </p:cNvPr>
          <p:cNvSpPr txBox="1"/>
          <p:nvPr/>
        </p:nvSpPr>
        <p:spPr>
          <a:xfrm>
            <a:off x="640080" y="3554361"/>
            <a:ext cx="4243589" cy="2639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-228600" defTabSz="9144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200" b="1" i="0" u="none" strike="noStrike" cap="none" spc="0" normalizeH="0" baseline="0" noProof="0" dirty="0">
              <a:ln>
                <a:noFill/>
              </a:ln>
              <a:effectLst/>
              <a:uLnTx/>
              <a:uFillTx/>
            </a:endParaRPr>
          </a:p>
          <a:p>
            <a:pPr marL="0" marR="0" lvl="0" indent="-228600" defTabSz="914400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200" b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7CF93EF-D08A-911B-1F09-9FD905E6C16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7" r="15583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solidFill>
            <a:srgbClr val="632A40"/>
          </a:solidFill>
        </p:spPr>
      </p:pic>
    </p:spTree>
    <p:extLst>
      <p:ext uri="{BB962C8B-B14F-4D97-AF65-F5344CB8AC3E}">
        <p14:creationId xmlns:p14="http://schemas.microsoft.com/office/powerpoint/2010/main" val="33032646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249846024720046BD2E712524C1F2DB" ma:contentTypeVersion="15" ma:contentTypeDescription="Crie um novo documento." ma:contentTypeScope="" ma:versionID="e2c7755ddbb4f29792008489fd68582e">
  <xsd:schema xmlns:xsd="http://www.w3.org/2001/XMLSchema" xmlns:xs="http://www.w3.org/2001/XMLSchema" xmlns:p="http://schemas.microsoft.com/office/2006/metadata/properties" xmlns:ns2="b03615c1-276c-4180-98cc-4a8d624f51a4" xmlns:ns3="f16d092d-1424-4908-8336-7a92cebe73a8" targetNamespace="http://schemas.microsoft.com/office/2006/metadata/properties" ma:root="true" ma:fieldsID="cb66968ff53bf21d1934af598096bbd3" ns2:_="" ns3:_="">
    <xsd:import namespace="b03615c1-276c-4180-98cc-4a8d624f51a4"/>
    <xsd:import namespace="f16d092d-1424-4908-8336-7a92cebe73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3615c1-276c-4180-98cc-4a8d624f51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0f117446-0fc9-4e7c-95f8-a6ac69b74b5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6d092d-1424-4908-8336-7a92cebe73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ede2100d-a632-4c49-aa67-7164432d07d3}" ma:internalName="TaxCatchAll" ma:showField="CatchAllData" ma:web="f16d092d-1424-4908-8336-7a92cebe73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3615c1-276c-4180-98cc-4a8d624f51a4">
      <Terms xmlns="http://schemas.microsoft.com/office/infopath/2007/PartnerControls"/>
    </lcf76f155ced4ddcb4097134ff3c332f>
    <TaxCatchAll xmlns="f16d092d-1424-4908-8336-7a92cebe73a8" xsi:nil="true"/>
  </documentManagement>
</p:properties>
</file>

<file path=customXml/itemProps1.xml><?xml version="1.0" encoding="utf-8"?>
<ds:datastoreItem xmlns:ds="http://schemas.openxmlformats.org/officeDocument/2006/customXml" ds:itemID="{623F6E7E-03CF-4425-8568-62336456563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03615c1-276c-4180-98cc-4a8d624f51a4"/>
    <ds:schemaRef ds:uri="f16d092d-1424-4908-8336-7a92cebe73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8BC9C1F-B219-4B47-A1E1-4F3DD23FD6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51DA5B-5371-4561-BF3A-D261867602AC}">
  <ds:schemaRefs>
    <ds:schemaRef ds:uri="http://schemas.microsoft.com/office/2006/metadata/properties"/>
    <ds:schemaRef ds:uri="http://schemas.microsoft.com/office/infopath/2007/PartnerControls"/>
    <ds:schemaRef ds:uri="b03615c1-276c-4180-98cc-4a8d624f51a4"/>
    <ds:schemaRef ds:uri="f16d092d-1424-4908-8336-7a92cebe73a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1746</TotalTime>
  <Words>2080</Words>
  <Application>Microsoft Office PowerPoint</Application>
  <PresentationFormat>Widescreen</PresentationFormat>
  <Paragraphs>152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Cambria</vt:lpstr>
      <vt:lpstr>Times New Roman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Isaque Lopes Pinheiro</dc:creator>
  <cp:lastModifiedBy>Carla Correa Tavares dos Reis</cp:lastModifiedBy>
  <cp:revision>90</cp:revision>
  <dcterms:created xsi:type="dcterms:W3CDTF">2017-08-18T19:40:43Z</dcterms:created>
  <dcterms:modified xsi:type="dcterms:W3CDTF">2024-06-18T03:12:34Z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0x0101002249846024720046BD2E712524C1F2DB</vt:lpwstr>
  </property>
</Properties>
</file>